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5"/>
  </p:notesMasterIdLst>
  <p:handoutMasterIdLst>
    <p:handoutMasterId r:id="rId26"/>
  </p:handoutMasterIdLst>
  <p:sldIdLst>
    <p:sldId id="331" r:id="rId5"/>
    <p:sldId id="333" r:id="rId6"/>
    <p:sldId id="309" r:id="rId7"/>
    <p:sldId id="351" r:id="rId8"/>
    <p:sldId id="264" r:id="rId9"/>
    <p:sldId id="334" r:id="rId10"/>
    <p:sldId id="337" r:id="rId11"/>
    <p:sldId id="338" r:id="rId12"/>
    <p:sldId id="340" r:id="rId13"/>
    <p:sldId id="342" r:id="rId14"/>
    <p:sldId id="341" r:id="rId15"/>
    <p:sldId id="352" r:id="rId16"/>
    <p:sldId id="343" r:id="rId17"/>
    <p:sldId id="323" r:id="rId18"/>
    <p:sldId id="344" r:id="rId19"/>
    <p:sldId id="345" r:id="rId20"/>
    <p:sldId id="346" r:id="rId21"/>
    <p:sldId id="348" r:id="rId22"/>
    <p:sldId id="349" r:id="rId23"/>
    <p:sldId id="335" r:id="rId24"/>
  </p:sldIdLst>
  <p:sldSz cx="12192000" cy="6858000"/>
  <p:notesSz cx="6858000" cy="9144000"/>
  <p:kinsoku lang="zh-CN" invalStChars="!),.:;?]}、。—ˇ¨〃々～‖…’”〕〉》」』〗】∶！＂＇），．：；？］｀｜｝·" invalEndChars="([{‘“〔〈《「『〖【（［｛．·"/>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模板设计" id="{98D20F61-6043-4923-9B9A-3EE97168FDEE}">
          <p14:sldIdLst>
            <p14:sldId id="331"/>
            <p14:sldId id="333"/>
            <p14:sldId id="309"/>
            <p14:sldId id="351"/>
            <p14:sldId id="264"/>
            <p14:sldId id="334"/>
            <p14:sldId id="337"/>
            <p14:sldId id="338"/>
            <p14:sldId id="340"/>
            <p14:sldId id="342"/>
            <p14:sldId id="341"/>
            <p14:sldId id="352"/>
            <p14:sldId id="343"/>
            <p14:sldId id="323"/>
            <p14:sldId id="344"/>
            <p14:sldId id="345"/>
            <p14:sldId id="346"/>
            <p14:sldId id="348"/>
            <p14:sldId id="349"/>
            <p14:sldId id="335"/>
          </p14:sldIdLst>
        </p14:section>
        <p14:section name="使用技巧" id="{2E7B49A8-7DA7-4A86-A19A-51C48FE31DC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438" userDrawn="1">
          <p15:clr>
            <a:srgbClr val="A4A3A4"/>
          </p15:clr>
        </p15:guide>
        <p15:guide id="4" pos="7242" userDrawn="1">
          <p15:clr>
            <a:srgbClr val="A4A3A4"/>
          </p15:clr>
        </p15:guide>
        <p15:guide id="5" pos="2933" userDrawn="1">
          <p15:clr>
            <a:srgbClr val="A4A3A4"/>
          </p15:clr>
        </p15:guide>
        <p15:guide id="6" pos="4747" userDrawn="1">
          <p15:clr>
            <a:srgbClr val="A4A3A4"/>
          </p15:clr>
        </p15:guide>
        <p15:guide id="7" orient="horz" pos="2659" userDrawn="1">
          <p15:clr>
            <a:srgbClr val="A4A3A4"/>
          </p15:clr>
        </p15:guide>
        <p15:guide id="8" orient="horz" pos="1661" userDrawn="1">
          <p15:clr>
            <a:srgbClr val="A4A3A4"/>
          </p15:clr>
        </p15:guide>
        <p15:guide id="10" pos="5654" userDrawn="1">
          <p15:clr>
            <a:srgbClr val="A4A3A4"/>
          </p15:clr>
        </p15:guide>
        <p15:guide id="11" pos="6562" userDrawn="1">
          <p15:clr>
            <a:srgbClr val="A4A3A4"/>
          </p15:clr>
        </p15:guide>
        <p15:guide id="12" pos="1118" userDrawn="1">
          <p15:clr>
            <a:srgbClr val="A4A3A4"/>
          </p15:clr>
        </p15:guide>
        <p15:guide id="13" orient="horz" pos="3158" userDrawn="1">
          <p15:clr>
            <a:srgbClr val="A4A3A4"/>
          </p15:clr>
        </p15:guide>
        <p15:guide id="14" orient="horz" pos="1162" userDrawn="1">
          <p15:clr>
            <a:srgbClr val="A4A3A4"/>
          </p15:clr>
        </p15:guide>
        <p15:guide id="15" orient="horz" pos="3657" userDrawn="1">
          <p15:clr>
            <a:srgbClr val="A4A3A4"/>
          </p15:clr>
        </p15:guide>
        <p15:guide id="17" pos="2035"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FFCF46"/>
    <a:srgbClr val="A9D18E"/>
    <a:srgbClr val="FFFFFF"/>
    <a:srgbClr val="FD8F36"/>
    <a:srgbClr val="1A77C4"/>
    <a:srgbClr val="3F5787"/>
    <a:srgbClr val="D9D9D9"/>
    <a:srgbClr val="FAFAFA"/>
    <a:srgbClr val="1F89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8E11E1-EBD6-4CCC-ABD7-0CF67657B1F2}" v="1" dt="2019-08-07T04:57:05.5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46" autoAdjust="0"/>
    <p:restoredTop sz="96366" autoAdjust="0"/>
  </p:normalViewPr>
  <p:slideViewPr>
    <p:cSldViewPr snapToGrid="0" showGuides="1">
      <p:cViewPr>
        <p:scale>
          <a:sx n="100" d="100"/>
          <a:sy n="100" d="100"/>
        </p:scale>
        <p:origin x="1080" y="258"/>
      </p:cViewPr>
      <p:guideLst>
        <p:guide orient="horz" pos="2160"/>
        <p:guide pos="3840"/>
        <p:guide pos="438"/>
        <p:guide pos="7242"/>
        <p:guide pos="2933"/>
        <p:guide pos="4747"/>
        <p:guide orient="horz" pos="2659"/>
        <p:guide orient="horz" pos="1661"/>
        <p:guide pos="5654"/>
        <p:guide pos="6562"/>
        <p:guide pos="1118"/>
        <p:guide orient="horz" pos="3158"/>
        <p:guide orient="horz" pos="1162"/>
        <p:guide orient="horz" pos="3657"/>
        <p:guide pos="2035"/>
      </p:guideLst>
    </p:cSldViewPr>
  </p:slideViewPr>
  <p:notesTextViewPr>
    <p:cViewPr>
      <p:scale>
        <a:sx n="3" d="2"/>
        <a:sy n="3" d="2"/>
      </p:scale>
      <p:origin x="0" y="0"/>
    </p:cViewPr>
  </p:notesTextViewPr>
  <p:notesViewPr>
    <p:cSldViewPr snapToGrid="0">
      <p:cViewPr varScale="1">
        <p:scale>
          <a:sx n="52" d="100"/>
          <a:sy n="52" d="100"/>
        </p:scale>
        <p:origin x="1258"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isheng Zhu" userId="235d122c-3b57-4c5d-826a-7dbf2d1a59d1" providerId="ADAL" clId="{8C8E11E1-EBD6-4CCC-ABD7-0CF67657B1F2}"/>
    <pc:docChg chg="undo custSel modSld">
      <pc:chgData name="Weisheng Zhu" userId="235d122c-3b57-4c5d-826a-7dbf2d1a59d1" providerId="ADAL" clId="{8C8E11E1-EBD6-4CCC-ABD7-0CF67657B1F2}" dt="2019-08-07T04:57:08.659" v="4" actId="20577"/>
      <pc:docMkLst>
        <pc:docMk/>
      </pc:docMkLst>
      <pc:sldChg chg="modSp">
        <pc:chgData name="Weisheng Zhu" userId="235d122c-3b57-4c5d-826a-7dbf2d1a59d1" providerId="ADAL" clId="{8C8E11E1-EBD6-4CCC-ABD7-0CF67657B1F2}" dt="2019-08-07T04:57:08.659" v="4" actId="20577"/>
        <pc:sldMkLst>
          <pc:docMk/>
          <pc:sldMk cId="981581490" sldId="281"/>
        </pc:sldMkLst>
        <pc:spChg chg="mod">
          <ac:chgData name="Weisheng Zhu" userId="235d122c-3b57-4c5d-826a-7dbf2d1a59d1" providerId="ADAL" clId="{8C8E11E1-EBD6-4CCC-ABD7-0CF67657B1F2}" dt="2019-08-07T04:57:08.659" v="4" actId="20577"/>
          <ac:spMkLst>
            <pc:docMk/>
            <pc:sldMk cId="981581490" sldId="281"/>
            <ac:spMk id="2" creationId="{D759B69D-7AB2-4515-ADE3-C87ACDC4476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213A21E-A21C-4AD6-AC73-C1E921B44A0D}" type="datetimeFigureOut">
              <a:rPr lang="zh-CN" altLang="en-US" smtClean="0"/>
              <a:t>2021/1/23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D3F8E40-B6C2-4F8C-9144-6EC288A6942A}" type="slidenum">
              <a:rPr lang="zh-CN" altLang="en-US" smtClean="0"/>
              <a:t>‹#›</a:t>
            </a:fld>
            <a:endParaRPr lang="zh-CN" altLang="en-US"/>
          </a:p>
        </p:txBody>
      </p:sp>
    </p:spTree>
    <p:extLst>
      <p:ext uri="{BB962C8B-B14F-4D97-AF65-F5344CB8AC3E}">
        <p14:creationId xmlns:p14="http://schemas.microsoft.com/office/powerpoint/2010/main" val="30431299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B1970D-4733-4569-9950-69188D797AFF}" type="datetimeFigureOut">
              <a:rPr lang="zh-CN" altLang="en-US" smtClean="0"/>
              <a:t>2021/1/23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62D0A4-2D73-42D6-8CE4-EF37B1DD013B}" type="slidenum">
              <a:rPr lang="zh-CN" altLang="en-US" smtClean="0"/>
              <a:t>‹#›</a:t>
            </a:fld>
            <a:endParaRPr lang="zh-CN" altLang="en-US"/>
          </a:p>
        </p:txBody>
      </p:sp>
    </p:spTree>
    <p:extLst>
      <p:ext uri="{BB962C8B-B14F-4D97-AF65-F5344CB8AC3E}">
        <p14:creationId xmlns:p14="http://schemas.microsoft.com/office/powerpoint/2010/main" val="118153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1</a:t>
            </a:fld>
            <a:endParaRPr lang="zh-CN" altLang="en-US"/>
          </a:p>
        </p:txBody>
      </p:sp>
    </p:spTree>
    <p:extLst>
      <p:ext uri="{BB962C8B-B14F-4D97-AF65-F5344CB8AC3E}">
        <p14:creationId xmlns:p14="http://schemas.microsoft.com/office/powerpoint/2010/main" val="2925406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2</a:t>
            </a:fld>
            <a:endParaRPr lang="zh-CN" altLang="en-US"/>
          </a:p>
        </p:txBody>
      </p:sp>
    </p:spTree>
    <p:extLst>
      <p:ext uri="{BB962C8B-B14F-4D97-AF65-F5344CB8AC3E}">
        <p14:creationId xmlns:p14="http://schemas.microsoft.com/office/powerpoint/2010/main" val="1332471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popularity of smartphones and widely adapted location based services like online map and location sharing have enabled the collection of large-scale mobility data, which is great value in various applications, such as point of interest recommendation, transportation planning and emergence response. However, because users may not allow the continues access to their locations due to privacy or battery consuming concerns, this kind of data is usually sparse in term of individual trajectory, and the location records of a user are unevenly distributed in time. This issue inevitably harms the utilization of the mobility data.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3</a:t>
            </a:fld>
            <a:endParaRPr lang="zh-CN" altLang="en-US"/>
          </a:p>
        </p:txBody>
      </p:sp>
    </p:spTree>
    <p:extLst>
      <p:ext uri="{BB962C8B-B14F-4D97-AF65-F5344CB8AC3E}">
        <p14:creationId xmlns:p14="http://schemas.microsoft.com/office/powerpoint/2010/main" val="24736635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Luckily, it can cover a long time period as users need to use smartphone every day, which encourages us to utilize historical mobility behavior to better densify a future trajectory.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4</a:t>
            </a:fld>
            <a:endParaRPr lang="zh-CN" altLang="en-US"/>
          </a:p>
        </p:txBody>
      </p:sp>
    </p:spTree>
    <p:extLst>
      <p:ext uri="{BB962C8B-B14F-4D97-AF65-F5344CB8AC3E}">
        <p14:creationId xmlns:p14="http://schemas.microsoft.com/office/powerpoint/2010/main" val="473641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kern="100" dirty="0">
                <a:effectLst/>
                <a:latin typeface="等线" panose="02010600030101010101" pitchFamily="2" charset="-122"/>
                <a:ea typeface="等线" panose="02010600030101010101" pitchFamily="2" charset="-122"/>
                <a:cs typeface="Times New Roman" panose="02020603050405020304" pitchFamily="18" charset="0"/>
              </a:rPr>
              <a:t>In light of this, in this paper, we studied the problem of trajectory recovery from multiple sparse and unevenly distributed historical trajectories.</a:t>
            </a:r>
            <a:endParaRPr lang="zh-CN" altLang="zh-CN" sz="12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2060"/>
              </a:solidFill>
              <a:ea typeface="Arial Unicode MS" panose="020B0604020202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862D0A4-2D73-42D6-8CE4-EF37B1DD013B}" type="slidenum">
              <a:rPr lang="zh-CN" altLang="en-US" smtClean="0"/>
              <a:t>5</a:t>
            </a:fld>
            <a:endParaRPr lang="zh-CN" altLang="en-US"/>
          </a:p>
        </p:txBody>
      </p:sp>
    </p:spTree>
    <p:extLst>
      <p:ext uri="{BB962C8B-B14F-4D97-AF65-F5344CB8AC3E}">
        <p14:creationId xmlns:p14="http://schemas.microsoft.com/office/powerpoint/2010/main" val="2111861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It sounds promising but to get a favorable recovery accuracy, there are some challenges.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baseline="0" dirty="0"/>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First of all, because of the sparsity and uneven distribution, the spatial-temporal constrains provided by observed locations become weak. As shown in this figure, the user was likely to visit a large range of area in missing hours.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In addition, we hope to exploit long-term history, but historical trajectories are also sparsity and contain occasionally visited locations. So it is intractable to distill useful periodical patterns.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Last but not least, when we introduce history, which provides some extra information, we need to determine how to fuse history with observed locations. It is not easy because there are various scenarios and the importance of history is different.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baseline="0"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6</a:t>
            </a:fld>
            <a:endParaRPr lang="zh-CN" altLang="en-US"/>
          </a:p>
        </p:txBody>
      </p:sp>
    </p:spTree>
    <p:extLst>
      <p:ext uri="{BB962C8B-B14F-4D97-AF65-F5344CB8AC3E}">
        <p14:creationId xmlns:p14="http://schemas.microsoft.com/office/powerpoint/2010/main" val="1643236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Before giving our solution, we first conduct literature overview and summary the findings as follows. Existing trajectory modeling works can be divided two categories. One is physical law-based statistical methods and others is deep learning especially RNN-based models. However, those either fail to utilize long-term history or are insufficient to handle the sparsity.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2060"/>
              </a:solidFill>
              <a:ea typeface="Arial Unicode MS" panose="020B0604020202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862D0A4-2D73-42D6-8CE4-EF37B1DD013B}" type="slidenum">
              <a:rPr lang="zh-CN" altLang="en-US" smtClean="0"/>
              <a:t>7</a:t>
            </a:fld>
            <a:endParaRPr lang="zh-CN" altLang="en-US"/>
          </a:p>
        </p:txBody>
      </p:sp>
    </p:spTree>
    <p:extLst>
      <p:ext uri="{BB962C8B-B14F-4D97-AF65-F5344CB8AC3E}">
        <p14:creationId xmlns:p14="http://schemas.microsoft.com/office/powerpoint/2010/main" val="178317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To tackle those challenges, wo propose a novel attentional neural network-based model. It first process current and historical trajectories separately based on the spatial-temporal representations, and then fuse them to generate the missing locations. Now let me show some details for each module one by one.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2060"/>
              </a:solidFill>
              <a:ea typeface="Arial Unicode MS" panose="020B0604020202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862D0A4-2D73-42D6-8CE4-EF37B1DD013B}" type="slidenum">
              <a:rPr lang="zh-CN" altLang="en-US" smtClean="0"/>
              <a:t>8</a:t>
            </a:fld>
            <a:endParaRPr lang="zh-CN" altLang="en-US"/>
          </a:p>
        </p:txBody>
      </p:sp>
    </p:spTree>
    <p:extLst>
      <p:ext uri="{BB962C8B-B14F-4D97-AF65-F5344CB8AC3E}">
        <p14:creationId xmlns:p14="http://schemas.microsoft.com/office/powerpoint/2010/main" val="25022315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first module is learning representation of each time slot, which is used as input to all following modules. The representation consists of three parts, location embedding, time slot embedding and day embedding. As we denote the missing location as null, we also set up a unique location embedding to present this.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2060"/>
              </a:solidFill>
              <a:ea typeface="Arial Unicode MS" panose="020B0604020202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862D0A4-2D73-42D6-8CE4-EF37B1DD013B}" type="slidenum">
              <a:rPr lang="zh-CN" altLang="en-US" smtClean="0"/>
              <a:t>9</a:t>
            </a:fld>
            <a:endParaRPr lang="zh-CN" altLang="en-US"/>
          </a:p>
        </p:txBody>
      </p:sp>
    </p:spTree>
    <p:extLst>
      <p:ext uri="{BB962C8B-B14F-4D97-AF65-F5344CB8AC3E}">
        <p14:creationId xmlns:p14="http://schemas.microsoft.com/office/powerpoint/2010/main" val="456362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second module is to initially fill in the trajectory which we want to recovery. To enhance the spatial-temporal constrains from the observed locations, we propose an intra-trajectory attention mechanism. For each time slot t, we learn a weighted summation of its adjacent time slot, where the weights represent the spatial-temporal dependence. In order to learn various dependence, follow Transformer, we also learn multiple heads and take a concatenation of them.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2060"/>
              </a:solidFill>
              <a:ea typeface="Arial Unicode MS" panose="020B0604020202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862D0A4-2D73-42D6-8CE4-EF37B1DD013B}" type="slidenum">
              <a:rPr lang="zh-CN" altLang="en-US" smtClean="0"/>
              <a:t>10</a:t>
            </a:fld>
            <a:endParaRPr lang="zh-CN" altLang="en-US"/>
          </a:p>
        </p:txBody>
      </p:sp>
    </p:spTree>
    <p:extLst>
      <p:ext uri="{BB962C8B-B14F-4D97-AF65-F5344CB8AC3E}">
        <p14:creationId xmlns:p14="http://schemas.microsoft.com/office/powerpoint/2010/main" val="24261372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 the history trajectories, we first aggregate them by preserving the most frequently visited locations in corresponding time slot, which forms the periodical pattern. But there are still two limitations: the history is utilized insufficiently and some time slot can be missing even when aggregated. So we further use the intra-trajectory attention to better smooth the distilled trajectory. The structure is the same with the one we used for current trajectory, except that both query and key are from history.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2060"/>
              </a:solidFill>
              <a:ea typeface="Arial Unicode MS" panose="020B0604020202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862D0A4-2D73-42D6-8CE4-EF37B1DD013B}" type="slidenum">
              <a:rPr lang="zh-CN" altLang="en-US" smtClean="0"/>
              <a:t>11</a:t>
            </a:fld>
            <a:endParaRPr lang="zh-CN" altLang="en-US"/>
          </a:p>
        </p:txBody>
      </p:sp>
    </p:spTree>
    <p:extLst>
      <p:ext uri="{BB962C8B-B14F-4D97-AF65-F5344CB8AC3E}">
        <p14:creationId xmlns:p14="http://schemas.microsoft.com/office/powerpoint/2010/main" val="2156752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Then, we get the distilled historical trajectory and the preliminary filled current trajectory, we design the final recovery module to fuse them. First, each time slot in current trajectory is used as query to calculate the attentional weights of time slots in history trajectories, this achieves the dynamic fusion of two kinds of trajectories. After that, an intra-trajectory attention is conducted to generate the location embedding for time slots without observation. Therefore, a complete trajectory can be recovered.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2060"/>
              </a:solidFill>
              <a:ea typeface="Arial Unicode MS" panose="020B0604020202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862D0A4-2D73-42D6-8CE4-EF37B1DD013B}" type="slidenum">
              <a:rPr lang="zh-CN" altLang="en-US" smtClean="0"/>
              <a:t>12</a:t>
            </a:fld>
            <a:endParaRPr lang="zh-CN" altLang="en-US"/>
          </a:p>
        </p:txBody>
      </p:sp>
    </p:spTree>
    <p:extLst>
      <p:ext uri="{BB962C8B-B14F-4D97-AF65-F5344CB8AC3E}">
        <p14:creationId xmlns:p14="http://schemas.microsoft.com/office/powerpoint/2010/main" val="2145107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Overall, three key designs including intra-trajectory attention, history aggregation and attentional smoothing, as well as inter-trajectory attention are proposed in our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AttnMove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framework to handle the challenges of the studied problem.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2060"/>
              </a:solidFill>
              <a:ea typeface="Arial Unicode MS" panose="020B0604020202020204" pitchFamily="34"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862D0A4-2D73-42D6-8CE4-EF37B1DD013B}" type="slidenum">
              <a:rPr lang="zh-CN" altLang="en-US" smtClean="0"/>
              <a:t>13</a:t>
            </a:fld>
            <a:endParaRPr lang="zh-CN" altLang="en-US"/>
          </a:p>
        </p:txBody>
      </p:sp>
    </p:spTree>
    <p:extLst>
      <p:ext uri="{BB962C8B-B14F-4D97-AF65-F5344CB8AC3E}">
        <p14:creationId xmlns:p14="http://schemas.microsoft.com/office/powerpoint/2010/main" val="21451078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To evaluate the performance, we conduct extensive experiments based on two real world mobility dataset. One is from Tencent Inc, collected by its mobility-related services. And the second is an open trajectory data. Both were collected in Beijing, the capital of china.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For each trajectory, we map the GPS location into urban regions and discrete time into 30 minutes. Regions are defined by urban blocks demarcated by road networks. We randomly mask 70% of the records in each trajectory as ground truth for training and testing. Map, recall are reported to show the accuracy of recovery. In addition, distance, a geo-distance between the ground truth and the location we recovery is also reported. The smaller it is, the better the performance,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14</a:t>
            </a:fld>
            <a:endParaRPr lang="zh-CN" altLang="en-US"/>
          </a:p>
        </p:txBody>
      </p:sp>
    </p:spTree>
    <p:extLst>
      <p:ext uri="{BB962C8B-B14F-4D97-AF65-F5344CB8AC3E}">
        <p14:creationId xmlns:p14="http://schemas.microsoft.com/office/powerpoint/2010/main" val="36055532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As for the baseline, we compare our model to three physical rule based methods, one typical machine learning algorithm and four state-of-the-art deep learning models, among which,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DeepMove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is a RNN-based next location prediction works taking history into consideration, so we adopt it to solve our problem. Bi-STDDP is a representation learning based model for missing check-in prediction.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15</a:t>
            </a:fld>
            <a:endParaRPr lang="zh-CN" altLang="en-US"/>
          </a:p>
        </p:txBody>
      </p:sp>
    </p:spTree>
    <p:extLst>
      <p:ext uri="{BB962C8B-B14F-4D97-AF65-F5344CB8AC3E}">
        <p14:creationId xmlns:p14="http://schemas.microsoft.com/office/powerpoint/2010/main" val="33511764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This table shows the overall performance, our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AtteMove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achieve favorable improvement against the state-of-the-art. Particularly, when comparing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AttnMove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to RNN based models, we can demonstrate the superiority of attentional neural network in handling sparse and long sequence. When we compare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AttnMove</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to its variant with history removed, we can also justify that a better utilization of history can significantly improve the accuracy.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16</a:t>
            </a:fld>
            <a:endParaRPr lang="zh-CN" altLang="en-US"/>
          </a:p>
        </p:txBody>
      </p:sp>
    </p:spTree>
    <p:extLst>
      <p:ext uri="{BB962C8B-B14F-4D97-AF65-F5344CB8AC3E}">
        <p14:creationId xmlns:p14="http://schemas.microsoft.com/office/powerpoint/2010/main" val="1524949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To demonstrate the robustness of our model, we also report the comparison in terms of different missing rate. The more locations are missed, the more difficult to recovery accurately. But from the results, we can find that our model can always keep the performance gain. In addition, we compare the performance under different spatial-temporal context, the conclusion is similar, that our model is always the best.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17</a:t>
            </a:fld>
            <a:endParaRPr lang="zh-CN" altLang="en-US"/>
          </a:p>
        </p:txBody>
      </p:sp>
    </p:spTree>
    <p:extLst>
      <p:ext uri="{BB962C8B-B14F-4D97-AF65-F5344CB8AC3E}">
        <p14:creationId xmlns:p14="http://schemas.microsoft.com/office/powerpoint/2010/main" val="1154007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Last but not least, we visualize the locations on the map, where color represent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kmeans</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clustering results according to the learned location embedding vectors. It is easy to find that geo-adjacent relation has been captured. We also show one head of the final intra-trajectory attention weight, where we can see adjacent time slots and home hours are highly related. All those indicates that we learn explainable mobility patterns.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18</a:t>
            </a:fld>
            <a:endParaRPr lang="zh-CN" altLang="en-US"/>
          </a:p>
        </p:txBody>
      </p:sp>
    </p:spTree>
    <p:extLst>
      <p:ext uri="{BB962C8B-B14F-4D97-AF65-F5344CB8AC3E}">
        <p14:creationId xmlns:p14="http://schemas.microsoft.com/office/powerpoint/2010/main" val="28657900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Finally, here comes our conclusion,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study the problem of personal trajectory reconstruction from sparse and long-term mobility data.</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We propose a novel attentional neural network which can better capture spatial-temporal correlation and fully exploit history.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Some takeaways: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Attention is promising in mobility modelling. This is the first work for trajectory recovery. But related problems are also worth to be explored.</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0"/>
          </p:nvPr>
        </p:nvSpPr>
        <p:spPr/>
        <p:txBody>
          <a:bodyPr/>
          <a:lstStyle/>
          <a:p>
            <a:fld id="{F862D0A4-2D73-42D6-8CE4-EF37B1DD013B}" type="slidenum">
              <a:rPr lang="zh-CN" altLang="en-US" smtClean="0"/>
              <a:t>19</a:t>
            </a:fld>
            <a:endParaRPr lang="zh-CN" altLang="en-US"/>
          </a:p>
        </p:txBody>
      </p:sp>
    </p:spTree>
    <p:extLst>
      <p:ext uri="{BB962C8B-B14F-4D97-AF65-F5344CB8AC3E}">
        <p14:creationId xmlns:p14="http://schemas.microsoft.com/office/powerpoint/2010/main" val="29193691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Thanks for your listen, your can find our codes and data here if those are of interest to you.</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fld id="{F862D0A4-2D73-42D6-8CE4-EF37B1DD013B}" type="slidenum">
              <a:rPr lang="zh-CN" altLang="en-US" smtClean="0"/>
              <a:t>20</a:t>
            </a:fld>
            <a:endParaRPr lang="zh-CN" altLang="en-US"/>
          </a:p>
        </p:txBody>
      </p:sp>
    </p:spTree>
    <p:extLst>
      <p:ext uri="{BB962C8B-B14F-4D97-AF65-F5344CB8AC3E}">
        <p14:creationId xmlns:p14="http://schemas.microsoft.com/office/powerpoint/2010/main" val="38451461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EB2E4F71-EB35-42E0-AECB-49F7638D037B}"/>
              </a:ext>
            </a:extLst>
          </p:cNvPr>
          <p:cNvGrpSpPr/>
          <p:nvPr userDrawn="1"/>
        </p:nvGrpSpPr>
        <p:grpSpPr>
          <a:xfrm>
            <a:off x="-6579190" y="-442650"/>
            <a:ext cx="24301094" cy="7743300"/>
            <a:chOff x="-6579190" y="-442650"/>
            <a:chExt cx="24301094" cy="7743300"/>
          </a:xfrm>
        </p:grpSpPr>
        <p:grpSp>
          <p:nvGrpSpPr>
            <p:cNvPr id="12" name="组合 11">
              <a:extLst>
                <a:ext uri="{FF2B5EF4-FFF2-40B4-BE49-F238E27FC236}">
                  <a16:creationId xmlns:a16="http://schemas.microsoft.com/office/drawing/2014/main" id="{D20559EC-4EB6-4FFC-BA4B-77E5EE3A3264}"/>
                </a:ext>
              </a:extLst>
            </p:cNvPr>
            <p:cNvGrpSpPr/>
            <p:nvPr userDrawn="1"/>
          </p:nvGrpSpPr>
          <p:grpSpPr>
            <a:xfrm>
              <a:off x="-6579190" y="-442650"/>
              <a:ext cx="15844379" cy="7743300"/>
              <a:chOff x="-7074490" y="-442650"/>
              <a:chExt cx="15844379" cy="7743300"/>
            </a:xfrm>
          </p:grpSpPr>
          <p:sp>
            <p:nvSpPr>
              <p:cNvPr id="34" name="任意多边形: 形状 33">
                <a:extLst>
                  <a:ext uri="{FF2B5EF4-FFF2-40B4-BE49-F238E27FC236}">
                    <a16:creationId xmlns:a16="http://schemas.microsoft.com/office/drawing/2014/main" id="{C359DF13-6345-4A10-9310-ECFD95073DE8}"/>
                  </a:ext>
                </a:extLst>
              </p:cNvPr>
              <p:cNvSpPr/>
              <p:nvPr/>
            </p:nvSpPr>
            <p:spPr>
              <a:xfrm>
                <a:off x="959389"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5" name="任意多边形: 形状 34">
                <a:extLst>
                  <a:ext uri="{FF2B5EF4-FFF2-40B4-BE49-F238E27FC236}">
                    <a16:creationId xmlns:a16="http://schemas.microsoft.com/office/drawing/2014/main" id="{5E192DED-6983-47E8-BF20-14E9D79EFA5A}"/>
                  </a:ext>
                </a:extLst>
              </p:cNvPr>
              <p:cNvSpPr/>
              <p:nvPr/>
            </p:nvSpPr>
            <p:spPr>
              <a:xfrm>
                <a:off x="536553"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6" name="任意多边形: 形状 35">
                <a:extLst>
                  <a:ext uri="{FF2B5EF4-FFF2-40B4-BE49-F238E27FC236}">
                    <a16:creationId xmlns:a16="http://schemas.microsoft.com/office/drawing/2014/main" id="{01306418-E399-4C53-8148-C1633E634657}"/>
                  </a:ext>
                </a:extLst>
              </p:cNvPr>
              <p:cNvSpPr/>
              <p:nvPr/>
            </p:nvSpPr>
            <p:spPr>
              <a:xfrm>
                <a:off x="1137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7" name="任意多边形: 形状 36">
                <a:extLst>
                  <a:ext uri="{FF2B5EF4-FFF2-40B4-BE49-F238E27FC236}">
                    <a16:creationId xmlns:a16="http://schemas.microsoft.com/office/drawing/2014/main" id="{D0BB47AE-B43B-444E-A2C1-66A9499BBF1F}"/>
                  </a:ext>
                </a:extLst>
              </p:cNvPr>
              <p:cNvSpPr/>
              <p:nvPr/>
            </p:nvSpPr>
            <p:spPr>
              <a:xfrm>
                <a:off x="-3091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8" name="任意多边形: 形状 37">
                <a:extLst>
                  <a:ext uri="{FF2B5EF4-FFF2-40B4-BE49-F238E27FC236}">
                    <a16:creationId xmlns:a16="http://schemas.microsoft.com/office/drawing/2014/main" id="{A5D7730E-8681-4FFA-8C40-0AB9F3BC3A27}"/>
                  </a:ext>
                </a:extLst>
              </p:cNvPr>
              <p:cNvSpPr/>
              <p:nvPr/>
            </p:nvSpPr>
            <p:spPr>
              <a:xfrm>
                <a:off x="-731954"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9" name="任意多边形: 形状 38">
                <a:extLst>
                  <a:ext uri="{FF2B5EF4-FFF2-40B4-BE49-F238E27FC236}">
                    <a16:creationId xmlns:a16="http://schemas.microsoft.com/office/drawing/2014/main" id="{09615465-BFD4-44C6-AD9A-82D8DB3FC363}"/>
                  </a:ext>
                </a:extLst>
              </p:cNvPr>
              <p:cNvSpPr/>
              <p:nvPr/>
            </p:nvSpPr>
            <p:spPr>
              <a:xfrm>
                <a:off x="-1154790"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0" name="任意多边形: 形状 39">
                <a:extLst>
                  <a:ext uri="{FF2B5EF4-FFF2-40B4-BE49-F238E27FC236}">
                    <a16:creationId xmlns:a16="http://schemas.microsoft.com/office/drawing/2014/main" id="{7D2A028D-5614-4888-9E14-ED4264B9DEA1}"/>
                  </a:ext>
                </a:extLst>
              </p:cNvPr>
              <p:cNvSpPr/>
              <p:nvPr/>
            </p:nvSpPr>
            <p:spPr>
              <a:xfrm>
                <a:off x="-1577625"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1" name="任意多边形: 形状 40">
                <a:extLst>
                  <a:ext uri="{FF2B5EF4-FFF2-40B4-BE49-F238E27FC236}">
                    <a16:creationId xmlns:a16="http://schemas.microsoft.com/office/drawing/2014/main" id="{BAFE057D-F9AE-49F9-A2A0-566715E42276}"/>
                  </a:ext>
                </a:extLst>
              </p:cNvPr>
              <p:cNvSpPr/>
              <p:nvPr/>
            </p:nvSpPr>
            <p:spPr>
              <a:xfrm>
                <a:off x="-200046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任意多边形: 形状 41">
                <a:extLst>
                  <a:ext uri="{FF2B5EF4-FFF2-40B4-BE49-F238E27FC236}">
                    <a16:creationId xmlns:a16="http://schemas.microsoft.com/office/drawing/2014/main" id="{21B88C56-EB2F-4BF6-A4B1-48170E165E6E}"/>
                  </a:ext>
                </a:extLst>
              </p:cNvPr>
              <p:cNvSpPr/>
              <p:nvPr/>
            </p:nvSpPr>
            <p:spPr>
              <a:xfrm>
                <a:off x="-242329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3" name="任意多边形: 形状 42">
                <a:extLst>
                  <a:ext uri="{FF2B5EF4-FFF2-40B4-BE49-F238E27FC236}">
                    <a16:creationId xmlns:a16="http://schemas.microsoft.com/office/drawing/2014/main" id="{A355B8D5-700E-41D3-8567-F0E69FE32E57}"/>
                  </a:ext>
                </a:extLst>
              </p:cNvPr>
              <p:cNvSpPr/>
              <p:nvPr/>
            </p:nvSpPr>
            <p:spPr>
              <a:xfrm>
                <a:off x="-284613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4" name="任意多边形: 形状 43">
                <a:extLst>
                  <a:ext uri="{FF2B5EF4-FFF2-40B4-BE49-F238E27FC236}">
                    <a16:creationId xmlns:a16="http://schemas.microsoft.com/office/drawing/2014/main" id="{1C937825-8F00-4EA0-8F16-C00B69844DB5}"/>
                  </a:ext>
                </a:extLst>
              </p:cNvPr>
              <p:cNvSpPr/>
              <p:nvPr/>
            </p:nvSpPr>
            <p:spPr>
              <a:xfrm>
                <a:off x="-326896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任意多边形: 形状 44">
                <a:extLst>
                  <a:ext uri="{FF2B5EF4-FFF2-40B4-BE49-F238E27FC236}">
                    <a16:creationId xmlns:a16="http://schemas.microsoft.com/office/drawing/2014/main" id="{4439058D-3013-4AA5-A955-5F12C1F48BC9}"/>
                  </a:ext>
                </a:extLst>
              </p:cNvPr>
              <p:cNvSpPr/>
              <p:nvPr/>
            </p:nvSpPr>
            <p:spPr>
              <a:xfrm>
                <a:off x="-369180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6" name="任意多边形: 形状 45">
                <a:extLst>
                  <a:ext uri="{FF2B5EF4-FFF2-40B4-BE49-F238E27FC236}">
                    <a16:creationId xmlns:a16="http://schemas.microsoft.com/office/drawing/2014/main" id="{A1CBF332-3B35-4F82-8DF9-9F25F8C57F3F}"/>
                  </a:ext>
                </a:extLst>
              </p:cNvPr>
              <p:cNvSpPr/>
              <p:nvPr/>
            </p:nvSpPr>
            <p:spPr>
              <a:xfrm>
                <a:off x="-411464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7" name="任意多边形: 形状 46">
                <a:extLst>
                  <a:ext uri="{FF2B5EF4-FFF2-40B4-BE49-F238E27FC236}">
                    <a16:creationId xmlns:a16="http://schemas.microsoft.com/office/drawing/2014/main" id="{FB713327-BADA-47CE-8E3A-2276A2431F5C}"/>
                  </a:ext>
                </a:extLst>
              </p:cNvPr>
              <p:cNvSpPr/>
              <p:nvPr/>
            </p:nvSpPr>
            <p:spPr>
              <a:xfrm>
                <a:off x="-4537476"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8" name="任意多边形: 形状 47">
                <a:extLst>
                  <a:ext uri="{FF2B5EF4-FFF2-40B4-BE49-F238E27FC236}">
                    <a16:creationId xmlns:a16="http://schemas.microsoft.com/office/drawing/2014/main" id="{5F40F1B2-2FB5-485F-8FDC-3BD0B05CE225}"/>
                  </a:ext>
                </a:extLst>
              </p:cNvPr>
              <p:cNvSpPr/>
              <p:nvPr/>
            </p:nvSpPr>
            <p:spPr>
              <a:xfrm>
                <a:off x="-496031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9" name="任意多边形: 形状 48">
                <a:extLst>
                  <a:ext uri="{FF2B5EF4-FFF2-40B4-BE49-F238E27FC236}">
                    <a16:creationId xmlns:a16="http://schemas.microsoft.com/office/drawing/2014/main" id="{341D72CC-5838-4128-A2E1-CDFF26094F56}"/>
                  </a:ext>
                </a:extLst>
              </p:cNvPr>
              <p:cNvSpPr/>
              <p:nvPr/>
            </p:nvSpPr>
            <p:spPr>
              <a:xfrm>
                <a:off x="-538314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0" name="任意多边形: 形状 49">
                <a:extLst>
                  <a:ext uri="{FF2B5EF4-FFF2-40B4-BE49-F238E27FC236}">
                    <a16:creationId xmlns:a16="http://schemas.microsoft.com/office/drawing/2014/main" id="{875135E7-2243-40DA-8EDE-BB422689AE20}"/>
                  </a:ext>
                </a:extLst>
              </p:cNvPr>
              <p:cNvSpPr/>
              <p:nvPr/>
            </p:nvSpPr>
            <p:spPr>
              <a:xfrm>
                <a:off x="-580598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1" name="任意多边形: 形状 50">
                <a:extLst>
                  <a:ext uri="{FF2B5EF4-FFF2-40B4-BE49-F238E27FC236}">
                    <a16:creationId xmlns:a16="http://schemas.microsoft.com/office/drawing/2014/main" id="{607FACA7-BA3B-4AA5-869B-D01F9CE40684}"/>
                  </a:ext>
                </a:extLst>
              </p:cNvPr>
              <p:cNvSpPr/>
              <p:nvPr/>
            </p:nvSpPr>
            <p:spPr>
              <a:xfrm>
                <a:off x="-622881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2" name="任意多边形: 形状 51">
                <a:extLst>
                  <a:ext uri="{FF2B5EF4-FFF2-40B4-BE49-F238E27FC236}">
                    <a16:creationId xmlns:a16="http://schemas.microsoft.com/office/drawing/2014/main" id="{691CA83A-E929-41E2-9C5C-3347DDAF2D10}"/>
                  </a:ext>
                </a:extLst>
              </p:cNvPr>
              <p:cNvSpPr/>
              <p:nvPr/>
            </p:nvSpPr>
            <p:spPr>
              <a:xfrm>
                <a:off x="-665165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3" name="任意多边形: 形状 52">
                <a:extLst>
                  <a:ext uri="{FF2B5EF4-FFF2-40B4-BE49-F238E27FC236}">
                    <a16:creationId xmlns:a16="http://schemas.microsoft.com/office/drawing/2014/main" id="{90051558-2BF0-4447-82D3-35D52FC1034C}"/>
                  </a:ext>
                </a:extLst>
              </p:cNvPr>
              <p:cNvSpPr/>
              <p:nvPr/>
            </p:nvSpPr>
            <p:spPr>
              <a:xfrm>
                <a:off x="-707449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13" name="组合 12">
              <a:extLst>
                <a:ext uri="{FF2B5EF4-FFF2-40B4-BE49-F238E27FC236}">
                  <a16:creationId xmlns:a16="http://schemas.microsoft.com/office/drawing/2014/main" id="{DD7DE405-0F67-48B6-A006-A5A5216DC6C5}"/>
                </a:ext>
              </a:extLst>
            </p:cNvPr>
            <p:cNvGrpSpPr/>
            <p:nvPr userDrawn="1"/>
          </p:nvGrpSpPr>
          <p:grpSpPr>
            <a:xfrm>
              <a:off x="1877525" y="-442650"/>
              <a:ext cx="15844379" cy="7743300"/>
              <a:chOff x="-7074490" y="-442650"/>
              <a:chExt cx="15844379" cy="7743300"/>
            </a:xfrm>
          </p:grpSpPr>
          <p:sp>
            <p:nvSpPr>
              <p:cNvPr id="14" name="任意多边形: 形状 13">
                <a:extLst>
                  <a:ext uri="{FF2B5EF4-FFF2-40B4-BE49-F238E27FC236}">
                    <a16:creationId xmlns:a16="http://schemas.microsoft.com/office/drawing/2014/main" id="{93606859-2206-4B75-969D-241A7DF82DF2}"/>
                  </a:ext>
                </a:extLst>
              </p:cNvPr>
              <p:cNvSpPr/>
              <p:nvPr/>
            </p:nvSpPr>
            <p:spPr>
              <a:xfrm>
                <a:off x="959389"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 name="任意多边形: 形状 14">
                <a:extLst>
                  <a:ext uri="{FF2B5EF4-FFF2-40B4-BE49-F238E27FC236}">
                    <a16:creationId xmlns:a16="http://schemas.microsoft.com/office/drawing/2014/main" id="{7FFFF5AA-097D-4CEC-ACF9-EC0AB52009B1}"/>
                  </a:ext>
                </a:extLst>
              </p:cNvPr>
              <p:cNvSpPr/>
              <p:nvPr/>
            </p:nvSpPr>
            <p:spPr>
              <a:xfrm>
                <a:off x="536553"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6" name="任意多边形: 形状 15">
                <a:extLst>
                  <a:ext uri="{FF2B5EF4-FFF2-40B4-BE49-F238E27FC236}">
                    <a16:creationId xmlns:a16="http://schemas.microsoft.com/office/drawing/2014/main" id="{2E277470-CBB2-4175-A1AD-0C3B295DBD12}"/>
                  </a:ext>
                </a:extLst>
              </p:cNvPr>
              <p:cNvSpPr/>
              <p:nvPr/>
            </p:nvSpPr>
            <p:spPr>
              <a:xfrm>
                <a:off x="1137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7" name="任意多边形: 形状 16">
                <a:extLst>
                  <a:ext uri="{FF2B5EF4-FFF2-40B4-BE49-F238E27FC236}">
                    <a16:creationId xmlns:a16="http://schemas.microsoft.com/office/drawing/2014/main" id="{D5DFAC0A-F7A9-4DCE-B093-A8E2D234C7FD}"/>
                  </a:ext>
                </a:extLst>
              </p:cNvPr>
              <p:cNvSpPr/>
              <p:nvPr/>
            </p:nvSpPr>
            <p:spPr>
              <a:xfrm>
                <a:off x="-3091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 name="任意多边形: 形状 17">
                <a:extLst>
                  <a:ext uri="{FF2B5EF4-FFF2-40B4-BE49-F238E27FC236}">
                    <a16:creationId xmlns:a16="http://schemas.microsoft.com/office/drawing/2014/main" id="{1C1B310E-13A9-438C-9E1C-AE21AB43A884}"/>
                  </a:ext>
                </a:extLst>
              </p:cNvPr>
              <p:cNvSpPr/>
              <p:nvPr/>
            </p:nvSpPr>
            <p:spPr>
              <a:xfrm>
                <a:off x="-731954"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9" name="任意多边形: 形状 18">
                <a:extLst>
                  <a:ext uri="{FF2B5EF4-FFF2-40B4-BE49-F238E27FC236}">
                    <a16:creationId xmlns:a16="http://schemas.microsoft.com/office/drawing/2014/main" id="{60366B5F-F1D4-4983-A00A-C1359976A73F}"/>
                  </a:ext>
                </a:extLst>
              </p:cNvPr>
              <p:cNvSpPr/>
              <p:nvPr/>
            </p:nvSpPr>
            <p:spPr>
              <a:xfrm>
                <a:off x="-1154790"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0" name="任意多边形: 形状 19">
                <a:extLst>
                  <a:ext uri="{FF2B5EF4-FFF2-40B4-BE49-F238E27FC236}">
                    <a16:creationId xmlns:a16="http://schemas.microsoft.com/office/drawing/2014/main" id="{62489E71-B0C2-4CE9-A6FB-2216DE6F8936}"/>
                  </a:ext>
                </a:extLst>
              </p:cNvPr>
              <p:cNvSpPr/>
              <p:nvPr/>
            </p:nvSpPr>
            <p:spPr>
              <a:xfrm>
                <a:off x="-1577625"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1" name="任意多边形: 形状 20">
                <a:extLst>
                  <a:ext uri="{FF2B5EF4-FFF2-40B4-BE49-F238E27FC236}">
                    <a16:creationId xmlns:a16="http://schemas.microsoft.com/office/drawing/2014/main" id="{F8DAF40B-A80B-4666-A5B6-FB55CB812A50}"/>
                  </a:ext>
                </a:extLst>
              </p:cNvPr>
              <p:cNvSpPr/>
              <p:nvPr/>
            </p:nvSpPr>
            <p:spPr>
              <a:xfrm>
                <a:off x="-200046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2" name="任意多边形: 形状 21">
                <a:extLst>
                  <a:ext uri="{FF2B5EF4-FFF2-40B4-BE49-F238E27FC236}">
                    <a16:creationId xmlns:a16="http://schemas.microsoft.com/office/drawing/2014/main" id="{42DF3D89-091E-404E-96C0-86FBCD939B82}"/>
                  </a:ext>
                </a:extLst>
              </p:cNvPr>
              <p:cNvSpPr/>
              <p:nvPr/>
            </p:nvSpPr>
            <p:spPr>
              <a:xfrm>
                <a:off x="-242329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3" name="任意多边形: 形状 22">
                <a:extLst>
                  <a:ext uri="{FF2B5EF4-FFF2-40B4-BE49-F238E27FC236}">
                    <a16:creationId xmlns:a16="http://schemas.microsoft.com/office/drawing/2014/main" id="{19DA00A6-17DC-4FE9-926E-2F46CF5E082E}"/>
                  </a:ext>
                </a:extLst>
              </p:cNvPr>
              <p:cNvSpPr/>
              <p:nvPr/>
            </p:nvSpPr>
            <p:spPr>
              <a:xfrm>
                <a:off x="-284613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 name="任意多边形: 形状 23">
                <a:extLst>
                  <a:ext uri="{FF2B5EF4-FFF2-40B4-BE49-F238E27FC236}">
                    <a16:creationId xmlns:a16="http://schemas.microsoft.com/office/drawing/2014/main" id="{77293C95-BC7E-418F-89F8-A2660EECFA7C}"/>
                  </a:ext>
                </a:extLst>
              </p:cNvPr>
              <p:cNvSpPr/>
              <p:nvPr/>
            </p:nvSpPr>
            <p:spPr>
              <a:xfrm>
                <a:off x="-326896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任意多边形: 形状 24">
                <a:extLst>
                  <a:ext uri="{FF2B5EF4-FFF2-40B4-BE49-F238E27FC236}">
                    <a16:creationId xmlns:a16="http://schemas.microsoft.com/office/drawing/2014/main" id="{363CDF01-EF88-4B3B-91EC-F394E77C012A}"/>
                  </a:ext>
                </a:extLst>
              </p:cNvPr>
              <p:cNvSpPr/>
              <p:nvPr/>
            </p:nvSpPr>
            <p:spPr>
              <a:xfrm>
                <a:off x="-369180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6" name="任意多边形: 形状 25">
                <a:extLst>
                  <a:ext uri="{FF2B5EF4-FFF2-40B4-BE49-F238E27FC236}">
                    <a16:creationId xmlns:a16="http://schemas.microsoft.com/office/drawing/2014/main" id="{E7BBA8D8-949F-4FA2-8EE0-2086BFE88228}"/>
                  </a:ext>
                </a:extLst>
              </p:cNvPr>
              <p:cNvSpPr/>
              <p:nvPr/>
            </p:nvSpPr>
            <p:spPr>
              <a:xfrm>
                <a:off x="-411464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7" name="任意多边形: 形状 26">
                <a:extLst>
                  <a:ext uri="{FF2B5EF4-FFF2-40B4-BE49-F238E27FC236}">
                    <a16:creationId xmlns:a16="http://schemas.microsoft.com/office/drawing/2014/main" id="{E83A8FDC-A762-4D66-B97D-DB263B139C70}"/>
                  </a:ext>
                </a:extLst>
              </p:cNvPr>
              <p:cNvSpPr/>
              <p:nvPr/>
            </p:nvSpPr>
            <p:spPr>
              <a:xfrm>
                <a:off x="-4537476"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8" name="任意多边形: 形状 27">
                <a:extLst>
                  <a:ext uri="{FF2B5EF4-FFF2-40B4-BE49-F238E27FC236}">
                    <a16:creationId xmlns:a16="http://schemas.microsoft.com/office/drawing/2014/main" id="{441319D0-3BF2-49FA-B802-279400E431D3}"/>
                  </a:ext>
                </a:extLst>
              </p:cNvPr>
              <p:cNvSpPr/>
              <p:nvPr/>
            </p:nvSpPr>
            <p:spPr>
              <a:xfrm>
                <a:off x="-496031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任意多边形: 形状 28">
                <a:extLst>
                  <a:ext uri="{FF2B5EF4-FFF2-40B4-BE49-F238E27FC236}">
                    <a16:creationId xmlns:a16="http://schemas.microsoft.com/office/drawing/2014/main" id="{74B4DF40-ADCA-4C8E-93DC-454461DCBA6F}"/>
                  </a:ext>
                </a:extLst>
              </p:cNvPr>
              <p:cNvSpPr/>
              <p:nvPr/>
            </p:nvSpPr>
            <p:spPr>
              <a:xfrm>
                <a:off x="-538314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0" name="任意多边形: 形状 29">
                <a:extLst>
                  <a:ext uri="{FF2B5EF4-FFF2-40B4-BE49-F238E27FC236}">
                    <a16:creationId xmlns:a16="http://schemas.microsoft.com/office/drawing/2014/main" id="{FACF7D4B-6B86-447B-8570-736974D14D24}"/>
                  </a:ext>
                </a:extLst>
              </p:cNvPr>
              <p:cNvSpPr/>
              <p:nvPr/>
            </p:nvSpPr>
            <p:spPr>
              <a:xfrm>
                <a:off x="-580598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1" name="任意多边形: 形状 30">
                <a:extLst>
                  <a:ext uri="{FF2B5EF4-FFF2-40B4-BE49-F238E27FC236}">
                    <a16:creationId xmlns:a16="http://schemas.microsoft.com/office/drawing/2014/main" id="{4DACF3AB-567C-4481-A2B8-B00C56ED4B6D}"/>
                  </a:ext>
                </a:extLst>
              </p:cNvPr>
              <p:cNvSpPr/>
              <p:nvPr/>
            </p:nvSpPr>
            <p:spPr>
              <a:xfrm>
                <a:off x="-622881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2" name="任意多边形: 形状 31">
                <a:extLst>
                  <a:ext uri="{FF2B5EF4-FFF2-40B4-BE49-F238E27FC236}">
                    <a16:creationId xmlns:a16="http://schemas.microsoft.com/office/drawing/2014/main" id="{6D16A71F-6E77-4BA1-9486-FF79B1BF7749}"/>
                  </a:ext>
                </a:extLst>
              </p:cNvPr>
              <p:cNvSpPr/>
              <p:nvPr/>
            </p:nvSpPr>
            <p:spPr>
              <a:xfrm>
                <a:off x="-665165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3" name="任意多边形: 形状 32">
                <a:extLst>
                  <a:ext uri="{FF2B5EF4-FFF2-40B4-BE49-F238E27FC236}">
                    <a16:creationId xmlns:a16="http://schemas.microsoft.com/office/drawing/2014/main" id="{03F6AA43-D276-4829-8387-917A9388E6FA}"/>
                  </a:ext>
                </a:extLst>
              </p:cNvPr>
              <p:cNvSpPr/>
              <p:nvPr/>
            </p:nvSpPr>
            <p:spPr>
              <a:xfrm>
                <a:off x="-707449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sp>
        <p:nvSpPr>
          <p:cNvPr id="3" name="矩形 2">
            <a:extLst>
              <a:ext uri="{FF2B5EF4-FFF2-40B4-BE49-F238E27FC236}">
                <a16:creationId xmlns:a16="http://schemas.microsoft.com/office/drawing/2014/main" id="{87DAC824-7C65-441B-99D5-C731C1F58132}"/>
              </a:ext>
            </a:extLst>
          </p:cNvPr>
          <p:cNvSpPr/>
          <p:nvPr userDrawn="1"/>
        </p:nvSpPr>
        <p:spPr>
          <a:xfrm>
            <a:off x="-343825" y="714810"/>
            <a:ext cx="1523999" cy="6611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3F1F2C90-BB39-4679-BD71-4C4882CD3DB8}"/>
              </a:ext>
            </a:extLst>
          </p:cNvPr>
          <p:cNvSpPr/>
          <p:nvPr userDrawn="1"/>
        </p:nvSpPr>
        <p:spPr>
          <a:xfrm>
            <a:off x="0" y="669759"/>
            <a:ext cx="540544" cy="9010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标题 9">
            <a:extLst>
              <a:ext uri="{FF2B5EF4-FFF2-40B4-BE49-F238E27FC236}">
                <a16:creationId xmlns:a16="http://schemas.microsoft.com/office/drawing/2014/main" id="{9431C9C2-F156-43EC-AD34-1B24C9288776}"/>
              </a:ext>
            </a:extLst>
          </p:cNvPr>
          <p:cNvSpPr>
            <a:spLocks noGrp="1"/>
          </p:cNvSpPr>
          <p:nvPr>
            <p:ph type="title" hasCustomPrompt="1"/>
          </p:nvPr>
        </p:nvSpPr>
        <p:spPr>
          <a:xfrm>
            <a:off x="597866" y="495734"/>
            <a:ext cx="2141933" cy="880241"/>
          </a:xfrm>
          <a:prstGeom prst="rect">
            <a:avLst/>
          </a:prstGeom>
        </p:spPr>
        <p:txBody>
          <a:bodyPr wrap="none">
            <a:spAutoFit/>
          </a:bodyPr>
          <a:lstStyle>
            <a:lvl1pPr>
              <a:lnSpc>
                <a:spcPct val="60000"/>
              </a:lnSpc>
              <a:defRPr lang="zh-CN" altLang="en-US" sz="3200" b="1">
                <a:solidFill>
                  <a:schemeClr val="tx1">
                    <a:lumMod val="75000"/>
                    <a:lumOff val="25000"/>
                  </a:schemeClr>
                </a:solidFill>
                <a:latin typeface="+mn-lt"/>
                <a:ea typeface="+mn-ea"/>
                <a:cs typeface="+mn-cs"/>
              </a:defRPr>
            </a:lvl1pPr>
          </a:lstStyle>
          <a:p>
            <a:pPr marL="0" lvl="0" defTabSz="457200">
              <a:lnSpc>
                <a:spcPct val="80000"/>
              </a:lnSpc>
            </a:pPr>
            <a:r>
              <a:rPr lang="en-US" altLang="zh-CN" dirty="0"/>
              <a:t>Results</a:t>
            </a:r>
            <a:br>
              <a:rPr lang="en-US" altLang="zh-CN" dirty="0"/>
            </a:br>
            <a:r>
              <a:rPr lang="en-US" altLang="zh-CN" dirty="0"/>
              <a:t>showcase</a:t>
            </a:r>
            <a:endParaRPr lang="zh-CN" altLang="en-US" dirty="0"/>
          </a:p>
        </p:txBody>
      </p:sp>
      <p:sp>
        <p:nvSpPr>
          <p:cNvPr id="2" name="灯片编号占位符 1"/>
          <p:cNvSpPr>
            <a:spLocks noGrp="1"/>
          </p:cNvSpPr>
          <p:nvPr>
            <p:ph type="sldNum" sz="quarter" idx="10"/>
          </p:nvPr>
        </p:nvSpPr>
        <p:spPr/>
        <p:txBody>
          <a:bodyPr/>
          <a:lstStyle/>
          <a:p>
            <a:fld id="{3A7104C2-2265-4AB9-B90C-4162FA6B94AE}" type="slidenum">
              <a:rPr lang="zh-CN" altLang="en-US" smtClean="0"/>
              <a:pPr/>
              <a:t>‹#›</a:t>
            </a:fld>
            <a:endParaRPr lang="zh-CN" altLang="en-US" dirty="0"/>
          </a:p>
        </p:txBody>
      </p:sp>
    </p:spTree>
    <p:extLst>
      <p:ext uri="{BB962C8B-B14F-4D97-AF65-F5344CB8AC3E}">
        <p14:creationId xmlns:p14="http://schemas.microsoft.com/office/powerpoint/2010/main" val="3669425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正文页3">
    <p:spTree>
      <p:nvGrpSpPr>
        <p:cNvPr id="1" name=""/>
        <p:cNvGrpSpPr/>
        <p:nvPr/>
      </p:nvGrpSpPr>
      <p:grpSpPr>
        <a:xfrm>
          <a:off x="0" y="0"/>
          <a:ext cx="0" cy="0"/>
          <a:chOff x="0" y="0"/>
          <a:chExt cx="0" cy="0"/>
        </a:xfrm>
      </p:grpSpPr>
      <p:grpSp>
        <p:nvGrpSpPr>
          <p:cNvPr id="11" name="组合 10">
            <a:extLst>
              <a:ext uri="{FF2B5EF4-FFF2-40B4-BE49-F238E27FC236}">
                <a16:creationId xmlns:a16="http://schemas.microsoft.com/office/drawing/2014/main" id="{EB2E4F71-EB35-42E0-AECB-49F7638D037B}"/>
              </a:ext>
            </a:extLst>
          </p:cNvPr>
          <p:cNvGrpSpPr/>
          <p:nvPr userDrawn="1"/>
        </p:nvGrpSpPr>
        <p:grpSpPr>
          <a:xfrm>
            <a:off x="-6579190" y="-442650"/>
            <a:ext cx="24301094" cy="7743300"/>
            <a:chOff x="-6579190" y="-442650"/>
            <a:chExt cx="24301094" cy="7743300"/>
          </a:xfrm>
        </p:grpSpPr>
        <p:grpSp>
          <p:nvGrpSpPr>
            <p:cNvPr id="12" name="组合 11">
              <a:extLst>
                <a:ext uri="{FF2B5EF4-FFF2-40B4-BE49-F238E27FC236}">
                  <a16:creationId xmlns:a16="http://schemas.microsoft.com/office/drawing/2014/main" id="{D20559EC-4EB6-4FFC-BA4B-77E5EE3A3264}"/>
                </a:ext>
              </a:extLst>
            </p:cNvPr>
            <p:cNvGrpSpPr/>
            <p:nvPr userDrawn="1"/>
          </p:nvGrpSpPr>
          <p:grpSpPr>
            <a:xfrm>
              <a:off x="-6579190" y="-442650"/>
              <a:ext cx="15844379" cy="7743300"/>
              <a:chOff x="-7074490" y="-442650"/>
              <a:chExt cx="15844379" cy="7743300"/>
            </a:xfrm>
          </p:grpSpPr>
          <p:sp>
            <p:nvSpPr>
              <p:cNvPr id="34" name="任意多边形: 形状 33">
                <a:extLst>
                  <a:ext uri="{FF2B5EF4-FFF2-40B4-BE49-F238E27FC236}">
                    <a16:creationId xmlns:a16="http://schemas.microsoft.com/office/drawing/2014/main" id="{C359DF13-6345-4A10-9310-ECFD95073DE8}"/>
                  </a:ext>
                </a:extLst>
              </p:cNvPr>
              <p:cNvSpPr/>
              <p:nvPr/>
            </p:nvSpPr>
            <p:spPr>
              <a:xfrm>
                <a:off x="959389"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5" name="任意多边形: 形状 34">
                <a:extLst>
                  <a:ext uri="{FF2B5EF4-FFF2-40B4-BE49-F238E27FC236}">
                    <a16:creationId xmlns:a16="http://schemas.microsoft.com/office/drawing/2014/main" id="{5E192DED-6983-47E8-BF20-14E9D79EFA5A}"/>
                  </a:ext>
                </a:extLst>
              </p:cNvPr>
              <p:cNvSpPr/>
              <p:nvPr/>
            </p:nvSpPr>
            <p:spPr>
              <a:xfrm>
                <a:off x="536553"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6" name="任意多边形: 形状 35">
                <a:extLst>
                  <a:ext uri="{FF2B5EF4-FFF2-40B4-BE49-F238E27FC236}">
                    <a16:creationId xmlns:a16="http://schemas.microsoft.com/office/drawing/2014/main" id="{01306418-E399-4C53-8148-C1633E634657}"/>
                  </a:ext>
                </a:extLst>
              </p:cNvPr>
              <p:cNvSpPr/>
              <p:nvPr/>
            </p:nvSpPr>
            <p:spPr>
              <a:xfrm>
                <a:off x="1137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7" name="任意多边形: 形状 36">
                <a:extLst>
                  <a:ext uri="{FF2B5EF4-FFF2-40B4-BE49-F238E27FC236}">
                    <a16:creationId xmlns:a16="http://schemas.microsoft.com/office/drawing/2014/main" id="{D0BB47AE-B43B-444E-A2C1-66A9499BBF1F}"/>
                  </a:ext>
                </a:extLst>
              </p:cNvPr>
              <p:cNvSpPr/>
              <p:nvPr/>
            </p:nvSpPr>
            <p:spPr>
              <a:xfrm>
                <a:off x="-3091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8" name="任意多边形: 形状 37">
                <a:extLst>
                  <a:ext uri="{FF2B5EF4-FFF2-40B4-BE49-F238E27FC236}">
                    <a16:creationId xmlns:a16="http://schemas.microsoft.com/office/drawing/2014/main" id="{A5D7730E-8681-4FFA-8C40-0AB9F3BC3A27}"/>
                  </a:ext>
                </a:extLst>
              </p:cNvPr>
              <p:cNvSpPr/>
              <p:nvPr/>
            </p:nvSpPr>
            <p:spPr>
              <a:xfrm>
                <a:off x="-731954"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9" name="任意多边形: 形状 38">
                <a:extLst>
                  <a:ext uri="{FF2B5EF4-FFF2-40B4-BE49-F238E27FC236}">
                    <a16:creationId xmlns:a16="http://schemas.microsoft.com/office/drawing/2014/main" id="{09615465-BFD4-44C6-AD9A-82D8DB3FC363}"/>
                  </a:ext>
                </a:extLst>
              </p:cNvPr>
              <p:cNvSpPr/>
              <p:nvPr/>
            </p:nvSpPr>
            <p:spPr>
              <a:xfrm>
                <a:off x="-1154790"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0" name="任意多边形: 形状 39">
                <a:extLst>
                  <a:ext uri="{FF2B5EF4-FFF2-40B4-BE49-F238E27FC236}">
                    <a16:creationId xmlns:a16="http://schemas.microsoft.com/office/drawing/2014/main" id="{7D2A028D-5614-4888-9E14-ED4264B9DEA1}"/>
                  </a:ext>
                </a:extLst>
              </p:cNvPr>
              <p:cNvSpPr/>
              <p:nvPr/>
            </p:nvSpPr>
            <p:spPr>
              <a:xfrm>
                <a:off x="-1577625"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1" name="任意多边形: 形状 40">
                <a:extLst>
                  <a:ext uri="{FF2B5EF4-FFF2-40B4-BE49-F238E27FC236}">
                    <a16:creationId xmlns:a16="http://schemas.microsoft.com/office/drawing/2014/main" id="{BAFE057D-F9AE-49F9-A2A0-566715E42276}"/>
                  </a:ext>
                </a:extLst>
              </p:cNvPr>
              <p:cNvSpPr/>
              <p:nvPr/>
            </p:nvSpPr>
            <p:spPr>
              <a:xfrm>
                <a:off x="-200046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任意多边形: 形状 41">
                <a:extLst>
                  <a:ext uri="{FF2B5EF4-FFF2-40B4-BE49-F238E27FC236}">
                    <a16:creationId xmlns:a16="http://schemas.microsoft.com/office/drawing/2014/main" id="{21B88C56-EB2F-4BF6-A4B1-48170E165E6E}"/>
                  </a:ext>
                </a:extLst>
              </p:cNvPr>
              <p:cNvSpPr/>
              <p:nvPr/>
            </p:nvSpPr>
            <p:spPr>
              <a:xfrm>
                <a:off x="-242329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3" name="任意多边形: 形状 42">
                <a:extLst>
                  <a:ext uri="{FF2B5EF4-FFF2-40B4-BE49-F238E27FC236}">
                    <a16:creationId xmlns:a16="http://schemas.microsoft.com/office/drawing/2014/main" id="{A355B8D5-700E-41D3-8567-F0E69FE32E57}"/>
                  </a:ext>
                </a:extLst>
              </p:cNvPr>
              <p:cNvSpPr/>
              <p:nvPr/>
            </p:nvSpPr>
            <p:spPr>
              <a:xfrm>
                <a:off x="-284613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4" name="任意多边形: 形状 43">
                <a:extLst>
                  <a:ext uri="{FF2B5EF4-FFF2-40B4-BE49-F238E27FC236}">
                    <a16:creationId xmlns:a16="http://schemas.microsoft.com/office/drawing/2014/main" id="{1C937825-8F00-4EA0-8F16-C00B69844DB5}"/>
                  </a:ext>
                </a:extLst>
              </p:cNvPr>
              <p:cNvSpPr/>
              <p:nvPr/>
            </p:nvSpPr>
            <p:spPr>
              <a:xfrm>
                <a:off x="-326896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任意多边形: 形状 44">
                <a:extLst>
                  <a:ext uri="{FF2B5EF4-FFF2-40B4-BE49-F238E27FC236}">
                    <a16:creationId xmlns:a16="http://schemas.microsoft.com/office/drawing/2014/main" id="{4439058D-3013-4AA5-A955-5F12C1F48BC9}"/>
                  </a:ext>
                </a:extLst>
              </p:cNvPr>
              <p:cNvSpPr/>
              <p:nvPr/>
            </p:nvSpPr>
            <p:spPr>
              <a:xfrm>
                <a:off x="-369180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6" name="任意多边形: 形状 45">
                <a:extLst>
                  <a:ext uri="{FF2B5EF4-FFF2-40B4-BE49-F238E27FC236}">
                    <a16:creationId xmlns:a16="http://schemas.microsoft.com/office/drawing/2014/main" id="{A1CBF332-3B35-4F82-8DF9-9F25F8C57F3F}"/>
                  </a:ext>
                </a:extLst>
              </p:cNvPr>
              <p:cNvSpPr/>
              <p:nvPr/>
            </p:nvSpPr>
            <p:spPr>
              <a:xfrm>
                <a:off x="-411464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7" name="任意多边形: 形状 46">
                <a:extLst>
                  <a:ext uri="{FF2B5EF4-FFF2-40B4-BE49-F238E27FC236}">
                    <a16:creationId xmlns:a16="http://schemas.microsoft.com/office/drawing/2014/main" id="{FB713327-BADA-47CE-8E3A-2276A2431F5C}"/>
                  </a:ext>
                </a:extLst>
              </p:cNvPr>
              <p:cNvSpPr/>
              <p:nvPr/>
            </p:nvSpPr>
            <p:spPr>
              <a:xfrm>
                <a:off x="-4537476"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8" name="任意多边形: 形状 47">
                <a:extLst>
                  <a:ext uri="{FF2B5EF4-FFF2-40B4-BE49-F238E27FC236}">
                    <a16:creationId xmlns:a16="http://schemas.microsoft.com/office/drawing/2014/main" id="{5F40F1B2-2FB5-485F-8FDC-3BD0B05CE225}"/>
                  </a:ext>
                </a:extLst>
              </p:cNvPr>
              <p:cNvSpPr/>
              <p:nvPr/>
            </p:nvSpPr>
            <p:spPr>
              <a:xfrm>
                <a:off x="-496031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9" name="任意多边形: 形状 48">
                <a:extLst>
                  <a:ext uri="{FF2B5EF4-FFF2-40B4-BE49-F238E27FC236}">
                    <a16:creationId xmlns:a16="http://schemas.microsoft.com/office/drawing/2014/main" id="{341D72CC-5838-4128-A2E1-CDFF26094F56}"/>
                  </a:ext>
                </a:extLst>
              </p:cNvPr>
              <p:cNvSpPr/>
              <p:nvPr/>
            </p:nvSpPr>
            <p:spPr>
              <a:xfrm>
                <a:off x="-538314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0" name="任意多边形: 形状 49">
                <a:extLst>
                  <a:ext uri="{FF2B5EF4-FFF2-40B4-BE49-F238E27FC236}">
                    <a16:creationId xmlns:a16="http://schemas.microsoft.com/office/drawing/2014/main" id="{875135E7-2243-40DA-8EDE-BB422689AE20}"/>
                  </a:ext>
                </a:extLst>
              </p:cNvPr>
              <p:cNvSpPr/>
              <p:nvPr/>
            </p:nvSpPr>
            <p:spPr>
              <a:xfrm>
                <a:off x="-580598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1" name="任意多边形: 形状 50">
                <a:extLst>
                  <a:ext uri="{FF2B5EF4-FFF2-40B4-BE49-F238E27FC236}">
                    <a16:creationId xmlns:a16="http://schemas.microsoft.com/office/drawing/2014/main" id="{607FACA7-BA3B-4AA5-869B-D01F9CE40684}"/>
                  </a:ext>
                </a:extLst>
              </p:cNvPr>
              <p:cNvSpPr/>
              <p:nvPr/>
            </p:nvSpPr>
            <p:spPr>
              <a:xfrm>
                <a:off x="-622881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2" name="任意多边形: 形状 51">
                <a:extLst>
                  <a:ext uri="{FF2B5EF4-FFF2-40B4-BE49-F238E27FC236}">
                    <a16:creationId xmlns:a16="http://schemas.microsoft.com/office/drawing/2014/main" id="{691CA83A-E929-41E2-9C5C-3347DDAF2D10}"/>
                  </a:ext>
                </a:extLst>
              </p:cNvPr>
              <p:cNvSpPr/>
              <p:nvPr/>
            </p:nvSpPr>
            <p:spPr>
              <a:xfrm>
                <a:off x="-665165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53" name="任意多边形: 形状 52">
                <a:extLst>
                  <a:ext uri="{FF2B5EF4-FFF2-40B4-BE49-F238E27FC236}">
                    <a16:creationId xmlns:a16="http://schemas.microsoft.com/office/drawing/2014/main" id="{90051558-2BF0-4447-82D3-35D52FC1034C}"/>
                  </a:ext>
                </a:extLst>
              </p:cNvPr>
              <p:cNvSpPr/>
              <p:nvPr/>
            </p:nvSpPr>
            <p:spPr>
              <a:xfrm>
                <a:off x="-707449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13" name="组合 12">
              <a:extLst>
                <a:ext uri="{FF2B5EF4-FFF2-40B4-BE49-F238E27FC236}">
                  <a16:creationId xmlns:a16="http://schemas.microsoft.com/office/drawing/2014/main" id="{DD7DE405-0F67-48B6-A006-A5A5216DC6C5}"/>
                </a:ext>
              </a:extLst>
            </p:cNvPr>
            <p:cNvGrpSpPr/>
            <p:nvPr userDrawn="1"/>
          </p:nvGrpSpPr>
          <p:grpSpPr>
            <a:xfrm>
              <a:off x="1877525" y="-442650"/>
              <a:ext cx="15844379" cy="7743300"/>
              <a:chOff x="-7074490" y="-442650"/>
              <a:chExt cx="15844379" cy="7743300"/>
            </a:xfrm>
          </p:grpSpPr>
          <p:sp>
            <p:nvSpPr>
              <p:cNvPr id="14" name="任意多边形: 形状 13">
                <a:extLst>
                  <a:ext uri="{FF2B5EF4-FFF2-40B4-BE49-F238E27FC236}">
                    <a16:creationId xmlns:a16="http://schemas.microsoft.com/office/drawing/2014/main" id="{93606859-2206-4B75-969D-241A7DF82DF2}"/>
                  </a:ext>
                </a:extLst>
              </p:cNvPr>
              <p:cNvSpPr/>
              <p:nvPr/>
            </p:nvSpPr>
            <p:spPr>
              <a:xfrm>
                <a:off x="959389"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 name="任意多边形: 形状 14">
                <a:extLst>
                  <a:ext uri="{FF2B5EF4-FFF2-40B4-BE49-F238E27FC236}">
                    <a16:creationId xmlns:a16="http://schemas.microsoft.com/office/drawing/2014/main" id="{7FFFF5AA-097D-4CEC-ACF9-EC0AB52009B1}"/>
                  </a:ext>
                </a:extLst>
              </p:cNvPr>
              <p:cNvSpPr/>
              <p:nvPr/>
            </p:nvSpPr>
            <p:spPr>
              <a:xfrm>
                <a:off x="536553"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6" name="任意多边形: 形状 15">
                <a:extLst>
                  <a:ext uri="{FF2B5EF4-FFF2-40B4-BE49-F238E27FC236}">
                    <a16:creationId xmlns:a16="http://schemas.microsoft.com/office/drawing/2014/main" id="{2E277470-CBB2-4175-A1AD-0C3B295DBD12}"/>
                  </a:ext>
                </a:extLst>
              </p:cNvPr>
              <p:cNvSpPr/>
              <p:nvPr/>
            </p:nvSpPr>
            <p:spPr>
              <a:xfrm>
                <a:off x="1137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7" name="任意多边形: 形状 16">
                <a:extLst>
                  <a:ext uri="{FF2B5EF4-FFF2-40B4-BE49-F238E27FC236}">
                    <a16:creationId xmlns:a16="http://schemas.microsoft.com/office/drawing/2014/main" id="{D5DFAC0A-F7A9-4DCE-B093-A8E2D234C7FD}"/>
                  </a:ext>
                </a:extLst>
              </p:cNvPr>
              <p:cNvSpPr/>
              <p:nvPr/>
            </p:nvSpPr>
            <p:spPr>
              <a:xfrm>
                <a:off x="-3091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 name="任意多边形: 形状 17">
                <a:extLst>
                  <a:ext uri="{FF2B5EF4-FFF2-40B4-BE49-F238E27FC236}">
                    <a16:creationId xmlns:a16="http://schemas.microsoft.com/office/drawing/2014/main" id="{1C1B310E-13A9-438C-9E1C-AE21AB43A884}"/>
                  </a:ext>
                </a:extLst>
              </p:cNvPr>
              <p:cNvSpPr/>
              <p:nvPr/>
            </p:nvSpPr>
            <p:spPr>
              <a:xfrm>
                <a:off x="-731954"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9" name="任意多边形: 形状 18">
                <a:extLst>
                  <a:ext uri="{FF2B5EF4-FFF2-40B4-BE49-F238E27FC236}">
                    <a16:creationId xmlns:a16="http://schemas.microsoft.com/office/drawing/2014/main" id="{60366B5F-F1D4-4983-A00A-C1359976A73F}"/>
                  </a:ext>
                </a:extLst>
              </p:cNvPr>
              <p:cNvSpPr/>
              <p:nvPr/>
            </p:nvSpPr>
            <p:spPr>
              <a:xfrm>
                <a:off x="-1154790"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0" name="任意多边形: 形状 19">
                <a:extLst>
                  <a:ext uri="{FF2B5EF4-FFF2-40B4-BE49-F238E27FC236}">
                    <a16:creationId xmlns:a16="http://schemas.microsoft.com/office/drawing/2014/main" id="{62489E71-B0C2-4CE9-A6FB-2216DE6F8936}"/>
                  </a:ext>
                </a:extLst>
              </p:cNvPr>
              <p:cNvSpPr/>
              <p:nvPr/>
            </p:nvSpPr>
            <p:spPr>
              <a:xfrm>
                <a:off x="-1577625"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1" name="任意多边形: 形状 20">
                <a:extLst>
                  <a:ext uri="{FF2B5EF4-FFF2-40B4-BE49-F238E27FC236}">
                    <a16:creationId xmlns:a16="http://schemas.microsoft.com/office/drawing/2014/main" id="{F8DAF40B-A80B-4666-A5B6-FB55CB812A50}"/>
                  </a:ext>
                </a:extLst>
              </p:cNvPr>
              <p:cNvSpPr/>
              <p:nvPr/>
            </p:nvSpPr>
            <p:spPr>
              <a:xfrm>
                <a:off x="-200046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2" name="任意多边形: 形状 21">
                <a:extLst>
                  <a:ext uri="{FF2B5EF4-FFF2-40B4-BE49-F238E27FC236}">
                    <a16:creationId xmlns:a16="http://schemas.microsoft.com/office/drawing/2014/main" id="{42DF3D89-091E-404E-96C0-86FBCD939B82}"/>
                  </a:ext>
                </a:extLst>
              </p:cNvPr>
              <p:cNvSpPr/>
              <p:nvPr/>
            </p:nvSpPr>
            <p:spPr>
              <a:xfrm>
                <a:off x="-242329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3" name="任意多边形: 形状 22">
                <a:extLst>
                  <a:ext uri="{FF2B5EF4-FFF2-40B4-BE49-F238E27FC236}">
                    <a16:creationId xmlns:a16="http://schemas.microsoft.com/office/drawing/2014/main" id="{19DA00A6-17DC-4FE9-926E-2F46CF5E082E}"/>
                  </a:ext>
                </a:extLst>
              </p:cNvPr>
              <p:cNvSpPr/>
              <p:nvPr/>
            </p:nvSpPr>
            <p:spPr>
              <a:xfrm>
                <a:off x="-284613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 name="任意多边形: 形状 23">
                <a:extLst>
                  <a:ext uri="{FF2B5EF4-FFF2-40B4-BE49-F238E27FC236}">
                    <a16:creationId xmlns:a16="http://schemas.microsoft.com/office/drawing/2014/main" id="{77293C95-BC7E-418F-89F8-A2660EECFA7C}"/>
                  </a:ext>
                </a:extLst>
              </p:cNvPr>
              <p:cNvSpPr/>
              <p:nvPr/>
            </p:nvSpPr>
            <p:spPr>
              <a:xfrm>
                <a:off x="-326896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任意多边形: 形状 24">
                <a:extLst>
                  <a:ext uri="{FF2B5EF4-FFF2-40B4-BE49-F238E27FC236}">
                    <a16:creationId xmlns:a16="http://schemas.microsoft.com/office/drawing/2014/main" id="{363CDF01-EF88-4B3B-91EC-F394E77C012A}"/>
                  </a:ext>
                </a:extLst>
              </p:cNvPr>
              <p:cNvSpPr/>
              <p:nvPr/>
            </p:nvSpPr>
            <p:spPr>
              <a:xfrm>
                <a:off x="-369180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6" name="任意多边形: 形状 25">
                <a:extLst>
                  <a:ext uri="{FF2B5EF4-FFF2-40B4-BE49-F238E27FC236}">
                    <a16:creationId xmlns:a16="http://schemas.microsoft.com/office/drawing/2014/main" id="{E7BBA8D8-949F-4FA2-8EE0-2086BFE88228}"/>
                  </a:ext>
                </a:extLst>
              </p:cNvPr>
              <p:cNvSpPr/>
              <p:nvPr/>
            </p:nvSpPr>
            <p:spPr>
              <a:xfrm>
                <a:off x="-411464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7" name="任意多边形: 形状 26">
                <a:extLst>
                  <a:ext uri="{FF2B5EF4-FFF2-40B4-BE49-F238E27FC236}">
                    <a16:creationId xmlns:a16="http://schemas.microsoft.com/office/drawing/2014/main" id="{E83A8FDC-A762-4D66-B97D-DB263B139C70}"/>
                  </a:ext>
                </a:extLst>
              </p:cNvPr>
              <p:cNvSpPr/>
              <p:nvPr/>
            </p:nvSpPr>
            <p:spPr>
              <a:xfrm>
                <a:off x="-4537476"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8" name="任意多边形: 形状 27">
                <a:extLst>
                  <a:ext uri="{FF2B5EF4-FFF2-40B4-BE49-F238E27FC236}">
                    <a16:creationId xmlns:a16="http://schemas.microsoft.com/office/drawing/2014/main" id="{441319D0-3BF2-49FA-B802-279400E431D3}"/>
                  </a:ext>
                </a:extLst>
              </p:cNvPr>
              <p:cNvSpPr/>
              <p:nvPr/>
            </p:nvSpPr>
            <p:spPr>
              <a:xfrm>
                <a:off x="-496031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任意多边形: 形状 28">
                <a:extLst>
                  <a:ext uri="{FF2B5EF4-FFF2-40B4-BE49-F238E27FC236}">
                    <a16:creationId xmlns:a16="http://schemas.microsoft.com/office/drawing/2014/main" id="{74B4DF40-ADCA-4C8E-93DC-454461DCBA6F}"/>
                  </a:ext>
                </a:extLst>
              </p:cNvPr>
              <p:cNvSpPr/>
              <p:nvPr/>
            </p:nvSpPr>
            <p:spPr>
              <a:xfrm>
                <a:off x="-538314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0" name="任意多边形: 形状 29">
                <a:extLst>
                  <a:ext uri="{FF2B5EF4-FFF2-40B4-BE49-F238E27FC236}">
                    <a16:creationId xmlns:a16="http://schemas.microsoft.com/office/drawing/2014/main" id="{FACF7D4B-6B86-447B-8570-736974D14D24}"/>
                  </a:ext>
                </a:extLst>
              </p:cNvPr>
              <p:cNvSpPr/>
              <p:nvPr/>
            </p:nvSpPr>
            <p:spPr>
              <a:xfrm>
                <a:off x="-580598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1" name="任意多边形: 形状 30">
                <a:extLst>
                  <a:ext uri="{FF2B5EF4-FFF2-40B4-BE49-F238E27FC236}">
                    <a16:creationId xmlns:a16="http://schemas.microsoft.com/office/drawing/2014/main" id="{4DACF3AB-567C-4481-A2B8-B00C56ED4B6D}"/>
                  </a:ext>
                </a:extLst>
              </p:cNvPr>
              <p:cNvSpPr/>
              <p:nvPr/>
            </p:nvSpPr>
            <p:spPr>
              <a:xfrm>
                <a:off x="-622881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2" name="任意多边形: 形状 31">
                <a:extLst>
                  <a:ext uri="{FF2B5EF4-FFF2-40B4-BE49-F238E27FC236}">
                    <a16:creationId xmlns:a16="http://schemas.microsoft.com/office/drawing/2014/main" id="{6D16A71F-6E77-4BA1-9486-FF79B1BF7749}"/>
                  </a:ext>
                </a:extLst>
              </p:cNvPr>
              <p:cNvSpPr/>
              <p:nvPr/>
            </p:nvSpPr>
            <p:spPr>
              <a:xfrm>
                <a:off x="-665165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3" name="任意多边形: 形状 32">
                <a:extLst>
                  <a:ext uri="{FF2B5EF4-FFF2-40B4-BE49-F238E27FC236}">
                    <a16:creationId xmlns:a16="http://schemas.microsoft.com/office/drawing/2014/main" id="{03F6AA43-D276-4829-8387-917A9388E6FA}"/>
                  </a:ext>
                </a:extLst>
              </p:cNvPr>
              <p:cNvSpPr/>
              <p:nvPr/>
            </p:nvSpPr>
            <p:spPr>
              <a:xfrm>
                <a:off x="-707449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sp>
        <p:nvSpPr>
          <p:cNvPr id="57" name="图片占位符 48">
            <a:extLst>
              <a:ext uri="{FF2B5EF4-FFF2-40B4-BE49-F238E27FC236}">
                <a16:creationId xmlns:a16="http://schemas.microsoft.com/office/drawing/2014/main" id="{CC5BA675-0B7D-4AFC-9839-FB00FD7C1F99}"/>
              </a:ext>
            </a:extLst>
          </p:cNvPr>
          <p:cNvSpPr>
            <a:spLocks noGrp="1"/>
          </p:cNvSpPr>
          <p:nvPr>
            <p:ph type="pic" sz="quarter" idx="11"/>
          </p:nvPr>
        </p:nvSpPr>
        <p:spPr>
          <a:xfrm>
            <a:off x="986581" y="4049827"/>
            <a:ext cx="1135674" cy="1141728"/>
          </a:xfrm>
          <a:prstGeom prst="rect">
            <a:avLst/>
          </a:prstGeom>
          <a:effectLst>
            <a:outerShdw blurRad="254000" dist="165100" dir="2700000" algn="ctr" rotWithShape="0">
              <a:prstClr val="black">
                <a:alpha val="40000"/>
              </a:prstClr>
            </a:outerShdw>
          </a:effectLst>
        </p:spPr>
        <p:txBody>
          <a:bodyPr/>
          <a:lstStyle/>
          <a:p>
            <a:endParaRPr lang="zh-CN" altLang="en-US"/>
          </a:p>
        </p:txBody>
      </p:sp>
      <p:sp>
        <p:nvSpPr>
          <p:cNvPr id="56" name="图片占位符 48">
            <a:extLst>
              <a:ext uri="{FF2B5EF4-FFF2-40B4-BE49-F238E27FC236}">
                <a16:creationId xmlns:a16="http://schemas.microsoft.com/office/drawing/2014/main" id="{9F5241EE-9AAC-4674-91D6-FA49B3FAEED5}"/>
              </a:ext>
            </a:extLst>
          </p:cNvPr>
          <p:cNvSpPr>
            <a:spLocks noGrp="1"/>
          </p:cNvSpPr>
          <p:nvPr>
            <p:ph type="pic" sz="quarter" idx="10"/>
          </p:nvPr>
        </p:nvSpPr>
        <p:spPr>
          <a:xfrm>
            <a:off x="986581" y="2287272"/>
            <a:ext cx="1135674" cy="1141728"/>
          </a:xfrm>
          <a:prstGeom prst="rect">
            <a:avLst/>
          </a:prstGeom>
          <a:effectLst>
            <a:outerShdw blurRad="254000" dist="165100" dir="2700000" algn="ctr" rotWithShape="0">
              <a:prstClr val="black">
                <a:alpha val="40000"/>
              </a:prstClr>
            </a:outerShdw>
          </a:effectLst>
        </p:spPr>
        <p:txBody>
          <a:bodyPr/>
          <a:lstStyle/>
          <a:p>
            <a:endParaRPr lang="zh-CN" altLang="en-US"/>
          </a:p>
        </p:txBody>
      </p:sp>
      <p:sp>
        <p:nvSpPr>
          <p:cNvPr id="3" name="矩形 2">
            <a:extLst>
              <a:ext uri="{FF2B5EF4-FFF2-40B4-BE49-F238E27FC236}">
                <a16:creationId xmlns:a16="http://schemas.microsoft.com/office/drawing/2014/main" id="{87DAC824-7C65-441B-99D5-C731C1F58132}"/>
              </a:ext>
            </a:extLst>
          </p:cNvPr>
          <p:cNvSpPr/>
          <p:nvPr userDrawn="1"/>
        </p:nvSpPr>
        <p:spPr>
          <a:xfrm>
            <a:off x="-343825" y="714810"/>
            <a:ext cx="1523999" cy="6611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3F1F2C90-BB39-4679-BD71-4C4882CD3DB8}"/>
              </a:ext>
            </a:extLst>
          </p:cNvPr>
          <p:cNvSpPr/>
          <p:nvPr userDrawn="1"/>
        </p:nvSpPr>
        <p:spPr>
          <a:xfrm>
            <a:off x="0" y="669759"/>
            <a:ext cx="540544" cy="9010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标题 9">
            <a:extLst>
              <a:ext uri="{FF2B5EF4-FFF2-40B4-BE49-F238E27FC236}">
                <a16:creationId xmlns:a16="http://schemas.microsoft.com/office/drawing/2014/main" id="{9431C9C2-F156-43EC-AD34-1B24C9288776}"/>
              </a:ext>
            </a:extLst>
          </p:cNvPr>
          <p:cNvSpPr>
            <a:spLocks noGrp="1"/>
          </p:cNvSpPr>
          <p:nvPr>
            <p:ph type="title" hasCustomPrompt="1"/>
          </p:nvPr>
        </p:nvSpPr>
        <p:spPr>
          <a:xfrm>
            <a:off x="597866" y="495734"/>
            <a:ext cx="2141933" cy="880241"/>
          </a:xfrm>
          <a:prstGeom prst="rect">
            <a:avLst/>
          </a:prstGeom>
        </p:spPr>
        <p:txBody>
          <a:bodyPr wrap="none">
            <a:spAutoFit/>
          </a:bodyPr>
          <a:lstStyle>
            <a:lvl1pPr>
              <a:lnSpc>
                <a:spcPct val="60000"/>
              </a:lnSpc>
              <a:defRPr lang="zh-CN" altLang="en-US" sz="3200" b="1">
                <a:solidFill>
                  <a:schemeClr val="tx1">
                    <a:lumMod val="75000"/>
                    <a:lumOff val="25000"/>
                  </a:schemeClr>
                </a:solidFill>
                <a:latin typeface="+mn-lt"/>
                <a:ea typeface="+mn-ea"/>
                <a:cs typeface="+mn-cs"/>
              </a:defRPr>
            </a:lvl1pPr>
          </a:lstStyle>
          <a:p>
            <a:pPr marL="0" lvl="0" defTabSz="457200">
              <a:lnSpc>
                <a:spcPct val="80000"/>
              </a:lnSpc>
            </a:pPr>
            <a:r>
              <a:rPr lang="en-US" altLang="zh-CN" dirty="0"/>
              <a:t>Results</a:t>
            </a:r>
            <a:br>
              <a:rPr lang="en-US" altLang="zh-CN" dirty="0"/>
            </a:br>
            <a:r>
              <a:rPr lang="en-US" altLang="zh-CN" dirty="0"/>
              <a:t>showcase</a:t>
            </a:r>
            <a:endParaRPr lang="zh-CN" altLang="en-US" dirty="0"/>
          </a:p>
        </p:txBody>
      </p:sp>
      <p:sp>
        <p:nvSpPr>
          <p:cNvPr id="2" name="灯片编号占位符 1"/>
          <p:cNvSpPr>
            <a:spLocks noGrp="1"/>
          </p:cNvSpPr>
          <p:nvPr>
            <p:ph type="sldNum" sz="quarter" idx="12"/>
          </p:nvPr>
        </p:nvSpPr>
        <p:spPr/>
        <p:txBody>
          <a:bodyPr/>
          <a:lstStyle/>
          <a:p>
            <a:fld id="{3A7104C2-2265-4AB9-B90C-4162FA6B94AE}" type="slidenum">
              <a:rPr lang="zh-CN" altLang="en-US" smtClean="0"/>
              <a:pPr/>
              <a:t>‹#›</a:t>
            </a:fld>
            <a:endParaRPr lang="zh-CN" altLang="en-US" dirty="0"/>
          </a:p>
        </p:txBody>
      </p:sp>
    </p:spTree>
    <p:extLst>
      <p:ext uri="{BB962C8B-B14F-4D97-AF65-F5344CB8AC3E}">
        <p14:creationId xmlns:p14="http://schemas.microsoft.com/office/powerpoint/2010/main" val="2206045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AC54031-53F7-4FCB-BAC3-9F9FF142C1FE}"/>
              </a:ext>
            </a:extLst>
          </p:cNvPr>
          <p:cNvGrpSpPr/>
          <p:nvPr userDrawn="1"/>
        </p:nvGrpSpPr>
        <p:grpSpPr>
          <a:xfrm>
            <a:off x="-6579190" y="-442650"/>
            <a:ext cx="24301094" cy="7743300"/>
            <a:chOff x="-6579190" y="-442650"/>
            <a:chExt cx="24301094" cy="7743300"/>
          </a:xfrm>
        </p:grpSpPr>
        <p:grpSp>
          <p:nvGrpSpPr>
            <p:cNvPr id="4" name="组合 3">
              <a:extLst>
                <a:ext uri="{FF2B5EF4-FFF2-40B4-BE49-F238E27FC236}">
                  <a16:creationId xmlns:a16="http://schemas.microsoft.com/office/drawing/2014/main" id="{9DEC2031-697F-4FC3-A305-F23D9F427E22}"/>
                </a:ext>
              </a:extLst>
            </p:cNvPr>
            <p:cNvGrpSpPr/>
            <p:nvPr userDrawn="1"/>
          </p:nvGrpSpPr>
          <p:grpSpPr>
            <a:xfrm>
              <a:off x="-6579190" y="-442650"/>
              <a:ext cx="15844379" cy="7743300"/>
              <a:chOff x="-7074490" y="-442650"/>
              <a:chExt cx="15844379" cy="7743300"/>
            </a:xfrm>
          </p:grpSpPr>
          <p:sp>
            <p:nvSpPr>
              <p:cNvPr id="26" name="任意多边形: 形状 25">
                <a:extLst>
                  <a:ext uri="{FF2B5EF4-FFF2-40B4-BE49-F238E27FC236}">
                    <a16:creationId xmlns:a16="http://schemas.microsoft.com/office/drawing/2014/main" id="{E785A916-F827-40A8-BAEA-7EF19491D90A}"/>
                  </a:ext>
                </a:extLst>
              </p:cNvPr>
              <p:cNvSpPr/>
              <p:nvPr/>
            </p:nvSpPr>
            <p:spPr>
              <a:xfrm>
                <a:off x="959389"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7" name="任意多边形: 形状 26">
                <a:extLst>
                  <a:ext uri="{FF2B5EF4-FFF2-40B4-BE49-F238E27FC236}">
                    <a16:creationId xmlns:a16="http://schemas.microsoft.com/office/drawing/2014/main" id="{4E8F475A-EFA8-4EF5-AED7-8B2FA10CE03A}"/>
                  </a:ext>
                </a:extLst>
              </p:cNvPr>
              <p:cNvSpPr/>
              <p:nvPr/>
            </p:nvSpPr>
            <p:spPr>
              <a:xfrm>
                <a:off x="536553"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8" name="任意多边形: 形状 27">
                <a:extLst>
                  <a:ext uri="{FF2B5EF4-FFF2-40B4-BE49-F238E27FC236}">
                    <a16:creationId xmlns:a16="http://schemas.microsoft.com/office/drawing/2014/main" id="{DDD1D66E-F9D2-425F-A560-4B6071C7632F}"/>
                  </a:ext>
                </a:extLst>
              </p:cNvPr>
              <p:cNvSpPr/>
              <p:nvPr/>
            </p:nvSpPr>
            <p:spPr>
              <a:xfrm>
                <a:off x="1137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9" name="任意多边形: 形状 28">
                <a:extLst>
                  <a:ext uri="{FF2B5EF4-FFF2-40B4-BE49-F238E27FC236}">
                    <a16:creationId xmlns:a16="http://schemas.microsoft.com/office/drawing/2014/main" id="{7DB99707-B56F-4597-9E81-5C9D5ABB9BD8}"/>
                  </a:ext>
                </a:extLst>
              </p:cNvPr>
              <p:cNvSpPr/>
              <p:nvPr/>
            </p:nvSpPr>
            <p:spPr>
              <a:xfrm>
                <a:off x="-3091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0" name="任意多边形: 形状 29">
                <a:extLst>
                  <a:ext uri="{FF2B5EF4-FFF2-40B4-BE49-F238E27FC236}">
                    <a16:creationId xmlns:a16="http://schemas.microsoft.com/office/drawing/2014/main" id="{5F98B36C-2325-4305-A1A2-CCA9515A8774}"/>
                  </a:ext>
                </a:extLst>
              </p:cNvPr>
              <p:cNvSpPr/>
              <p:nvPr/>
            </p:nvSpPr>
            <p:spPr>
              <a:xfrm>
                <a:off x="-731954"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1" name="任意多边形: 形状 30">
                <a:extLst>
                  <a:ext uri="{FF2B5EF4-FFF2-40B4-BE49-F238E27FC236}">
                    <a16:creationId xmlns:a16="http://schemas.microsoft.com/office/drawing/2014/main" id="{9572B3E7-6F24-46EB-8A73-1DC43F0F0C3F}"/>
                  </a:ext>
                </a:extLst>
              </p:cNvPr>
              <p:cNvSpPr/>
              <p:nvPr/>
            </p:nvSpPr>
            <p:spPr>
              <a:xfrm>
                <a:off x="-1154790"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2" name="任意多边形: 形状 31">
                <a:extLst>
                  <a:ext uri="{FF2B5EF4-FFF2-40B4-BE49-F238E27FC236}">
                    <a16:creationId xmlns:a16="http://schemas.microsoft.com/office/drawing/2014/main" id="{437E5B0C-B213-43D9-A7DE-5F6F93D638AD}"/>
                  </a:ext>
                </a:extLst>
              </p:cNvPr>
              <p:cNvSpPr/>
              <p:nvPr/>
            </p:nvSpPr>
            <p:spPr>
              <a:xfrm>
                <a:off x="-1577625"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3" name="任意多边形: 形状 32">
                <a:extLst>
                  <a:ext uri="{FF2B5EF4-FFF2-40B4-BE49-F238E27FC236}">
                    <a16:creationId xmlns:a16="http://schemas.microsoft.com/office/drawing/2014/main" id="{3D8B1207-4688-4E7E-9E69-EC4B186E7160}"/>
                  </a:ext>
                </a:extLst>
              </p:cNvPr>
              <p:cNvSpPr/>
              <p:nvPr/>
            </p:nvSpPr>
            <p:spPr>
              <a:xfrm>
                <a:off x="-200046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4" name="任意多边形: 形状 33">
                <a:extLst>
                  <a:ext uri="{FF2B5EF4-FFF2-40B4-BE49-F238E27FC236}">
                    <a16:creationId xmlns:a16="http://schemas.microsoft.com/office/drawing/2014/main" id="{7A075CFC-8E2B-44DB-B6DB-B1203D980D6D}"/>
                  </a:ext>
                </a:extLst>
              </p:cNvPr>
              <p:cNvSpPr/>
              <p:nvPr/>
            </p:nvSpPr>
            <p:spPr>
              <a:xfrm>
                <a:off x="-242329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5" name="任意多边形: 形状 34">
                <a:extLst>
                  <a:ext uri="{FF2B5EF4-FFF2-40B4-BE49-F238E27FC236}">
                    <a16:creationId xmlns:a16="http://schemas.microsoft.com/office/drawing/2014/main" id="{905D2130-A01C-437E-B614-314C3E0542C3}"/>
                  </a:ext>
                </a:extLst>
              </p:cNvPr>
              <p:cNvSpPr/>
              <p:nvPr/>
            </p:nvSpPr>
            <p:spPr>
              <a:xfrm>
                <a:off x="-284613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6" name="任意多边形: 形状 35">
                <a:extLst>
                  <a:ext uri="{FF2B5EF4-FFF2-40B4-BE49-F238E27FC236}">
                    <a16:creationId xmlns:a16="http://schemas.microsoft.com/office/drawing/2014/main" id="{DFA0EEB1-1B64-4325-B9A4-086EF0526E60}"/>
                  </a:ext>
                </a:extLst>
              </p:cNvPr>
              <p:cNvSpPr/>
              <p:nvPr/>
            </p:nvSpPr>
            <p:spPr>
              <a:xfrm>
                <a:off x="-326896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7" name="任意多边形: 形状 36">
                <a:extLst>
                  <a:ext uri="{FF2B5EF4-FFF2-40B4-BE49-F238E27FC236}">
                    <a16:creationId xmlns:a16="http://schemas.microsoft.com/office/drawing/2014/main" id="{04C3F908-B94D-4113-8A49-517D1884A827}"/>
                  </a:ext>
                </a:extLst>
              </p:cNvPr>
              <p:cNvSpPr/>
              <p:nvPr/>
            </p:nvSpPr>
            <p:spPr>
              <a:xfrm>
                <a:off x="-369180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8" name="任意多边形: 形状 37">
                <a:extLst>
                  <a:ext uri="{FF2B5EF4-FFF2-40B4-BE49-F238E27FC236}">
                    <a16:creationId xmlns:a16="http://schemas.microsoft.com/office/drawing/2014/main" id="{BE52DF38-884C-4259-80C6-699E6AFF3989}"/>
                  </a:ext>
                </a:extLst>
              </p:cNvPr>
              <p:cNvSpPr/>
              <p:nvPr/>
            </p:nvSpPr>
            <p:spPr>
              <a:xfrm>
                <a:off x="-411464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39" name="任意多边形: 形状 38">
                <a:extLst>
                  <a:ext uri="{FF2B5EF4-FFF2-40B4-BE49-F238E27FC236}">
                    <a16:creationId xmlns:a16="http://schemas.microsoft.com/office/drawing/2014/main" id="{E428CB5B-BA91-46C1-A4D8-B0873B4ECCED}"/>
                  </a:ext>
                </a:extLst>
              </p:cNvPr>
              <p:cNvSpPr/>
              <p:nvPr/>
            </p:nvSpPr>
            <p:spPr>
              <a:xfrm>
                <a:off x="-4537476"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0" name="任意多边形: 形状 39">
                <a:extLst>
                  <a:ext uri="{FF2B5EF4-FFF2-40B4-BE49-F238E27FC236}">
                    <a16:creationId xmlns:a16="http://schemas.microsoft.com/office/drawing/2014/main" id="{AFABEB89-A573-4726-9C40-42352365099E}"/>
                  </a:ext>
                </a:extLst>
              </p:cNvPr>
              <p:cNvSpPr/>
              <p:nvPr/>
            </p:nvSpPr>
            <p:spPr>
              <a:xfrm>
                <a:off x="-496031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1" name="任意多边形: 形状 40">
                <a:extLst>
                  <a:ext uri="{FF2B5EF4-FFF2-40B4-BE49-F238E27FC236}">
                    <a16:creationId xmlns:a16="http://schemas.microsoft.com/office/drawing/2014/main" id="{255C5C97-DB6C-4377-99D5-AEEDCED379C8}"/>
                  </a:ext>
                </a:extLst>
              </p:cNvPr>
              <p:cNvSpPr/>
              <p:nvPr/>
            </p:nvSpPr>
            <p:spPr>
              <a:xfrm>
                <a:off x="-538314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2" name="任意多边形: 形状 41">
                <a:extLst>
                  <a:ext uri="{FF2B5EF4-FFF2-40B4-BE49-F238E27FC236}">
                    <a16:creationId xmlns:a16="http://schemas.microsoft.com/office/drawing/2014/main" id="{541C5CEB-640E-4F04-A22F-AC71C898BEEF}"/>
                  </a:ext>
                </a:extLst>
              </p:cNvPr>
              <p:cNvSpPr/>
              <p:nvPr/>
            </p:nvSpPr>
            <p:spPr>
              <a:xfrm>
                <a:off x="-580598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3" name="任意多边形: 形状 42">
                <a:extLst>
                  <a:ext uri="{FF2B5EF4-FFF2-40B4-BE49-F238E27FC236}">
                    <a16:creationId xmlns:a16="http://schemas.microsoft.com/office/drawing/2014/main" id="{0FB94160-C62F-41C5-B8B6-F545CF9397B7}"/>
                  </a:ext>
                </a:extLst>
              </p:cNvPr>
              <p:cNvSpPr/>
              <p:nvPr/>
            </p:nvSpPr>
            <p:spPr>
              <a:xfrm>
                <a:off x="-622881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4" name="任意多边形: 形状 43">
                <a:extLst>
                  <a:ext uri="{FF2B5EF4-FFF2-40B4-BE49-F238E27FC236}">
                    <a16:creationId xmlns:a16="http://schemas.microsoft.com/office/drawing/2014/main" id="{9CAB1BF6-5E20-4CF7-86A0-5F07431C0190}"/>
                  </a:ext>
                </a:extLst>
              </p:cNvPr>
              <p:cNvSpPr/>
              <p:nvPr/>
            </p:nvSpPr>
            <p:spPr>
              <a:xfrm>
                <a:off x="-665165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45" name="任意多边形: 形状 44">
                <a:extLst>
                  <a:ext uri="{FF2B5EF4-FFF2-40B4-BE49-F238E27FC236}">
                    <a16:creationId xmlns:a16="http://schemas.microsoft.com/office/drawing/2014/main" id="{B907A02D-1CEE-40E3-B398-663949B6D5A8}"/>
                  </a:ext>
                </a:extLst>
              </p:cNvPr>
              <p:cNvSpPr/>
              <p:nvPr/>
            </p:nvSpPr>
            <p:spPr>
              <a:xfrm>
                <a:off x="-707449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nvGrpSpPr>
            <p:cNvPr id="5" name="组合 4">
              <a:extLst>
                <a:ext uri="{FF2B5EF4-FFF2-40B4-BE49-F238E27FC236}">
                  <a16:creationId xmlns:a16="http://schemas.microsoft.com/office/drawing/2014/main" id="{5EA02C62-4589-46C9-B3A5-B1D0159166F9}"/>
                </a:ext>
              </a:extLst>
            </p:cNvPr>
            <p:cNvGrpSpPr/>
            <p:nvPr userDrawn="1"/>
          </p:nvGrpSpPr>
          <p:grpSpPr>
            <a:xfrm>
              <a:off x="1877525" y="-442650"/>
              <a:ext cx="15844379" cy="7743300"/>
              <a:chOff x="-7074490" y="-442650"/>
              <a:chExt cx="15844379" cy="7743300"/>
            </a:xfrm>
          </p:grpSpPr>
          <p:sp>
            <p:nvSpPr>
              <p:cNvPr id="6" name="任意多边形: 形状 5">
                <a:extLst>
                  <a:ext uri="{FF2B5EF4-FFF2-40B4-BE49-F238E27FC236}">
                    <a16:creationId xmlns:a16="http://schemas.microsoft.com/office/drawing/2014/main" id="{6C6E6CA9-ED8E-489A-8EED-D6A22D412034}"/>
                  </a:ext>
                </a:extLst>
              </p:cNvPr>
              <p:cNvSpPr/>
              <p:nvPr/>
            </p:nvSpPr>
            <p:spPr>
              <a:xfrm>
                <a:off x="959389"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7" name="任意多边形: 形状 6">
                <a:extLst>
                  <a:ext uri="{FF2B5EF4-FFF2-40B4-BE49-F238E27FC236}">
                    <a16:creationId xmlns:a16="http://schemas.microsoft.com/office/drawing/2014/main" id="{9FFB0D85-AE7D-48F2-B7DD-25E2DFB94DDC}"/>
                  </a:ext>
                </a:extLst>
              </p:cNvPr>
              <p:cNvSpPr/>
              <p:nvPr/>
            </p:nvSpPr>
            <p:spPr>
              <a:xfrm>
                <a:off x="536553"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8" name="任意多边形: 形状 7">
                <a:extLst>
                  <a:ext uri="{FF2B5EF4-FFF2-40B4-BE49-F238E27FC236}">
                    <a16:creationId xmlns:a16="http://schemas.microsoft.com/office/drawing/2014/main" id="{0F35586A-7742-433C-8092-E888DB89F64C}"/>
                  </a:ext>
                </a:extLst>
              </p:cNvPr>
              <p:cNvSpPr/>
              <p:nvPr/>
            </p:nvSpPr>
            <p:spPr>
              <a:xfrm>
                <a:off x="1137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9" name="任意多边形: 形状 8">
                <a:extLst>
                  <a:ext uri="{FF2B5EF4-FFF2-40B4-BE49-F238E27FC236}">
                    <a16:creationId xmlns:a16="http://schemas.microsoft.com/office/drawing/2014/main" id="{D68C3128-EF7C-4996-BE74-E223DED5D41F}"/>
                  </a:ext>
                </a:extLst>
              </p:cNvPr>
              <p:cNvSpPr/>
              <p:nvPr/>
            </p:nvSpPr>
            <p:spPr>
              <a:xfrm>
                <a:off x="-309118"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0" name="任意多边形: 形状 9">
                <a:extLst>
                  <a:ext uri="{FF2B5EF4-FFF2-40B4-BE49-F238E27FC236}">
                    <a16:creationId xmlns:a16="http://schemas.microsoft.com/office/drawing/2014/main" id="{C629D100-2199-409B-B0CD-36BE5549E1FD}"/>
                  </a:ext>
                </a:extLst>
              </p:cNvPr>
              <p:cNvSpPr/>
              <p:nvPr/>
            </p:nvSpPr>
            <p:spPr>
              <a:xfrm>
                <a:off x="-731954"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1" name="任意多边形: 形状 10">
                <a:extLst>
                  <a:ext uri="{FF2B5EF4-FFF2-40B4-BE49-F238E27FC236}">
                    <a16:creationId xmlns:a16="http://schemas.microsoft.com/office/drawing/2014/main" id="{4561B015-D980-4F06-AF10-EB82BB796911}"/>
                  </a:ext>
                </a:extLst>
              </p:cNvPr>
              <p:cNvSpPr/>
              <p:nvPr/>
            </p:nvSpPr>
            <p:spPr>
              <a:xfrm>
                <a:off x="-1154790" y="-442650"/>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2" name="任意多边形: 形状 11">
                <a:extLst>
                  <a:ext uri="{FF2B5EF4-FFF2-40B4-BE49-F238E27FC236}">
                    <a16:creationId xmlns:a16="http://schemas.microsoft.com/office/drawing/2014/main" id="{54DCA097-B51F-4704-9272-071BD4944B03}"/>
                  </a:ext>
                </a:extLst>
              </p:cNvPr>
              <p:cNvSpPr/>
              <p:nvPr/>
            </p:nvSpPr>
            <p:spPr>
              <a:xfrm>
                <a:off x="-1577625"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3" name="任意多边形: 形状 12">
                <a:extLst>
                  <a:ext uri="{FF2B5EF4-FFF2-40B4-BE49-F238E27FC236}">
                    <a16:creationId xmlns:a16="http://schemas.microsoft.com/office/drawing/2014/main" id="{B19E3C64-07B2-478D-8827-20A6418C99D9}"/>
                  </a:ext>
                </a:extLst>
              </p:cNvPr>
              <p:cNvSpPr/>
              <p:nvPr/>
            </p:nvSpPr>
            <p:spPr>
              <a:xfrm>
                <a:off x="-200046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4" name="任意多边形: 形状 13">
                <a:extLst>
                  <a:ext uri="{FF2B5EF4-FFF2-40B4-BE49-F238E27FC236}">
                    <a16:creationId xmlns:a16="http://schemas.microsoft.com/office/drawing/2014/main" id="{FB362196-8390-485D-B3D4-3D4404DE3491}"/>
                  </a:ext>
                </a:extLst>
              </p:cNvPr>
              <p:cNvSpPr/>
              <p:nvPr/>
            </p:nvSpPr>
            <p:spPr>
              <a:xfrm>
                <a:off x="-242329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5" name="任意多边形: 形状 14">
                <a:extLst>
                  <a:ext uri="{FF2B5EF4-FFF2-40B4-BE49-F238E27FC236}">
                    <a16:creationId xmlns:a16="http://schemas.microsoft.com/office/drawing/2014/main" id="{C720188D-7BDD-4994-9376-B244528FC082}"/>
                  </a:ext>
                </a:extLst>
              </p:cNvPr>
              <p:cNvSpPr/>
              <p:nvPr/>
            </p:nvSpPr>
            <p:spPr>
              <a:xfrm>
                <a:off x="-284613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6" name="任意多边形: 形状 15">
                <a:extLst>
                  <a:ext uri="{FF2B5EF4-FFF2-40B4-BE49-F238E27FC236}">
                    <a16:creationId xmlns:a16="http://schemas.microsoft.com/office/drawing/2014/main" id="{BF34B77E-F9C8-4A77-AB5B-22153B1B1FC4}"/>
                  </a:ext>
                </a:extLst>
              </p:cNvPr>
              <p:cNvSpPr/>
              <p:nvPr/>
            </p:nvSpPr>
            <p:spPr>
              <a:xfrm>
                <a:off x="-326896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7" name="任意多边形: 形状 16">
                <a:extLst>
                  <a:ext uri="{FF2B5EF4-FFF2-40B4-BE49-F238E27FC236}">
                    <a16:creationId xmlns:a16="http://schemas.microsoft.com/office/drawing/2014/main" id="{C06A1437-9BCC-46E5-902A-149BDEBB26B8}"/>
                  </a:ext>
                </a:extLst>
              </p:cNvPr>
              <p:cNvSpPr/>
              <p:nvPr/>
            </p:nvSpPr>
            <p:spPr>
              <a:xfrm>
                <a:off x="-369180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8" name="任意多边形: 形状 17">
                <a:extLst>
                  <a:ext uri="{FF2B5EF4-FFF2-40B4-BE49-F238E27FC236}">
                    <a16:creationId xmlns:a16="http://schemas.microsoft.com/office/drawing/2014/main" id="{74D665F4-E88D-44B7-B7AF-7E525B2D3073}"/>
                  </a:ext>
                </a:extLst>
              </p:cNvPr>
              <p:cNvSpPr/>
              <p:nvPr/>
            </p:nvSpPr>
            <p:spPr>
              <a:xfrm>
                <a:off x="-411464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19" name="任意多边形: 形状 18">
                <a:extLst>
                  <a:ext uri="{FF2B5EF4-FFF2-40B4-BE49-F238E27FC236}">
                    <a16:creationId xmlns:a16="http://schemas.microsoft.com/office/drawing/2014/main" id="{9CC52C29-F910-4EC7-8FFA-717F478CD285}"/>
                  </a:ext>
                </a:extLst>
              </p:cNvPr>
              <p:cNvSpPr/>
              <p:nvPr/>
            </p:nvSpPr>
            <p:spPr>
              <a:xfrm>
                <a:off x="-4537476"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0" name="任意多边形: 形状 19">
                <a:extLst>
                  <a:ext uri="{FF2B5EF4-FFF2-40B4-BE49-F238E27FC236}">
                    <a16:creationId xmlns:a16="http://schemas.microsoft.com/office/drawing/2014/main" id="{0597B025-BD04-4504-BCCA-9F857E80ABFE}"/>
                  </a:ext>
                </a:extLst>
              </p:cNvPr>
              <p:cNvSpPr/>
              <p:nvPr/>
            </p:nvSpPr>
            <p:spPr>
              <a:xfrm>
                <a:off x="-4960311"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1" name="任意多边形: 形状 20">
                <a:extLst>
                  <a:ext uri="{FF2B5EF4-FFF2-40B4-BE49-F238E27FC236}">
                    <a16:creationId xmlns:a16="http://schemas.microsoft.com/office/drawing/2014/main" id="{C3C042CA-9CA7-4F1D-BBB8-BE4081957DD7}"/>
                  </a:ext>
                </a:extLst>
              </p:cNvPr>
              <p:cNvSpPr/>
              <p:nvPr/>
            </p:nvSpPr>
            <p:spPr>
              <a:xfrm>
                <a:off x="-5383147"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2" name="任意多边形: 形状 21">
                <a:extLst>
                  <a:ext uri="{FF2B5EF4-FFF2-40B4-BE49-F238E27FC236}">
                    <a16:creationId xmlns:a16="http://schemas.microsoft.com/office/drawing/2014/main" id="{3A83D821-84C0-467B-9AB8-51B3FB601008}"/>
                  </a:ext>
                </a:extLst>
              </p:cNvPr>
              <p:cNvSpPr/>
              <p:nvPr/>
            </p:nvSpPr>
            <p:spPr>
              <a:xfrm>
                <a:off x="-5805983"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3" name="任意多边形: 形状 22">
                <a:extLst>
                  <a:ext uri="{FF2B5EF4-FFF2-40B4-BE49-F238E27FC236}">
                    <a16:creationId xmlns:a16="http://schemas.microsoft.com/office/drawing/2014/main" id="{947EB07F-1ADE-40FE-B612-0215E6B9CC12}"/>
                  </a:ext>
                </a:extLst>
              </p:cNvPr>
              <p:cNvSpPr/>
              <p:nvPr/>
            </p:nvSpPr>
            <p:spPr>
              <a:xfrm>
                <a:off x="-6228818"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4" name="任意多边形: 形状 23">
                <a:extLst>
                  <a:ext uri="{FF2B5EF4-FFF2-40B4-BE49-F238E27FC236}">
                    <a16:creationId xmlns:a16="http://schemas.microsoft.com/office/drawing/2014/main" id="{5ACD9DD5-1A6F-4909-A5AF-90886292C095}"/>
                  </a:ext>
                </a:extLst>
              </p:cNvPr>
              <p:cNvSpPr/>
              <p:nvPr/>
            </p:nvSpPr>
            <p:spPr>
              <a:xfrm>
                <a:off x="-6651654"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sp>
            <p:nvSpPr>
              <p:cNvPr id="25" name="任意多边形: 形状 24">
                <a:extLst>
                  <a:ext uri="{FF2B5EF4-FFF2-40B4-BE49-F238E27FC236}">
                    <a16:creationId xmlns:a16="http://schemas.microsoft.com/office/drawing/2014/main" id="{05949B83-7B3F-4583-A619-4F2C5257E098}"/>
                  </a:ext>
                </a:extLst>
              </p:cNvPr>
              <p:cNvSpPr/>
              <p:nvPr/>
            </p:nvSpPr>
            <p:spPr>
              <a:xfrm>
                <a:off x="-7074490" y="-442649"/>
                <a:ext cx="7810500" cy="7743299"/>
              </a:xfrm>
              <a:custGeom>
                <a:avLst/>
                <a:gdLst>
                  <a:gd name="connsiteX0" fmla="*/ 0 w 7810500"/>
                  <a:gd name="connsiteY0" fmla="*/ 175533 h 6976383"/>
                  <a:gd name="connsiteX1" fmla="*/ 2533650 w 7810500"/>
                  <a:gd name="connsiteY1" fmla="*/ 594633 h 6976383"/>
                  <a:gd name="connsiteX2" fmla="*/ 4991100 w 7810500"/>
                  <a:gd name="connsiteY2" fmla="*/ 5071383 h 6976383"/>
                  <a:gd name="connsiteX3" fmla="*/ 7810500 w 7810500"/>
                  <a:gd name="connsiteY3" fmla="*/ 6976383 h 6976383"/>
                </a:gdLst>
                <a:ahLst/>
                <a:cxnLst>
                  <a:cxn ang="0">
                    <a:pos x="connsiteX0" y="connsiteY0"/>
                  </a:cxn>
                  <a:cxn ang="0">
                    <a:pos x="connsiteX1" y="connsiteY1"/>
                  </a:cxn>
                  <a:cxn ang="0">
                    <a:pos x="connsiteX2" y="connsiteY2"/>
                  </a:cxn>
                  <a:cxn ang="0">
                    <a:pos x="connsiteX3" y="connsiteY3"/>
                  </a:cxn>
                </a:cxnLst>
                <a:rect l="l" t="t" r="r" b="b"/>
                <a:pathLst>
                  <a:path w="7810500" h="6976383">
                    <a:moveTo>
                      <a:pt x="0" y="175533"/>
                    </a:moveTo>
                    <a:cubicBezTo>
                      <a:pt x="850900" y="-22905"/>
                      <a:pt x="1701800" y="-221342"/>
                      <a:pt x="2533650" y="594633"/>
                    </a:cubicBezTo>
                    <a:cubicBezTo>
                      <a:pt x="3365500" y="1410608"/>
                      <a:pt x="4111625" y="4007758"/>
                      <a:pt x="4991100" y="5071383"/>
                    </a:cubicBezTo>
                    <a:cubicBezTo>
                      <a:pt x="5870575" y="6135008"/>
                      <a:pt x="6840537" y="6555695"/>
                      <a:pt x="7810500" y="6976383"/>
                    </a:cubicBezTo>
                  </a:path>
                </a:pathLst>
              </a:custGeom>
              <a:noFill/>
              <a:ln w="12700" cap="flat" cmpd="sng" algn="ctr">
                <a:gradFill flip="none" rotWithShape="1">
                  <a:gsLst>
                    <a:gs pos="0">
                      <a:schemeClr val="bg1">
                        <a:lumMod val="85000"/>
                        <a:alpha val="20000"/>
                      </a:schemeClr>
                    </a:gs>
                    <a:gs pos="100000">
                      <a:schemeClr val="bg1">
                        <a:lumMod val="85000"/>
                        <a:alpha val="5000"/>
                      </a:schemeClr>
                    </a:gs>
                  </a:gsLst>
                  <a:path path="circle">
                    <a:fillToRect l="50000" t="50000" r="50000" b="50000"/>
                  </a:path>
                  <a:tileRect/>
                </a:gra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lumMod val="100000"/>
                    </a:schemeClr>
                  </a:solidFill>
                </a:endParaRPr>
              </a:p>
            </p:txBody>
          </p:sp>
        </p:grpSp>
      </p:grpSp>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46" name="灯片编号占位符 45"/>
          <p:cNvSpPr>
            <a:spLocks noGrp="1"/>
          </p:cNvSpPr>
          <p:nvPr>
            <p:ph type="sldNum" sz="quarter" idx="10"/>
          </p:nvPr>
        </p:nvSpPr>
        <p:spPr/>
        <p:txBody>
          <a:bodyPr/>
          <a:lstStyle/>
          <a:p>
            <a:fld id="{3A7104C2-2265-4AB9-B90C-4162FA6B94AE}" type="slidenum">
              <a:rPr lang="zh-CN" altLang="en-US" smtClean="0"/>
              <a:pPr/>
              <a:t>‹#›</a:t>
            </a:fld>
            <a:endParaRPr lang="zh-CN" altLang="en-US" dirty="0"/>
          </a:p>
        </p:txBody>
      </p:sp>
    </p:spTree>
    <p:extLst>
      <p:ext uri="{BB962C8B-B14F-4D97-AF65-F5344CB8AC3E}">
        <p14:creationId xmlns:p14="http://schemas.microsoft.com/office/powerpoint/2010/main" val="19437577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34000"/>
          </a:schemeClr>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11207579" y="6195712"/>
            <a:ext cx="749643" cy="378081"/>
          </a:xfrm>
          <a:prstGeom prst="rect">
            <a:avLst/>
          </a:prstGeom>
        </p:spPr>
        <p:txBody>
          <a:bodyPr vert="horz" lIns="91440" tIns="45720" rIns="91440" bIns="45720" rtlCol="0" anchor="ctr"/>
          <a:lstStyle>
            <a:lvl1pPr algn="r">
              <a:defRPr sz="2400">
                <a:solidFill>
                  <a:schemeClr val="tx1">
                    <a:tint val="75000"/>
                  </a:schemeClr>
                </a:solidFill>
              </a:defRPr>
            </a:lvl1pPr>
          </a:lstStyle>
          <a:p>
            <a:fld id="{3A7104C2-2265-4AB9-B90C-4162FA6B94AE}" type="slidenum">
              <a:rPr lang="zh-CN" altLang="en-US" smtClean="0"/>
              <a:pPr/>
              <a:t>‹#›</a:t>
            </a:fld>
            <a:endParaRPr lang="zh-CN" altLang="en-US" dirty="0"/>
          </a:p>
        </p:txBody>
      </p:sp>
    </p:spTree>
    <p:extLst>
      <p:ext uri="{BB962C8B-B14F-4D97-AF65-F5344CB8AC3E}">
        <p14:creationId xmlns:p14="http://schemas.microsoft.com/office/powerpoint/2010/main" val="2781837079"/>
      </p:ext>
    </p:extLst>
  </p:cSld>
  <p:clrMap bg1="lt1" tx1="dk1" bg2="lt2" tx2="dk2" accent1="accent1" accent2="accent2" accent3="accent3" accent4="accent4" accent5="accent5" accent6="accent6" hlink="hlink" folHlink="folHlink"/>
  <p:sldLayoutIdLst>
    <p:sldLayoutId id="2147483675" r:id="rId1"/>
    <p:sldLayoutId id="2147483687" r:id="rId2"/>
    <p:sldLayoutId id="214748368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png"/><Relationship Id="rId9"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5.xml"/><Relationship Id="rId16"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6.jpe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8.png"/><Relationship Id="rId7"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jpe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hyperlink" Target="https://github.com/XTxiatong/AttnMove" TargetMode="External"/><Relationship Id="rId4" Type="http://schemas.openxmlformats.org/officeDocument/2006/relationships/hyperlink" Target="https://xtxiatong.github.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2068747"/>
            <a:ext cx="12192000" cy="18666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566937" y="4451032"/>
            <a:ext cx="9234265" cy="1061829"/>
          </a:xfrm>
          <a:prstGeom prst="rect">
            <a:avLst/>
          </a:prstGeom>
        </p:spPr>
        <p:txBody>
          <a:bodyPr wrap="square">
            <a:spAutoFit/>
          </a:bodyPr>
          <a:lstStyle/>
          <a:p>
            <a:pPr algn="ctr">
              <a:lnSpc>
                <a:spcPts val="2600"/>
              </a:lnSpc>
            </a:pPr>
            <a:r>
              <a:rPr lang="en-GB" altLang="zh-CN" b="1" i="1" dirty="0">
                <a:effectLst/>
                <a:latin typeface="Arial" panose="020B0604020202020204" pitchFamily="34" charset="0"/>
              </a:rPr>
              <a:t>Tong Xia</a:t>
            </a:r>
            <a:r>
              <a:rPr lang="en-GB" altLang="zh-CN" b="0" i="1" dirty="0">
                <a:effectLst/>
                <a:latin typeface="Arial" panose="020B0604020202020204" pitchFamily="34" charset="0"/>
              </a:rPr>
              <a:t>, </a:t>
            </a:r>
            <a:r>
              <a:rPr lang="en-GB" altLang="zh-CN" b="0" i="1" dirty="0" err="1">
                <a:effectLst/>
                <a:latin typeface="Arial" panose="020B0604020202020204" pitchFamily="34" charset="0"/>
              </a:rPr>
              <a:t>Yunhan</a:t>
            </a:r>
            <a:r>
              <a:rPr lang="en-GB" altLang="zh-CN" b="0" i="1" dirty="0">
                <a:effectLst/>
                <a:latin typeface="Arial" panose="020B0604020202020204" pitchFamily="34" charset="0"/>
              </a:rPr>
              <a:t> Qi, </a:t>
            </a:r>
            <a:r>
              <a:rPr lang="en-GB" altLang="zh-CN" b="0" i="1" dirty="0" err="1">
                <a:effectLst/>
                <a:latin typeface="Arial" panose="020B0604020202020204" pitchFamily="34" charset="0"/>
              </a:rPr>
              <a:t>Jie</a:t>
            </a:r>
            <a:r>
              <a:rPr lang="en-GB" altLang="zh-CN" b="0" i="1" dirty="0">
                <a:effectLst/>
                <a:latin typeface="Arial" panose="020B0604020202020204" pitchFamily="34" charset="0"/>
              </a:rPr>
              <a:t> Feng, Fengli Xu, </a:t>
            </a:r>
            <a:r>
              <a:rPr lang="en-GB" altLang="zh-CN" b="0" i="1" dirty="0" err="1">
                <a:effectLst/>
                <a:latin typeface="Arial" panose="020B0604020202020204" pitchFamily="34" charset="0"/>
              </a:rPr>
              <a:t>Funing</a:t>
            </a:r>
            <a:r>
              <a:rPr lang="en-GB" altLang="zh-CN" b="0" i="1" dirty="0">
                <a:effectLst/>
                <a:latin typeface="Arial" panose="020B0604020202020204" pitchFamily="34" charset="0"/>
              </a:rPr>
              <a:t> Sun, </a:t>
            </a:r>
            <a:r>
              <a:rPr lang="en-GB" altLang="zh-CN" b="0" i="1" dirty="0" err="1">
                <a:effectLst/>
                <a:latin typeface="Arial" panose="020B0604020202020204" pitchFamily="34" charset="0"/>
              </a:rPr>
              <a:t>Diansheng</a:t>
            </a:r>
            <a:r>
              <a:rPr lang="en-GB" altLang="zh-CN" b="0" i="1" dirty="0">
                <a:effectLst/>
                <a:latin typeface="Arial" panose="020B0604020202020204" pitchFamily="34" charset="0"/>
              </a:rPr>
              <a:t> Guo, Yong Li</a:t>
            </a:r>
          </a:p>
          <a:p>
            <a:pPr algn="ctr">
              <a:lnSpc>
                <a:spcPts val="2600"/>
              </a:lnSpc>
            </a:pPr>
            <a:r>
              <a:rPr lang="en-US" altLang="zh-CN" dirty="0">
                <a:ea typeface="+mj-ea"/>
              </a:rPr>
              <a:t>Tsinghua University, China</a:t>
            </a:r>
          </a:p>
          <a:p>
            <a:pPr algn="ctr">
              <a:lnSpc>
                <a:spcPts val="2600"/>
              </a:lnSpc>
            </a:pPr>
            <a:r>
              <a:rPr lang="en-US" altLang="zh-CN" dirty="0">
                <a:ea typeface="+mj-ea"/>
              </a:rPr>
              <a:t>xia-t17@mails.tsinghua.edu.cn</a:t>
            </a:r>
          </a:p>
        </p:txBody>
      </p:sp>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58995" y="608101"/>
            <a:ext cx="2338085" cy="940880"/>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3120" y="608101"/>
            <a:ext cx="3065788" cy="940880"/>
          </a:xfrm>
          <a:prstGeom prst="rect">
            <a:avLst/>
          </a:prstGeom>
        </p:spPr>
      </p:pic>
      <p:sp>
        <p:nvSpPr>
          <p:cNvPr id="4" name="矩形 3"/>
          <p:cNvSpPr/>
          <p:nvPr/>
        </p:nvSpPr>
        <p:spPr>
          <a:xfrm>
            <a:off x="652105" y="2463460"/>
            <a:ext cx="10669487" cy="1200329"/>
          </a:xfrm>
          <a:prstGeom prst="rect">
            <a:avLst/>
          </a:prstGeom>
        </p:spPr>
        <p:txBody>
          <a:bodyPr wrap="square">
            <a:spAutoFit/>
          </a:bodyPr>
          <a:lstStyle/>
          <a:p>
            <a:pPr algn="ctr"/>
            <a:r>
              <a:rPr lang="en-US" altLang="zh-CN" sz="3600" b="0" i="0" dirty="0" err="1">
                <a:effectLst/>
                <a:latin typeface="Arial" panose="020B0604020202020204" pitchFamily="34" charset="0"/>
              </a:rPr>
              <a:t>AttnMove</a:t>
            </a:r>
            <a:r>
              <a:rPr lang="en-US" altLang="zh-CN" sz="3600" b="0" i="0" dirty="0">
                <a:effectLst/>
                <a:latin typeface="Arial" panose="020B0604020202020204" pitchFamily="34" charset="0"/>
              </a:rPr>
              <a:t>: History Enhanced Trajectory Recovery via Attentional Network</a:t>
            </a:r>
            <a:endParaRPr lang="zh-CN" altLang="en-US" sz="3600" dirty="0"/>
          </a:p>
        </p:txBody>
      </p:sp>
      <p:sp>
        <p:nvSpPr>
          <p:cNvPr id="7" name="灯片编号占位符 6"/>
          <p:cNvSpPr>
            <a:spLocks noGrp="1"/>
          </p:cNvSpPr>
          <p:nvPr>
            <p:ph type="sldNum" sz="quarter" idx="10"/>
          </p:nvPr>
        </p:nvSpPr>
        <p:spPr/>
        <p:txBody>
          <a:bodyPr/>
          <a:lstStyle/>
          <a:p>
            <a:fld id="{3A7104C2-2265-4AB9-B90C-4162FA6B94AE}" type="slidenum">
              <a:rPr lang="zh-CN" altLang="en-US" smtClean="0"/>
              <a:pPr/>
              <a:t>1</a:t>
            </a:fld>
            <a:endParaRPr lang="zh-CN" altLang="en-US" dirty="0"/>
          </a:p>
        </p:txBody>
      </p:sp>
    </p:spTree>
    <p:extLst>
      <p:ext uri="{BB962C8B-B14F-4D97-AF65-F5344CB8AC3E}">
        <p14:creationId xmlns:p14="http://schemas.microsoft.com/office/powerpoint/2010/main" val="16364596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3808071" cy="6857999"/>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62987" y="1654897"/>
            <a:ext cx="3819646" cy="707886"/>
          </a:xfrm>
          <a:prstGeom prst="rect">
            <a:avLst/>
          </a:prstGeom>
          <a:noFill/>
        </p:spPr>
        <p:txBody>
          <a:bodyPr wrap="square" rtlCol="0">
            <a:spAutoFit/>
          </a:bodyPr>
          <a:lstStyle/>
          <a:p>
            <a:r>
              <a:rPr lang="en-US" altLang="zh-CN" sz="4000" b="1" dirty="0">
                <a:solidFill>
                  <a:schemeClr val="tx1">
                    <a:lumMod val="75000"/>
                    <a:lumOff val="25000"/>
                  </a:schemeClr>
                </a:solidFill>
              </a:rPr>
              <a:t>CONTENTS</a:t>
            </a:r>
            <a:endParaRPr lang="zh-CN" altLang="en-US" sz="4000" b="1" dirty="0">
              <a:solidFill>
                <a:schemeClr val="tx1">
                  <a:lumMod val="75000"/>
                  <a:lumOff val="25000"/>
                </a:schemeClr>
              </a:solidFill>
            </a:endParaRPr>
          </a:p>
        </p:txBody>
      </p:sp>
      <p:sp>
        <p:nvSpPr>
          <p:cNvPr id="5" name="文本框 4"/>
          <p:cNvSpPr txBox="1"/>
          <p:nvPr/>
        </p:nvSpPr>
        <p:spPr>
          <a:xfrm>
            <a:off x="5363706" y="4243680"/>
            <a:ext cx="5486729" cy="584775"/>
          </a:xfrm>
          <a:prstGeom prst="rect">
            <a:avLst/>
          </a:prstGeom>
          <a:noFill/>
        </p:spPr>
        <p:txBody>
          <a:bodyPr wrap="square" rtlCol="0">
            <a:spAutoFit/>
          </a:bodyPr>
          <a:lstStyle/>
          <a:p>
            <a:pPr lvl="0" algn="just">
              <a:defRPr/>
            </a:pPr>
            <a:r>
              <a:rPr lang="en-US" altLang="zh-CN" sz="3200" b="1" dirty="0">
                <a:solidFill>
                  <a:srgbClr val="A5A5A5">
                    <a:lumMod val="50000"/>
                  </a:srgbClr>
                </a:solidFill>
                <a:latin typeface="Arial" panose="020B0604020202020204" pitchFamily="34" charset="0"/>
              </a:rPr>
              <a:t>Experiment Results</a:t>
            </a:r>
          </a:p>
        </p:txBody>
      </p:sp>
      <p:sp>
        <p:nvSpPr>
          <p:cNvPr id="7" name="文本框 6"/>
          <p:cNvSpPr txBox="1"/>
          <p:nvPr/>
        </p:nvSpPr>
        <p:spPr>
          <a:xfrm>
            <a:off x="4153658" y="4182124"/>
            <a:ext cx="1049656" cy="646331"/>
          </a:xfrm>
          <a:prstGeom prst="rect">
            <a:avLst/>
          </a:prstGeom>
          <a:noFill/>
          <a:ln>
            <a:solidFill>
              <a:schemeClr val="tx1">
                <a:lumMod val="95000"/>
                <a:lumOff val="5000"/>
              </a:schemeClr>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微软雅黑" panose="020B0503020204020204" pitchFamily="34" charset="-122"/>
                <a:cs typeface="+mn-cs"/>
              </a:rPr>
              <a:t>04</a:t>
            </a:r>
          </a:p>
        </p:txBody>
      </p:sp>
      <p:sp>
        <p:nvSpPr>
          <p:cNvPr id="10" name="文本框 18"/>
          <p:cNvSpPr txBox="1"/>
          <p:nvPr/>
        </p:nvSpPr>
        <p:spPr>
          <a:xfrm>
            <a:off x="5363894" y="2070396"/>
            <a:ext cx="4726691"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A5A5A5">
                    <a:lumMod val="50000"/>
                  </a:srgbClr>
                </a:solidFill>
                <a:effectLst/>
                <a:uLnTx/>
                <a:uFillTx/>
                <a:latin typeface="Arial" panose="020B0604020202020204" pitchFamily="34" charset="0"/>
                <a:ea typeface="微软雅黑" panose="020B0503020204020204" pitchFamily="34" charset="-122"/>
                <a:cs typeface="+mn-cs"/>
              </a:rPr>
              <a:t>Challenge</a:t>
            </a:r>
          </a:p>
        </p:txBody>
      </p:sp>
      <p:sp>
        <p:nvSpPr>
          <p:cNvPr id="12" name="文本框 16"/>
          <p:cNvSpPr txBox="1"/>
          <p:nvPr/>
        </p:nvSpPr>
        <p:spPr>
          <a:xfrm>
            <a:off x="4153470" y="1984391"/>
            <a:ext cx="1049844" cy="646331"/>
          </a:xfrm>
          <a:prstGeom prst="rect">
            <a:avLst/>
          </a:prstGeom>
          <a:noFill/>
          <a:ln>
            <a:solidFill>
              <a:schemeClr val="tx1">
                <a:lumMod val="95000"/>
                <a:lumOff val="5000"/>
              </a:schemeClr>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微软雅黑" panose="020B0503020204020204" pitchFamily="34" charset="-122"/>
                <a:cs typeface="+mn-cs"/>
              </a:rPr>
              <a:t>02</a:t>
            </a:r>
          </a:p>
        </p:txBody>
      </p:sp>
      <p:sp>
        <p:nvSpPr>
          <p:cNvPr id="15" name="文本框 18"/>
          <p:cNvSpPr txBox="1"/>
          <p:nvPr/>
        </p:nvSpPr>
        <p:spPr>
          <a:xfrm>
            <a:off x="5388615" y="3095183"/>
            <a:ext cx="4994909"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A5A5A5">
                    <a:lumMod val="50000"/>
                  </a:srgbClr>
                </a:solidFill>
                <a:effectLst/>
                <a:uLnTx/>
                <a:uFillTx/>
                <a:latin typeface="Arial" panose="020B0604020202020204" pitchFamily="34" charset="0"/>
                <a:ea typeface="微软雅黑" panose="020B0503020204020204" pitchFamily="34" charset="-122"/>
                <a:cs typeface="+mn-cs"/>
              </a:rPr>
              <a:t>Model Design</a:t>
            </a:r>
          </a:p>
        </p:txBody>
      </p:sp>
      <p:sp>
        <p:nvSpPr>
          <p:cNvPr id="17" name="文本框 16"/>
          <p:cNvSpPr txBox="1"/>
          <p:nvPr/>
        </p:nvSpPr>
        <p:spPr>
          <a:xfrm>
            <a:off x="4166112" y="3069874"/>
            <a:ext cx="1049656" cy="646331"/>
          </a:xfrm>
          <a:prstGeom prst="rect">
            <a:avLst/>
          </a:prstGeom>
          <a:noFill/>
          <a:ln>
            <a:solidFill>
              <a:schemeClr val="tx1">
                <a:lumMod val="95000"/>
                <a:lumOff val="5000"/>
              </a:schemeClr>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微软雅黑" panose="020B0503020204020204" pitchFamily="34" charset="-122"/>
                <a:cs typeface="+mn-cs"/>
              </a:rPr>
              <a:t>03</a:t>
            </a:r>
          </a:p>
        </p:txBody>
      </p:sp>
      <p:sp>
        <p:nvSpPr>
          <p:cNvPr id="20" name="文本框 18"/>
          <p:cNvSpPr txBox="1"/>
          <p:nvPr/>
        </p:nvSpPr>
        <p:spPr>
          <a:xfrm>
            <a:off x="5363706" y="5291747"/>
            <a:ext cx="6232525"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A5A5A5">
                    <a:lumMod val="50000"/>
                  </a:srgbClr>
                </a:solidFill>
                <a:effectLst/>
                <a:uLnTx/>
                <a:uFillTx/>
                <a:latin typeface="Arial" panose="020B0604020202020204" pitchFamily="34" charset="0"/>
                <a:ea typeface="微软雅黑" panose="020B0503020204020204" pitchFamily="34" charset="-122"/>
                <a:cs typeface="+mn-cs"/>
              </a:rPr>
              <a:t>Discussion</a:t>
            </a:r>
            <a:r>
              <a:rPr kumimoji="0" lang="en-US" altLang="zh-CN" sz="3200" b="1" i="0" u="none" strike="noStrike" kern="1200" cap="none" spc="0" normalizeH="0" noProof="0" dirty="0">
                <a:ln>
                  <a:noFill/>
                </a:ln>
                <a:solidFill>
                  <a:srgbClr val="A5A5A5">
                    <a:lumMod val="50000"/>
                  </a:srgbClr>
                </a:solidFill>
                <a:effectLst/>
                <a:uLnTx/>
                <a:uFillTx/>
                <a:latin typeface="Arial" panose="020B0604020202020204" pitchFamily="34" charset="0"/>
                <a:ea typeface="微软雅黑" panose="020B0503020204020204" pitchFamily="34" charset="-122"/>
                <a:cs typeface="+mn-cs"/>
              </a:rPr>
              <a:t> &amp; </a:t>
            </a:r>
            <a:r>
              <a:rPr kumimoji="0" lang="en-US" altLang="zh-CN" sz="3200" b="1" i="0" u="none" strike="noStrike" kern="1200" cap="none" spc="0" normalizeH="0" baseline="0" noProof="0" dirty="0">
                <a:ln>
                  <a:noFill/>
                </a:ln>
                <a:solidFill>
                  <a:srgbClr val="A5A5A5">
                    <a:lumMod val="50000"/>
                  </a:srgbClr>
                </a:solidFill>
                <a:effectLst/>
                <a:uLnTx/>
                <a:uFillTx/>
                <a:latin typeface="Arial" panose="020B0604020202020204" pitchFamily="34" charset="0"/>
                <a:ea typeface="微软雅黑" panose="020B0503020204020204" pitchFamily="34" charset="-122"/>
                <a:cs typeface="+mn-cs"/>
              </a:rPr>
              <a:t>Conclusion</a:t>
            </a:r>
          </a:p>
        </p:txBody>
      </p:sp>
      <p:sp>
        <p:nvSpPr>
          <p:cNvPr id="22" name="文本框 16"/>
          <p:cNvSpPr txBox="1"/>
          <p:nvPr/>
        </p:nvSpPr>
        <p:spPr>
          <a:xfrm>
            <a:off x="4153658" y="5291747"/>
            <a:ext cx="1049656" cy="646331"/>
          </a:xfrm>
          <a:prstGeom prst="rect">
            <a:avLst/>
          </a:prstGeom>
          <a:noFill/>
          <a:ln>
            <a:solidFill>
              <a:schemeClr val="tx1">
                <a:lumMod val="95000"/>
                <a:lumOff val="5000"/>
              </a:schemeClr>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微软雅黑" panose="020B0503020204020204" pitchFamily="34" charset="-122"/>
                <a:cs typeface="+mn-cs"/>
              </a:rPr>
              <a:t>05</a:t>
            </a:r>
          </a:p>
        </p:txBody>
      </p:sp>
      <p:sp>
        <p:nvSpPr>
          <p:cNvPr id="25" name="文本框 18"/>
          <p:cNvSpPr txBox="1"/>
          <p:nvPr/>
        </p:nvSpPr>
        <p:spPr>
          <a:xfrm>
            <a:off x="5388615" y="936324"/>
            <a:ext cx="3098165" cy="584775"/>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defRPr/>
            </a:pPr>
            <a:r>
              <a:rPr kumimoji="0" lang="en-US" altLang="zh-CN" sz="3200" b="1" i="0" u="none" strike="noStrike" kern="1200" cap="none" spc="0" normalizeH="0" baseline="0" noProof="0" dirty="0">
                <a:ln>
                  <a:noFill/>
                </a:ln>
                <a:solidFill>
                  <a:srgbClr val="A5A5A5">
                    <a:lumMod val="50000"/>
                  </a:srgbClr>
                </a:solidFill>
                <a:effectLst/>
                <a:uLnTx/>
                <a:uFillTx/>
                <a:latin typeface="Arial" panose="020B0604020202020204" pitchFamily="34" charset="0"/>
                <a:ea typeface="微软雅黑" panose="020B0503020204020204" pitchFamily="34" charset="-122"/>
                <a:cs typeface="+mn-cs"/>
              </a:rPr>
              <a:t>Background</a:t>
            </a:r>
          </a:p>
        </p:txBody>
      </p:sp>
      <p:grpSp>
        <p:nvGrpSpPr>
          <p:cNvPr id="26" name="组合 68"/>
          <p:cNvGrpSpPr/>
          <p:nvPr/>
        </p:nvGrpSpPr>
        <p:grpSpPr>
          <a:xfrm>
            <a:off x="4128747" y="806233"/>
            <a:ext cx="1074567" cy="828040"/>
            <a:chOff x="3888217" y="1745540"/>
            <a:chExt cx="911804" cy="828040"/>
          </a:xfrm>
        </p:grpSpPr>
        <p:sp>
          <p:nvSpPr>
            <p:cNvPr id="27" name="文本框 16"/>
            <p:cNvSpPr txBox="1"/>
            <p:nvPr/>
          </p:nvSpPr>
          <p:spPr>
            <a:xfrm>
              <a:off x="3888217" y="1842806"/>
              <a:ext cx="911804" cy="646331"/>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1" i="0" u="none" strike="noStrike" kern="1200" cap="none" spc="0" normalizeH="0" baseline="0" noProof="0" dirty="0">
                  <a:ln>
                    <a:noFill/>
                  </a:ln>
                  <a:solidFill>
                    <a:schemeClr val="tx1">
                      <a:lumMod val="75000"/>
                      <a:lumOff val="25000"/>
                    </a:schemeClr>
                  </a:solidFill>
                  <a:effectLst/>
                  <a:uLnTx/>
                  <a:uFillTx/>
                  <a:latin typeface="Arial" panose="020B0604020202020204" pitchFamily="34" charset="0"/>
                  <a:ea typeface="微软雅黑" panose="020B0503020204020204" pitchFamily="34" charset="-122"/>
                  <a:cs typeface="+mn-cs"/>
                </a:rPr>
                <a:t>01</a:t>
              </a:r>
            </a:p>
          </p:txBody>
        </p:sp>
        <p:sp>
          <p:nvSpPr>
            <p:cNvPr id="28" name="矩形 27"/>
            <p:cNvSpPr/>
            <p:nvPr/>
          </p:nvSpPr>
          <p:spPr>
            <a:xfrm>
              <a:off x="3909356" y="1745540"/>
              <a:ext cx="890665" cy="8280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defRPr/>
              </a:pPr>
              <a:endParaRPr kumimoji="0" lang="zh-CN" altLang="en-US" sz="1600" b="0" i="0" u="none" strike="noStrike" kern="1200" cap="none" spc="0" normalizeH="0" baseline="0" noProof="0">
                <a:ln>
                  <a:noFill/>
                </a:ln>
                <a:solidFill>
                  <a:schemeClr val="tx1">
                    <a:lumMod val="75000"/>
                    <a:lumOff val="25000"/>
                  </a:schemeClr>
                </a:solidFill>
                <a:effectLst/>
                <a:uLnTx/>
                <a:uFillTx/>
                <a:latin typeface="Arial" panose="020B0604020202020204" pitchFamily="34" charset="0"/>
                <a:ea typeface="微软雅黑" panose="020B0503020204020204" pitchFamily="34" charset="-122"/>
                <a:cs typeface="+mn-cs"/>
              </a:endParaRPr>
            </a:p>
          </p:txBody>
        </p:sp>
      </p:grpSp>
      <p:sp>
        <p:nvSpPr>
          <p:cNvPr id="4" name="灯片编号占位符 3"/>
          <p:cNvSpPr>
            <a:spLocks noGrp="1"/>
          </p:cNvSpPr>
          <p:nvPr>
            <p:ph type="sldNum" sz="quarter" idx="10"/>
          </p:nvPr>
        </p:nvSpPr>
        <p:spPr/>
        <p:txBody>
          <a:bodyPr/>
          <a:lstStyle/>
          <a:p>
            <a:fld id="{3A7104C2-2265-4AB9-B90C-4162FA6B94AE}" type="slidenum">
              <a:rPr lang="zh-CN" altLang="en-US" smtClean="0"/>
              <a:pPr/>
              <a:t>2</a:t>
            </a:fld>
            <a:endParaRPr lang="zh-CN" altLang="en-US" dirty="0"/>
          </a:p>
        </p:txBody>
      </p:sp>
      <p:cxnSp>
        <p:nvCxnSpPr>
          <p:cNvPr id="18" name="直接连接符 17">
            <a:extLst>
              <a:ext uri="{FF2B5EF4-FFF2-40B4-BE49-F238E27FC236}">
                <a16:creationId xmlns:a16="http://schemas.microsoft.com/office/drawing/2014/main" id="{24905341-4A1C-4077-BB10-D26909D0CF90}"/>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508FAC8-B626-4904-9F0E-7AFF679F8EEA}"/>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2606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7866" y="495734"/>
            <a:ext cx="2574744" cy="407356"/>
          </a:xfrm>
        </p:spPr>
        <p:txBody>
          <a:bodyPr/>
          <a:lstStyle/>
          <a:p>
            <a:r>
              <a:rPr lang="en-US" altLang="zh-CN" dirty="0"/>
              <a:t>Background</a:t>
            </a:r>
            <a:endParaRPr lang="zh-CN" altLang="en-US" dirty="0"/>
          </a:p>
        </p:txBody>
      </p:sp>
      <p:pic>
        <p:nvPicPr>
          <p:cNvPr id="9" name="图片 8"/>
          <p:cNvPicPr>
            <a:picLocks noChangeAspect="1"/>
          </p:cNvPicPr>
          <p:nvPr/>
        </p:nvPicPr>
        <p:blipFill rotWithShape="1">
          <a:blip r:embed="rId3" cstate="print">
            <a:extLst>
              <a:ext uri="{28A0092B-C50C-407E-A947-70E740481C1C}">
                <a14:useLocalDpi xmlns:a14="http://schemas.microsoft.com/office/drawing/2010/main" val="0"/>
              </a:ext>
            </a:extLst>
          </a:blip>
          <a:srcRect l="-1" t="3727" r="2418" b="3773"/>
          <a:stretch/>
        </p:blipFill>
        <p:spPr>
          <a:xfrm>
            <a:off x="384260" y="4197165"/>
            <a:ext cx="2201354" cy="1549055"/>
          </a:xfrm>
          <a:prstGeom prst="rect">
            <a:avLst/>
          </a:prstGeom>
          <a:solidFill>
            <a:srgbClr val="FFFFFF">
              <a:shade val="85000"/>
            </a:srgbClr>
          </a:solidFill>
          <a:ln w="88900" cap="sq">
            <a:noFill/>
            <a:miter lim="800000"/>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2" name="图片 11"/>
          <p:cNvPicPr>
            <a:picLocks noChangeAspect="1"/>
          </p:cNvPicPr>
          <p:nvPr/>
        </p:nvPicPr>
        <p:blipFill rotWithShape="1">
          <a:blip r:embed="rId4">
            <a:extLst>
              <a:ext uri="{28A0092B-C50C-407E-A947-70E740481C1C}">
                <a14:useLocalDpi xmlns:a14="http://schemas.microsoft.com/office/drawing/2010/main" val="0"/>
              </a:ext>
            </a:extLst>
          </a:blip>
          <a:srcRect l="3714" t="7812" r="67378" b="7289"/>
          <a:stretch/>
        </p:blipFill>
        <p:spPr>
          <a:xfrm>
            <a:off x="3067145" y="4220316"/>
            <a:ext cx="2029534" cy="152734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13" name="图片 12"/>
          <p:cNvPicPr>
            <a:picLocks noChangeAspect="1"/>
          </p:cNvPicPr>
          <p:nvPr/>
        </p:nvPicPr>
        <p:blipFill rotWithShape="1">
          <a:blip r:embed="rId4">
            <a:extLst>
              <a:ext uri="{28A0092B-C50C-407E-A947-70E740481C1C}">
                <a14:useLocalDpi xmlns:a14="http://schemas.microsoft.com/office/drawing/2010/main" val="0"/>
              </a:ext>
            </a:extLst>
          </a:blip>
          <a:srcRect l="65210" t="10607" r="12741" b="4494"/>
          <a:stretch/>
        </p:blipFill>
        <p:spPr>
          <a:xfrm>
            <a:off x="5601360" y="4197165"/>
            <a:ext cx="1919661" cy="1527342"/>
          </a:xfrm>
          <a:prstGeom prst="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sp>
        <p:nvSpPr>
          <p:cNvPr id="4" name="灯片编号占位符 3"/>
          <p:cNvSpPr>
            <a:spLocks noGrp="1"/>
          </p:cNvSpPr>
          <p:nvPr>
            <p:ph type="sldNum" sz="quarter" idx="10"/>
          </p:nvPr>
        </p:nvSpPr>
        <p:spPr/>
        <p:txBody>
          <a:bodyPr/>
          <a:lstStyle/>
          <a:p>
            <a:fld id="{3A7104C2-2265-4AB9-B90C-4162FA6B94AE}" type="slidenum">
              <a:rPr lang="zh-CN" altLang="en-US" smtClean="0"/>
              <a:pPr/>
              <a:t>3</a:t>
            </a:fld>
            <a:endParaRPr lang="zh-CN" altLang="en-US" dirty="0"/>
          </a:p>
        </p:txBody>
      </p:sp>
      <p:pic>
        <p:nvPicPr>
          <p:cNvPr id="2050" name="Picture 2" descr="“mobility trajectory”的图片搜索结果"/>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6223" y="1416042"/>
            <a:ext cx="3768228" cy="2110208"/>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Lst>
        </p:spPr>
      </p:pic>
      <p:sp>
        <p:nvSpPr>
          <p:cNvPr id="11" name="文本框 10"/>
          <p:cNvSpPr txBox="1"/>
          <p:nvPr/>
        </p:nvSpPr>
        <p:spPr>
          <a:xfrm>
            <a:off x="3103384" y="954377"/>
            <a:ext cx="3479520" cy="461665"/>
          </a:xfrm>
          <a:prstGeom prst="rect">
            <a:avLst/>
          </a:prstGeom>
          <a:noFill/>
        </p:spPr>
        <p:txBody>
          <a:bodyPr wrap="square" rtlCol="0">
            <a:spAutoFit/>
          </a:bodyPr>
          <a:lstStyle/>
          <a:p>
            <a:r>
              <a:rPr lang="en-US" altLang="zh-CN" sz="2400" dirty="0"/>
              <a:t>Mobility Data</a:t>
            </a:r>
            <a:endParaRPr lang="zh-CN" altLang="en-US" sz="2400" dirty="0"/>
          </a:p>
        </p:txBody>
      </p:sp>
      <p:sp>
        <p:nvSpPr>
          <p:cNvPr id="14" name="下箭头 13"/>
          <p:cNvSpPr/>
          <p:nvPr/>
        </p:nvSpPr>
        <p:spPr>
          <a:xfrm rot="3361239">
            <a:off x="2065300" y="3449841"/>
            <a:ext cx="517522" cy="890633"/>
          </a:xfrm>
          <a:prstGeom prst="downArrow">
            <a:avLst/>
          </a:prstGeom>
          <a:solidFill>
            <a:schemeClr val="bg1">
              <a:lumMod val="6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下箭头 24"/>
          <p:cNvSpPr/>
          <p:nvPr/>
        </p:nvSpPr>
        <p:spPr>
          <a:xfrm rot="18621533">
            <a:off x="5464376" y="3438183"/>
            <a:ext cx="517522" cy="949374"/>
          </a:xfrm>
          <a:prstGeom prst="downArrow">
            <a:avLst/>
          </a:prstGeom>
          <a:solidFill>
            <a:schemeClr val="bg1">
              <a:lumMod val="6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下箭头 25"/>
          <p:cNvSpPr/>
          <p:nvPr/>
        </p:nvSpPr>
        <p:spPr>
          <a:xfrm>
            <a:off x="3759039" y="3544040"/>
            <a:ext cx="517522" cy="519228"/>
          </a:xfrm>
          <a:prstGeom prst="downArrow">
            <a:avLst/>
          </a:prstGeom>
          <a:solidFill>
            <a:schemeClr val="bg1">
              <a:lumMod val="6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560283" y="5772093"/>
            <a:ext cx="3479520" cy="461665"/>
          </a:xfrm>
          <a:prstGeom prst="rect">
            <a:avLst/>
          </a:prstGeom>
          <a:noFill/>
        </p:spPr>
        <p:txBody>
          <a:bodyPr wrap="square" rtlCol="0">
            <a:spAutoFit/>
          </a:bodyPr>
          <a:lstStyle/>
          <a:p>
            <a:r>
              <a:rPr lang="en-US" altLang="zh-CN" sz="2400" dirty="0"/>
              <a:t>Location </a:t>
            </a:r>
            <a:r>
              <a:rPr lang="en-US" altLang="zh-CN" sz="2400" dirty="0" err="1"/>
              <a:t>Recom</a:t>
            </a:r>
            <a:r>
              <a:rPr lang="en-US" altLang="zh-CN" sz="2400" dirty="0"/>
              <a:t>.</a:t>
            </a:r>
            <a:endParaRPr lang="zh-CN" altLang="en-US" sz="2400" dirty="0"/>
          </a:p>
        </p:txBody>
      </p:sp>
      <p:sp>
        <p:nvSpPr>
          <p:cNvPr id="28" name="文本框 27"/>
          <p:cNvSpPr txBox="1"/>
          <p:nvPr/>
        </p:nvSpPr>
        <p:spPr>
          <a:xfrm>
            <a:off x="3630120" y="5740693"/>
            <a:ext cx="3479520" cy="461665"/>
          </a:xfrm>
          <a:prstGeom prst="rect">
            <a:avLst/>
          </a:prstGeom>
          <a:noFill/>
        </p:spPr>
        <p:txBody>
          <a:bodyPr wrap="square" rtlCol="0">
            <a:spAutoFit/>
          </a:bodyPr>
          <a:lstStyle/>
          <a:p>
            <a:r>
              <a:rPr lang="en-US" altLang="zh-CN" sz="2400" dirty="0"/>
              <a:t>City Plan</a:t>
            </a:r>
            <a:endParaRPr lang="zh-CN" altLang="en-US" sz="2400" dirty="0"/>
          </a:p>
        </p:txBody>
      </p:sp>
      <p:sp>
        <p:nvSpPr>
          <p:cNvPr id="29" name="文本框 28"/>
          <p:cNvSpPr txBox="1"/>
          <p:nvPr/>
        </p:nvSpPr>
        <p:spPr>
          <a:xfrm>
            <a:off x="5846825" y="5740693"/>
            <a:ext cx="2006537" cy="461665"/>
          </a:xfrm>
          <a:prstGeom prst="rect">
            <a:avLst/>
          </a:prstGeom>
          <a:noFill/>
        </p:spPr>
        <p:txBody>
          <a:bodyPr wrap="square" rtlCol="0">
            <a:spAutoFit/>
          </a:bodyPr>
          <a:lstStyle/>
          <a:p>
            <a:r>
              <a:rPr lang="en-US" altLang="zh-CN" sz="2400" dirty="0"/>
              <a:t>Emergence</a:t>
            </a:r>
            <a:endParaRPr lang="zh-CN" altLang="en-US" sz="2400" dirty="0"/>
          </a:p>
        </p:txBody>
      </p:sp>
      <p:pic>
        <p:nvPicPr>
          <p:cNvPr id="16" name="图片 1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25702" y="2239643"/>
            <a:ext cx="4114699" cy="2535024"/>
          </a:xfrm>
          <a:prstGeom prst="rect">
            <a:avLst/>
          </a:prstGeom>
        </p:spPr>
      </p:pic>
      <p:sp>
        <p:nvSpPr>
          <p:cNvPr id="31" name="文本框 30"/>
          <p:cNvSpPr txBox="1"/>
          <p:nvPr/>
        </p:nvSpPr>
        <p:spPr>
          <a:xfrm>
            <a:off x="8357890" y="5423568"/>
            <a:ext cx="3734750" cy="83099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b="1" i="1" dirty="0"/>
              <a:t>High sparsity!</a:t>
            </a:r>
          </a:p>
          <a:p>
            <a:pPr marL="342900" indent="-342900">
              <a:buFont typeface="Arial" panose="020B0604020202020204" pitchFamily="34" charset="0"/>
              <a:buChar char="•"/>
            </a:pPr>
            <a:r>
              <a:rPr lang="en-US" altLang="zh-CN" sz="2400" b="1" i="1" dirty="0"/>
              <a:t>Uneven distribution.</a:t>
            </a:r>
            <a:endParaRPr lang="zh-CN" altLang="en-US" sz="2400" b="1" i="1" dirty="0"/>
          </a:p>
        </p:txBody>
      </p:sp>
      <p:sp>
        <p:nvSpPr>
          <p:cNvPr id="20" name="椭圆 19"/>
          <p:cNvSpPr/>
          <p:nvPr/>
        </p:nvSpPr>
        <p:spPr>
          <a:xfrm>
            <a:off x="8215677" y="4907922"/>
            <a:ext cx="167148" cy="159143"/>
          </a:xfrm>
          <a:prstGeom prst="ellipse">
            <a:avLst/>
          </a:prstGeom>
          <a:solidFill>
            <a:srgbClr val="FFCF46"/>
          </a:solidFill>
          <a:ln>
            <a:solidFill>
              <a:srgbClr val="FFCF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8423145" y="4747069"/>
            <a:ext cx="3479520" cy="461665"/>
          </a:xfrm>
          <a:prstGeom prst="rect">
            <a:avLst/>
          </a:prstGeom>
          <a:noFill/>
        </p:spPr>
        <p:txBody>
          <a:bodyPr wrap="square" rtlCol="0">
            <a:spAutoFit/>
          </a:bodyPr>
          <a:lstStyle/>
          <a:p>
            <a:r>
              <a:rPr lang="en-US" altLang="zh-CN" sz="2400" dirty="0"/>
              <a:t>Observed </a:t>
            </a:r>
            <a:endParaRPr lang="zh-CN" altLang="en-US" sz="2400" dirty="0"/>
          </a:p>
        </p:txBody>
      </p:sp>
      <p:sp>
        <p:nvSpPr>
          <p:cNvPr id="34" name="椭圆 33"/>
          <p:cNvSpPr/>
          <p:nvPr/>
        </p:nvSpPr>
        <p:spPr>
          <a:xfrm>
            <a:off x="10162905" y="4917093"/>
            <a:ext cx="167148" cy="159143"/>
          </a:xfrm>
          <a:prstGeom prst="ellipse">
            <a:avLst/>
          </a:prstGeom>
          <a:solidFill>
            <a:srgbClr val="A9D18E"/>
          </a:solidFill>
          <a:ln>
            <a:solidFill>
              <a:srgbClr val="A9D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10352880" y="4753118"/>
            <a:ext cx="3479520" cy="461665"/>
          </a:xfrm>
          <a:prstGeom prst="rect">
            <a:avLst/>
          </a:prstGeom>
          <a:noFill/>
        </p:spPr>
        <p:txBody>
          <a:bodyPr wrap="square" rtlCol="0">
            <a:spAutoFit/>
          </a:bodyPr>
          <a:lstStyle/>
          <a:p>
            <a:r>
              <a:rPr lang="en-US" altLang="zh-CN" sz="2400" dirty="0"/>
              <a:t>Missing </a:t>
            </a:r>
            <a:endParaRPr lang="zh-CN" altLang="en-US" sz="2400" dirty="0"/>
          </a:p>
        </p:txBody>
      </p:sp>
      <p:pic>
        <p:nvPicPr>
          <p:cNvPr id="37" name="图片 36"/>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8640275" y="1177923"/>
            <a:ext cx="624522" cy="624522"/>
          </a:xfrm>
          <a:prstGeom prst="rect">
            <a:avLst/>
          </a:prstGeom>
        </p:spPr>
      </p:pic>
      <p:pic>
        <p:nvPicPr>
          <p:cNvPr id="38" name="图片 37"/>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410210" y="1111417"/>
            <a:ext cx="836269" cy="666726"/>
          </a:xfrm>
          <a:prstGeom prst="rect">
            <a:avLst/>
          </a:prstGeom>
        </p:spPr>
      </p:pic>
      <p:sp>
        <p:nvSpPr>
          <p:cNvPr id="39" name="下箭头 38"/>
          <p:cNvSpPr/>
          <p:nvPr/>
        </p:nvSpPr>
        <p:spPr>
          <a:xfrm>
            <a:off x="9868410" y="1911398"/>
            <a:ext cx="517522" cy="415114"/>
          </a:xfrm>
          <a:prstGeom prst="downArrow">
            <a:avLst/>
          </a:prstGeom>
          <a:solidFill>
            <a:schemeClr val="bg1">
              <a:lumMod val="65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descr="Phone Battery Icon - Download Free Vectors, Clipart Graphics &amp; Vector Art">
            <a:extLst>
              <a:ext uri="{FF2B5EF4-FFF2-40B4-BE49-F238E27FC236}">
                <a16:creationId xmlns:a16="http://schemas.microsoft.com/office/drawing/2014/main" id="{C069FD17-3C88-4CBE-94B9-920E92089C97}"/>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1886" t="3076" r="68564" b="52967"/>
          <a:stretch/>
        </p:blipFill>
        <p:spPr bwMode="auto">
          <a:xfrm>
            <a:off x="10492389" y="1031252"/>
            <a:ext cx="480411" cy="756163"/>
          </a:xfrm>
          <a:prstGeom prst="rect">
            <a:avLst/>
          </a:prstGeom>
          <a:noFill/>
          <a:extLst>
            <a:ext uri="{909E8E84-426E-40DD-AFC4-6F175D3DCCD1}">
              <a14:hiddenFill xmlns:a14="http://schemas.microsoft.com/office/drawing/2010/main">
                <a:solidFill>
                  <a:srgbClr val="FFFFFF"/>
                </a:solidFill>
              </a14:hiddenFill>
            </a:ext>
          </a:extLst>
        </p:spPr>
      </p:pic>
      <p:cxnSp>
        <p:nvCxnSpPr>
          <p:cNvPr id="30" name="直接连接符 29">
            <a:extLst>
              <a:ext uri="{FF2B5EF4-FFF2-40B4-BE49-F238E27FC236}">
                <a16:creationId xmlns:a16="http://schemas.microsoft.com/office/drawing/2014/main" id="{25766D2B-2A07-4F75-96EB-DFA9A77EA900}"/>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546E2381-5B6D-4A52-9C7B-C65BDB5E81D6}"/>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4893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wipe(up)">
                                      <p:cBhvr>
                                        <p:cTn id="13" dur="500"/>
                                        <p:tgtEl>
                                          <p:spTgt spid="14"/>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wipe(up)">
                                      <p:cBhvr>
                                        <p:cTn id="16" dur="500"/>
                                        <p:tgtEl>
                                          <p:spTgt spid="25"/>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wipe(up)">
                                      <p:cBhvr>
                                        <p:cTn id="19" dur="500"/>
                                        <p:tgtEl>
                                          <p:spTgt spid="26"/>
                                        </p:tgtEl>
                                      </p:cBhvr>
                                    </p:animEffect>
                                  </p:childTnLst>
                                </p:cTn>
                              </p:par>
                              <p:par>
                                <p:cTn id="20" presetID="22" presetClass="entr" presetSubtype="1"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up)">
                                      <p:cBhvr>
                                        <p:cTn id="22" dur="500"/>
                                        <p:tgtEl>
                                          <p:spTgt spid="9"/>
                                        </p:tgtEl>
                                      </p:cBhvr>
                                    </p:animEffect>
                                  </p:childTnLst>
                                </p:cTn>
                              </p:par>
                              <p:par>
                                <p:cTn id="23" presetID="22" presetClass="entr" presetSubtype="1"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up)">
                                      <p:cBhvr>
                                        <p:cTn id="25" dur="500"/>
                                        <p:tgtEl>
                                          <p:spTgt spid="12"/>
                                        </p:tgtEl>
                                      </p:cBhvr>
                                    </p:animEffect>
                                  </p:childTnLst>
                                </p:cTn>
                              </p:par>
                              <p:par>
                                <p:cTn id="26" presetID="22" presetClass="entr" presetSubtype="1"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up)">
                                      <p:cBhvr>
                                        <p:cTn id="28" dur="500"/>
                                        <p:tgtEl>
                                          <p:spTgt spid="13"/>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up)">
                                      <p:cBhvr>
                                        <p:cTn id="31" dur="500"/>
                                        <p:tgtEl>
                                          <p:spTgt spid="27"/>
                                        </p:tgtEl>
                                      </p:cBhvr>
                                    </p:animEffect>
                                  </p:childTnLst>
                                </p:cTn>
                              </p:par>
                              <p:par>
                                <p:cTn id="32" presetID="22" presetClass="entr" presetSubtype="1"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up)">
                                      <p:cBhvr>
                                        <p:cTn id="34" dur="500"/>
                                        <p:tgtEl>
                                          <p:spTgt spid="28"/>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wipe(up)">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16"/>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1026"/>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34"/>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37"/>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38"/>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39"/>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35"/>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animBg="1"/>
      <p:bldP spid="25" grpId="0" animBg="1"/>
      <p:bldP spid="26" grpId="0" animBg="1"/>
      <p:bldP spid="27" grpId="0"/>
      <p:bldP spid="28" grpId="0"/>
      <p:bldP spid="29" grpId="0"/>
      <p:bldP spid="31" grpId="0"/>
      <p:bldP spid="20" grpId="0" animBg="1"/>
      <p:bldP spid="33" grpId="0"/>
      <p:bldP spid="34" grpId="0" animBg="1"/>
      <p:bldP spid="35" grpId="0"/>
      <p:bldP spid="3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7866" y="495734"/>
            <a:ext cx="2574744" cy="407356"/>
          </a:xfrm>
        </p:spPr>
        <p:txBody>
          <a:bodyPr/>
          <a:lstStyle/>
          <a:p>
            <a:r>
              <a:rPr lang="en-US" altLang="zh-CN" dirty="0"/>
              <a:t>Background</a:t>
            </a:r>
            <a:endParaRPr lang="zh-CN" altLang="en-US" dirty="0"/>
          </a:p>
        </p:txBody>
      </p:sp>
      <p:sp>
        <p:nvSpPr>
          <p:cNvPr id="4" name="灯片编号占位符 3"/>
          <p:cNvSpPr>
            <a:spLocks noGrp="1"/>
          </p:cNvSpPr>
          <p:nvPr>
            <p:ph type="sldNum" sz="quarter" idx="10"/>
          </p:nvPr>
        </p:nvSpPr>
        <p:spPr/>
        <p:txBody>
          <a:bodyPr/>
          <a:lstStyle/>
          <a:p>
            <a:fld id="{3A7104C2-2265-4AB9-B90C-4162FA6B94AE}" type="slidenum">
              <a:rPr lang="zh-CN" altLang="en-US" smtClean="0"/>
              <a:pPr/>
              <a:t>4</a:t>
            </a:fld>
            <a:endParaRPr lang="zh-CN" altLang="en-US" dirty="0"/>
          </a:p>
        </p:txBody>
      </p:sp>
      <p:grpSp>
        <p:nvGrpSpPr>
          <p:cNvPr id="5" name="组合 4">
            <a:extLst>
              <a:ext uri="{FF2B5EF4-FFF2-40B4-BE49-F238E27FC236}">
                <a16:creationId xmlns:a16="http://schemas.microsoft.com/office/drawing/2014/main" id="{352EED91-20FC-4EF5-8443-1BAB0880AF8C}"/>
              </a:ext>
            </a:extLst>
          </p:cNvPr>
          <p:cNvGrpSpPr/>
          <p:nvPr/>
        </p:nvGrpSpPr>
        <p:grpSpPr>
          <a:xfrm>
            <a:off x="690135" y="1800257"/>
            <a:ext cx="4256463" cy="2799201"/>
            <a:chOff x="8025702" y="2239643"/>
            <a:chExt cx="4114699" cy="3003206"/>
          </a:xfrm>
        </p:grpSpPr>
        <p:grpSp>
          <p:nvGrpSpPr>
            <p:cNvPr id="3" name="组合 2">
              <a:extLst>
                <a:ext uri="{FF2B5EF4-FFF2-40B4-BE49-F238E27FC236}">
                  <a16:creationId xmlns:a16="http://schemas.microsoft.com/office/drawing/2014/main" id="{403541B2-218A-4F29-98C1-DA390E1D18CE}"/>
                </a:ext>
              </a:extLst>
            </p:cNvPr>
            <p:cNvGrpSpPr/>
            <p:nvPr/>
          </p:nvGrpSpPr>
          <p:grpSpPr>
            <a:xfrm>
              <a:off x="8025702" y="2239643"/>
              <a:ext cx="4114699" cy="2997157"/>
              <a:chOff x="8025702" y="2239643"/>
              <a:chExt cx="4114699" cy="2997157"/>
            </a:xfrm>
          </p:grpSpPr>
          <p:pic>
            <p:nvPicPr>
              <p:cNvPr id="16" name="图片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02" y="2239643"/>
                <a:ext cx="4114699" cy="2535024"/>
              </a:xfrm>
              <a:prstGeom prst="rect">
                <a:avLst/>
              </a:prstGeom>
            </p:spPr>
          </p:pic>
          <p:sp>
            <p:nvSpPr>
              <p:cNvPr id="20" name="椭圆 19"/>
              <p:cNvSpPr/>
              <p:nvPr/>
            </p:nvSpPr>
            <p:spPr>
              <a:xfrm>
                <a:off x="8215677" y="4907922"/>
                <a:ext cx="167148" cy="159143"/>
              </a:xfrm>
              <a:prstGeom prst="ellipse">
                <a:avLst/>
              </a:prstGeom>
              <a:solidFill>
                <a:srgbClr val="FFCF46"/>
              </a:solidFill>
              <a:ln>
                <a:solidFill>
                  <a:srgbClr val="FFCF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8423145" y="4747069"/>
                <a:ext cx="3479520" cy="489731"/>
              </a:xfrm>
              <a:prstGeom prst="rect">
                <a:avLst/>
              </a:prstGeom>
              <a:noFill/>
            </p:spPr>
            <p:txBody>
              <a:bodyPr wrap="square" rtlCol="0">
                <a:spAutoFit/>
              </a:bodyPr>
              <a:lstStyle/>
              <a:p>
                <a:r>
                  <a:rPr lang="en-US" altLang="zh-CN" sz="2000" dirty="0"/>
                  <a:t>Observed </a:t>
                </a:r>
                <a:endParaRPr lang="zh-CN" altLang="en-US" sz="2000" dirty="0"/>
              </a:p>
            </p:txBody>
          </p:sp>
          <p:sp>
            <p:nvSpPr>
              <p:cNvPr id="34" name="椭圆 33"/>
              <p:cNvSpPr/>
              <p:nvPr/>
            </p:nvSpPr>
            <p:spPr>
              <a:xfrm>
                <a:off x="10162905" y="4917093"/>
                <a:ext cx="167148" cy="159143"/>
              </a:xfrm>
              <a:prstGeom prst="ellipse">
                <a:avLst/>
              </a:prstGeom>
              <a:solidFill>
                <a:srgbClr val="A9D18E"/>
              </a:solidFill>
              <a:ln>
                <a:solidFill>
                  <a:srgbClr val="A9D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文本框 34"/>
            <p:cNvSpPr txBox="1"/>
            <p:nvPr/>
          </p:nvSpPr>
          <p:spPr>
            <a:xfrm>
              <a:off x="10352880" y="4753118"/>
              <a:ext cx="1331120" cy="489731"/>
            </a:xfrm>
            <a:prstGeom prst="rect">
              <a:avLst/>
            </a:prstGeom>
            <a:noFill/>
          </p:spPr>
          <p:txBody>
            <a:bodyPr wrap="square" rtlCol="0">
              <a:spAutoFit/>
            </a:bodyPr>
            <a:lstStyle/>
            <a:p>
              <a:r>
                <a:rPr lang="en-US" altLang="zh-CN" sz="2000" dirty="0"/>
                <a:t>Missing </a:t>
              </a:r>
              <a:endParaRPr lang="zh-CN" altLang="en-US" sz="2000" dirty="0"/>
            </a:p>
          </p:txBody>
        </p:sp>
      </p:grpSp>
      <p:grpSp>
        <p:nvGrpSpPr>
          <p:cNvPr id="19" name="组合 18">
            <a:extLst>
              <a:ext uri="{FF2B5EF4-FFF2-40B4-BE49-F238E27FC236}">
                <a16:creationId xmlns:a16="http://schemas.microsoft.com/office/drawing/2014/main" id="{8D8FCC2E-66B2-40E5-B068-B14C04192889}"/>
              </a:ext>
            </a:extLst>
          </p:cNvPr>
          <p:cNvGrpSpPr/>
          <p:nvPr/>
        </p:nvGrpSpPr>
        <p:grpSpPr>
          <a:xfrm>
            <a:off x="5946018" y="2239413"/>
            <a:ext cx="5809631" cy="2196202"/>
            <a:chOff x="4629308" y="590541"/>
            <a:chExt cx="7179738" cy="3367098"/>
          </a:xfrm>
        </p:grpSpPr>
        <p:grpSp>
          <p:nvGrpSpPr>
            <p:cNvPr id="7" name="组合 6">
              <a:extLst>
                <a:ext uri="{FF2B5EF4-FFF2-40B4-BE49-F238E27FC236}">
                  <a16:creationId xmlns:a16="http://schemas.microsoft.com/office/drawing/2014/main" id="{39CB4E09-534E-4824-B6AC-145DC45AFEFE}"/>
                </a:ext>
              </a:extLst>
            </p:cNvPr>
            <p:cNvGrpSpPr/>
            <p:nvPr/>
          </p:nvGrpSpPr>
          <p:grpSpPr>
            <a:xfrm>
              <a:off x="4629308" y="590541"/>
              <a:ext cx="4114699" cy="3280228"/>
              <a:chOff x="5902787" y="1161143"/>
              <a:chExt cx="4114699" cy="3280228"/>
            </a:xfrm>
            <a:scene3d>
              <a:camera prst="isometricRightUp"/>
              <a:lightRig rig="threePt" dir="t"/>
            </a:scene3d>
          </p:grpSpPr>
          <p:grpSp>
            <p:nvGrpSpPr>
              <p:cNvPr id="30" name="组合 29">
                <a:extLst>
                  <a:ext uri="{FF2B5EF4-FFF2-40B4-BE49-F238E27FC236}">
                    <a16:creationId xmlns:a16="http://schemas.microsoft.com/office/drawing/2014/main" id="{430BCFCA-AB2C-4560-B8D9-FED4B50E86EF}"/>
                  </a:ext>
                </a:extLst>
              </p:cNvPr>
              <p:cNvGrpSpPr/>
              <p:nvPr/>
            </p:nvGrpSpPr>
            <p:grpSpPr>
              <a:xfrm>
                <a:off x="5902787" y="1357294"/>
                <a:ext cx="4114699" cy="2949423"/>
                <a:chOff x="8025702" y="2239643"/>
                <a:chExt cx="4114699" cy="2949423"/>
              </a:xfrm>
            </p:grpSpPr>
            <p:grpSp>
              <p:nvGrpSpPr>
                <p:cNvPr id="32" name="组合 31">
                  <a:extLst>
                    <a:ext uri="{FF2B5EF4-FFF2-40B4-BE49-F238E27FC236}">
                      <a16:creationId xmlns:a16="http://schemas.microsoft.com/office/drawing/2014/main" id="{9837EB7B-3B9A-4A0C-8722-FE89C6A6178B}"/>
                    </a:ext>
                  </a:extLst>
                </p:cNvPr>
                <p:cNvGrpSpPr/>
                <p:nvPr/>
              </p:nvGrpSpPr>
              <p:grpSpPr>
                <a:xfrm>
                  <a:off x="8025702" y="2239643"/>
                  <a:ext cx="4114699" cy="2943374"/>
                  <a:chOff x="8025702" y="2239643"/>
                  <a:chExt cx="4114699" cy="2943374"/>
                </a:xfrm>
              </p:grpSpPr>
              <p:pic>
                <p:nvPicPr>
                  <p:cNvPr id="40" name="图片 39">
                    <a:extLst>
                      <a:ext uri="{FF2B5EF4-FFF2-40B4-BE49-F238E27FC236}">
                        <a16:creationId xmlns:a16="http://schemas.microsoft.com/office/drawing/2014/main" id="{DCDAE0E3-62A1-4CAE-BBCB-BB8FC090E2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02" y="2239643"/>
                    <a:ext cx="4114699" cy="2535024"/>
                  </a:xfrm>
                  <a:prstGeom prst="rect">
                    <a:avLst/>
                  </a:prstGeom>
                </p:spPr>
              </p:pic>
              <p:sp>
                <p:nvSpPr>
                  <p:cNvPr id="41" name="椭圆 40">
                    <a:extLst>
                      <a:ext uri="{FF2B5EF4-FFF2-40B4-BE49-F238E27FC236}">
                        <a16:creationId xmlns:a16="http://schemas.microsoft.com/office/drawing/2014/main" id="{166FAF73-7D71-47DA-85A2-BBEAE94E9AF3}"/>
                      </a:ext>
                    </a:extLst>
                  </p:cNvPr>
                  <p:cNvSpPr/>
                  <p:nvPr/>
                </p:nvSpPr>
                <p:spPr>
                  <a:xfrm>
                    <a:off x="8215677" y="4907922"/>
                    <a:ext cx="167148" cy="159143"/>
                  </a:xfrm>
                  <a:prstGeom prst="ellipse">
                    <a:avLst/>
                  </a:prstGeom>
                  <a:solidFill>
                    <a:srgbClr val="FFCF46"/>
                  </a:solidFill>
                  <a:ln>
                    <a:solidFill>
                      <a:srgbClr val="FFCF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42" name="文本框 41">
                    <a:extLst>
                      <a:ext uri="{FF2B5EF4-FFF2-40B4-BE49-F238E27FC236}">
                        <a16:creationId xmlns:a16="http://schemas.microsoft.com/office/drawing/2014/main" id="{E6D6BD49-6D02-4744-BFC6-C0F7E3E69E9F}"/>
                      </a:ext>
                    </a:extLst>
                  </p:cNvPr>
                  <p:cNvSpPr txBox="1"/>
                  <p:nvPr/>
                </p:nvSpPr>
                <p:spPr>
                  <a:xfrm>
                    <a:off x="8423145" y="4747069"/>
                    <a:ext cx="3479520" cy="435948"/>
                  </a:xfrm>
                  <a:prstGeom prst="rect">
                    <a:avLst/>
                  </a:prstGeom>
                  <a:noFill/>
                </p:spPr>
                <p:txBody>
                  <a:bodyPr wrap="square" rtlCol="0">
                    <a:spAutoFit/>
                  </a:bodyPr>
                  <a:lstStyle/>
                  <a:p>
                    <a:r>
                      <a:rPr lang="en-US" altLang="zh-CN" sz="2000" dirty="0">
                        <a:solidFill>
                          <a:schemeClr val="bg1">
                            <a:lumMod val="75000"/>
                          </a:schemeClr>
                        </a:solidFill>
                      </a:rPr>
                      <a:t>Observed </a:t>
                    </a:r>
                    <a:endParaRPr lang="zh-CN" altLang="en-US" sz="2000" dirty="0">
                      <a:solidFill>
                        <a:schemeClr val="bg1">
                          <a:lumMod val="75000"/>
                        </a:schemeClr>
                      </a:solidFill>
                    </a:endParaRPr>
                  </a:p>
                </p:txBody>
              </p:sp>
              <p:sp>
                <p:nvSpPr>
                  <p:cNvPr id="43" name="椭圆 42">
                    <a:extLst>
                      <a:ext uri="{FF2B5EF4-FFF2-40B4-BE49-F238E27FC236}">
                        <a16:creationId xmlns:a16="http://schemas.microsoft.com/office/drawing/2014/main" id="{7151A743-19C1-443F-B728-A0FBD4FEA699}"/>
                      </a:ext>
                    </a:extLst>
                  </p:cNvPr>
                  <p:cNvSpPr/>
                  <p:nvPr/>
                </p:nvSpPr>
                <p:spPr>
                  <a:xfrm>
                    <a:off x="10162905" y="4917093"/>
                    <a:ext cx="167148" cy="159143"/>
                  </a:xfrm>
                  <a:prstGeom prst="ellipse">
                    <a:avLst/>
                  </a:prstGeom>
                  <a:solidFill>
                    <a:srgbClr val="A9D18E"/>
                  </a:solidFill>
                  <a:ln>
                    <a:solidFill>
                      <a:srgbClr val="A9D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36" name="文本框 35">
                  <a:extLst>
                    <a:ext uri="{FF2B5EF4-FFF2-40B4-BE49-F238E27FC236}">
                      <a16:creationId xmlns:a16="http://schemas.microsoft.com/office/drawing/2014/main" id="{2201F07D-7D5D-4CB1-98FB-BE3D8C4CA8CD}"/>
                    </a:ext>
                  </a:extLst>
                </p:cNvPr>
                <p:cNvSpPr txBox="1"/>
                <p:nvPr/>
              </p:nvSpPr>
              <p:spPr>
                <a:xfrm>
                  <a:off x="10352880" y="4753118"/>
                  <a:ext cx="1331120" cy="435948"/>
                </a:xfrm>
                <a:prstGeom prst="rect">
                  <a:avLst/>
                </a:prstGeom>
                <a:noFill/>
              </p:spPr>
              <p:txBody>
                <a:bodyPr wrap="square" rtlCol="0">
                  <a:spAutoFit/>
                </a:bodyPr>
                <a:lstStyle/>
                <a:p>
                  <a:r>
                    <a:rPr lang="en-US" altLang="zh-CN" sz="2000" dirty="0">
                      <a:solidFill>
                        <a:schemeClr val="bg1">
                          <a:lumMod val="75000"/>
                        </a:schemeClr>
                      </a:solidFill>
                    </a:rPr>
                    <a:t>Missing </a:t>
                  </a:r>
                  <a:endParaRPr lang="zh-CN" altLang="en-US" sz="2000" dirty="0">
                    <a:solidFill>
                      <a:schemeClr val="bg1">
                        <a:lumMod val="75000"/>
                      </a:schemeClr>
                    </a:solidFill>
                  </a:endParaRPr>
                </a:p>
              </p:txBody>
            </p:sp>
          </p:grpSp>
          <p:sp>
            <p:nvSpPr>
              <p:cNvPr id="6" name="矩形 5">
                <a:extLst>
                  <a:ext uri="{FF2B5EF4-FFF2-40B4-BE49-F238E27FC236}">
                    <a16:creationId xmlns:a16="http://schemas.microsoft.com/office/drawing/2014/main" id="{1838B742-F903-4AF5-9313-C41B0B0D90CE}"/>
                  </a:ext>
                </a:extLst>
              </p:cNvPr>
              <p:cNvSpPr/>
              <p:nvPr/>
            </p:nvSpPr>
            <p:spPr>
              <a:xfrm>
                <a:off x="5902787" y="1161143"/>
                <a:ext cx="4114699" cy="3280228"/>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45" name="组合 44">
              <a:extLst>
                <a:ext uri="{FF2B5EF4-FFF2-40B4-BE49-F238E27FC236}">
                  <a16:creationId xmlns:a16="http://schemas.microsoft.com/office/drawing/2014/main" id="{05B1E481-8B3A-44E1-AD1A-0386FC751C0B}"/>
                </a:ext>
              </a:extLst>
            </p:cNvPr>
            <p:cNvGrpSpPr/>
            <p:nvPr/>
          </p:nvGrpSpPr>
          <p:grpSpPr>
            <a:xfrm>
              <a:off x="5026751" y="628790"/>
              <a:ext cx="4114699" cy="3280228"/>
              <a:chOff x="5902787" y="1161143"/>
              <a:chExt cx="4114699" cy="3280228"/>
            </a:xfrm>
            <a:scene3d>
              <a:camera prst="isometricRightUp"/>
              <a:lightRig rig="threePt" dir="t"/>
            </a:scene3d>
          </p:grpSpPr>
          <p:grpSp>
            <p:nvGrpSpPr>
              <p:cNvPr id="46" name="组合 45">
                <a:extLst>
                  <a:ext uri="{FF2B5EF4-FFF2-40B4-BE49-F238E27FC236}">
                    <a16:creationId xmlns:a16="http://schemas.microsoft.com/office/drawing/2014/main" id="{C7F9DD48-9EBA-4512-84AC-9BF8B0CDB124}"/>
                  </a:ext>
                </a:extLst>
              </p:cNvPr>
              <p:cNvGrpSpPr/>
              <p:nvPr/>
            </p:nvGrpSpPr>
            <p:grpSpPr>
              <a:xfrm>
                <a:off x="5902787" y="1357294"/>
                <a:ext cx="4114699" cy="2949423"/>
                <a:chOff x="8025702" y="2239643"/>
                <a:chExt cx="4114699" cy="2949423"/>
              </a:xfrm>
            </p:grpSpPr>
            <p:grpSp>
              <p:nvGrpSpPr>
                <p:cNvPr id="48" name="组合 47">
                  <a:extLst>
                    <a:ext uri="{FF2B5EF4-FFF2-40B4-BE49-F238E27FC236}">
                      <a16:creationId xmlns:a16="http://schemas.microsoft.com/office/drawing/2014/main" id="{7C65E584-2359-402F-A35C-E842EB7ADD11}"/>
                    </a:ext>
                  </a:extLst>
                </p:cNvPr>
                <p:cNvGrpSpPr/>
                <p:nvPr/>
              </p:nvGrpSpPr>
              <p:grpSpPr>
                <a:xfrm>
                  <a:off x="8025702" y="2239643"/>
                  <a:ext cx="4114699" cy="2943374"/>
                  <a:chOff x="8025702" y="2239643"/>
                  <a:chExt cx="4114699" cy="2943374"/>
                </a:xfrm>
              </p:grpSpPr>
              <p:pic>
                <p:nvPicPr>
                  <p:cNvPr id="50" name="图片 49">
                    <a:extLst>
                      <a:ext uri="{FF2B5EF4-FFF2-40B4-BE49-F238E27FC236}">
                        <a16:creationId xmlns:a16="http://schemas.microsoft.com/office/drawing/2014/main" id="{08EE0616-E35B-4A2C-868E-073FA437CF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02" y="2239643"/>
                    <a:ext cx="4114699" cy="2535024"/>
                  </a:xfrm>
                  <a:prstGeom prst="rect">
                    <a:avLst/>
                  </a:prstGeom>
                </p:spPr>
              </p:pic>
              <p:sp>
                <p:nvSpPr>
                  <p:cNvPr id="51" name="椭圆 50">
                    <a:extLst>
                      <a:ext uri="{FF2B5EF4-FFF2-40B4-BE49-F238E27FC236}">
                        <a16:creationId xmlns:a16="http://schemas.microsoft.com/office/drawing/2014/main" id="{56D9EA6C-CEDD-44E3-940D-504F28FB5C21}"/>
                      </a:ext>
                    </a:extLst>
                  </p:cNvPr>
                  <p:cNvSpPr/>
                  <p:nvPr/>
                </p:nvSpPr>
                <p:spPr>
                  <a:xfrm>
                    <a:off x="8215677" y="4907922"/>
                    <a:ext cx="167148" cy="159143"/>
                  </a:xfrm>
                  <a:prstGeom prst="ellipse">
                    <a:avLst/>
                  </a:prstGeom>
                  <a:solidFill>
                    <a:srgbClr val="FFCF46"/>
                  </a:solidFill>
                  <a:ln>
                    <a:solidFill>
                      <a:srgbClr val="FFCF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2" name="文本框 51">
                    <a:extLst>
                      <a:ext uri="{FF2B5EF4-FFF2-40B4-BE49-F238E27FC236}">
                        <a16:creationId xmlns:a16="http://schemas.microsoft.com/office/drawing/2014/main" id="{8586C0A2-5999-487D-8667-B939CED67591}"/>
                      </a:ext>
                    </a:extLst>
                  </p:cNvPr>
                  <p:cNvSpPr txBox="1"/>
                  <p:nvPr/>
                </p:nvSpPr>
                <p:spPr>
                  <a:xfrm>
                    <a:off x="8423145" y="4747069"/>
                    <a:ext cx="3479520" cy="435948"/>
                  </a:xfrm>
                  <a:prstGeom prst="rect">
                    <a:avLst/>
                  </a:prstGeom>
                  <a:noFill/>
                </p:spPr>
                <p:txBody>
                  <a:bodyPr wrap="square" rtlCol="0">
                    <a:spAutoFit/>
                  </a:bodyPr>
                  <a:lstStyle/>
                  <a:p>
                    <a:r>
                      <a:rPr lang="en-US" altLang="zh-CN" sz="2000" dirty="0">
                        <a:solidFill>
                          <a:schemeClr val="bg1">
                            <a:lumMod val="75000"/>
                          </a:schemeClr>
                        </a:solidFill>
                      </a:rPr>
                      <a:t>Observed </a:t>
                    </a:r>
                    <a:endParaRPr lang="zh-CN" altLang="en-US" sz="2000" dirty="0">
                      <a:solidFill>
                        <a:schemeClr val="bg1">
                          <a:lumMod val="75000"/>
                        </a:schemeClr>
                      </a:solidFill>
                    </a:endParaRPr>
                  </a:p>
                </p:txBody>
              </p:sp>
              <p:sp>
                <p:nvSpPr>
                  <p:cNvPr id="53" name="椭圆 52">
                    <a:extLst>
                      <a:ext uri="{FF2B5EF4-FFF2-40B4-BE49-F238E27FC236}">
                        <a16:creationId xmlns:a16="http://schemas.microsoft.com/office/drawing/2014/main" id="{2F7E1CCD-584B-4142-8874-07F1B490F6D2}"/>
                      </a:ext>
                    </a:extLst>
                  </p:cNvPr>
                  <p:cNvSpPr/>
                  <p:nvPr/>
                </p:nvSpPr>
                <p:spPr>
                  <a:xfrm>
                    <a:off x="10162905" y="4917093"/>
                    <a:ext cx="167148" cy="159143"/>
                  </a:xfrm>
                  <a:prstGeom prst="ellipse">
                    <a:avLst/>
                  </a:prstGeom>
                  <a:solidFill>
                    <a:srgbClr val="A9D18E"/>
                  </a:solidFill>
                  <a:ln>
                    <a:solidFill>
                      <a:srgbClr val="A9D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49" name="文本框 48">
                  <a:extLst>
                    <a:ext uri="{FF2B5EF4-FFF2-40B4-BE49-F238E27FC236}">
                      <a16:creationId xmlns:a16="http://schemas.microsoft.com/office/drawing/2014/main" id="{08D49E68-456E-404D-914F-EE44AC520615}"/>
                    </a:ext>
                  </a:extLst>
                </p:cNvPr>
                <p:cNvSpPr txBox="1"/>
                <p:nvPr/>
              </p:nvSpPr>
              <p:spPr>
                <a:xfrm>
                  <a:off x="10352880" y="4753118"/>
                  <a:ext cx="1331120" cy="435948"/>
                </a:xfrm>
                <a:prstGeom prst="rect">
                  <a:avLst/>
                </a:prstGeom>
                <a:noFill/>
              </p:spPr>
              <p:txBody>
                <a:bodyPr wrap="square" rtlCol="0">
                  <a:spAutoFit/>
                </a:bodyPr>
                <a:lstStyle/>
                <a:p>
                  <a:r>
                    <a:rPr lang="en-US" altLang="zh-CN" sz="2000" dirty="0">
                      <a:solidFill>
                        <a:schemeClr val="bg1">
                          <a:lumMod val="75000"/>
                        </a:schemeClr>
                      </a:solidFill>
                    </a:rPr>
                    <a:t>Missing </a:t>
                  </a:r>
                  <a:endParaRPr lang="zh-CN" altLang="en-US" sz="2000" dirty="0">
                    <a:solidFill>
                      <a:schemeClr val="bg1">
                        <a:lumMod val="75000"/>
                      </a:schemeClr>
                    </a:solidFill>
                  </a:endParaRPr>
                </a:p>
              </p:txBody>
            </p:sp>
          </p:grpSp>
          <p:sp>
            <p:nvSpPr>
              <p:cNvPr id="47" name="矩形 46">
                <a:extLst>
                  <a:ext uri="{FF2B5EF4-FFF2-40B4-BE49-F238E27FC236}">
                    <a16:creationId xmlns:a16="http://schemas.microsoft.com/office/drawing/2014/main" id="{9925FD10-016A-4792-9CAA-810B649B9C05}"/>
                  </a:ext>
                </a:extLst>
              </p:cNvPr>
              <p:cNvSpPr/>
              <p:nvPr/>
            </p:nvSpPr>
            <p:spPr>
              <a:xfrm>
                <a:off x="5902787" y="1161143"/>
                <a:ext cx="4114699" cy="3280228"/>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54" name="组合 53">
              <a:extLst>
                <a:ext uri="{FF2B5EF4-FFF2-40B4-BE49-F238E27FC236}">
                  <a16:creationId xmlns:a16="http://schemas.microsoft.com/office/drawing/2014/main" id="{EF2D4E6C-647B-489B-A476-EE939B9D181F}"/>
                </a:ext>
              </a:extLst>
            </p:cNvPr>
            <p:cNvGrpSpPr/>
            <p:nvPr/>
          </p:nvGrpSpPr>
          <p:grpSpPr>
            <a:xfrm>
              <a:off x="5543581" y="612583"/>
              <a:ext cx="4114699" cy="3280228"/>
              <a:chOff x="5902787" y="1161143"/>
              <a:chExt cx="4114699" cy="3280228"/>
            </a:xfrm>
            <a:scene3d>
              <a:camera prst="isometricRightUp"/>
              <a:lightRig rig="threePt" dir="t"/>
            </a:scene3d>
          </p:grpSpPr>
          <p:grpSp>
            <p:nvGrpSpPr>
              <p:cNvPr id="55" name="组合 54">
                <a:extLst>
                  <a:ext uri="{FF2B5EF4-FFF2-40B4-BE49-F238E27FC236}">
                    <a16:creationId xmlns:a16="http://schemas.microsoft.com/office/drawing/2014/main" id="{B978665B-FDDB-479A-A05C-641161E81BE6}"/>
                  </a:ext>
                </a:extLst>
              </p:cNvPr>
              <p:cNvGrpSpPr/>
              <p:nvPr/>
            </p:nvGrpSpPr>
            <p:grpSpPr>
              <a:xfrm>
                <a:off x="5902787" y="1357294"/>
                <a:ext cx="4114699" cy="2949423"/>
                <a:chOff x="8025702" y="2239643"/>
                <a:chExt cx="4114699" cy="2949423"/>
              </a:xfrm>
            </p:grpSpPr>
            <p:grpSp>
              <p:nvGrpSpPr>
                <p:cNvPr id="57" name="组合 56">
                  <a:extLst>
                    <a:ext uri="{FF2B5EF4-FFF2-40B4-BE49-F238E27FC236}">
                      <a16:creationId xmlns:a16="http://schemas.microsoft.com/office/drawing/2014/main" id="{9EF78AA0-FF13-4357-9CB0-1E3FA4DA8469}"/>
                    </a:ext>
                  </a:extLst>
                </p:cNvPr>
                <p:cNvGrpSpPr/>
                <p:nvPr/>
              </p:nvGrpSpPr>
              <p:grpSpPr>
                <a:xfrm>
                  <a:off x="8025702" y="2239643"/>
                  <a:ext cx="4114699" cy="2943374"/>
                  <a:chOff x="8025702" y="2239643"/>
                  <a:chExt cx="4114699" cy="2943374"/>
                </a:xfrm>
              </p:grpSpPr>
              <p:pic>
                <p:nvPicPr>
                  <p:cNvPr id="59" name="图片 58">
                    <a:extLst>
                      <a:ext uri="{FF2B5EF4-FFF2-40B4-BE49-F238E27FC236}">
                        <a16:creationId xmlns:a16="http://schemas.microsoft.com/office/drawing/2014/main" id="{FCFF7024-487A-4631-9F00-A2AEA1A77E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02" y="2239643"/>
                    <a:ext cx="4114699" cy="2535024"/>
                  </a:xfrm>
                  <a:prstGeom prst="rect">
                    <a:avLst/>
                  </a:prstGeom>
                </p:spPr>
              </p:pic>
              <p:sp>
                <p:nvSpPr>
                  <p:cNvPr id="60" name="椭圆 59">
                    <a:extLst>
                      <a:ext uri="{FF2B5EF4-FFF2-40B4-BE49-F238E27FC236}">
                        <a16:creationId xmlns:a16="http://schemas.microsoft.com/office/drawing/2014/main" id="{7A3D467D-584D-4EAD-BDC8-F7E76DDA2708}"/>
                      </a:ext>
                    </a:extLst>
                  </p:cNvPr>
                  <p:cNvSpPr/>
                  <p:nvPr/>
                </p:nvSpPr>
                <p:spPr>
                  <a:xfrm>
                    <a:off x="8215677" y="4907922"/>
                    <a:ext cx="167148" cy="159143"/>
                  </a:xfrm>
                  <a:prstGeom prst="ellipse">
                    <a:avLst/>
                  </a:prstGeom>
                  <a:solidFill>
                    <a:srgbClr val="FFCF46"/>
                  </a:solidFill>
                  <a:ln>
                    <a:solidFill>
                      <a:srgbClr val="FFCF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1" name="文本框 60">
                    <a:extLst>
                      <a:ext uri="{FF2B5EF4-FFF2-40B4-BE49-F238E27FC236}">
                        <a16:creationId xmlns:a16="http://schemas.microsoft.com/office/drawing/2014/main" id="{4880B58A-844C-4A62-8605-1A3CAEE936A7}"/>
                      </a:ext>
                    </a:extLst>
                  </p:cNvPr>
                  <p:cNvSpPr txBox="1"/>
                  <p:nvPr/>
                </p:nvSpPr>
                <p:spPr>
                  <a:xfrm>
                    <a:off x="8423145" y="4747069"/>
                    <a:ext cx="3479520" cy="435948"/>
                  </a:xfrm>
                  <a:prstGeom prst="rect">
                    <a:avLst/>
                  </a:prstGeom>
                  <a:noFill/>
                </p:spPr>
                <p:txBody>
                  <a:bodyPr wrap="square" rtlCol="0">
                    <a:spAutoFit/>
                  </a:bodyPr>
                  <a:lstStyle/>
                  <a:p>
                    <a:r>
                      <a:rPr lang="en-US" altLang="zh-CN" sz="2000" dirty="0">
                        <a:solidFill>
                          <a:schemeClr val="bg1">
                            <a:lumMod val="75000"/>
                          </a:schemeClr>
                        </a:solidFill>
                      </a:rPr>
                      <a:t>Observed </a:t>
                    </a:r>
                    <a:endParaRPr lang="zh-CN" altLang="en-US" sz="2000" dirty="0">
                      <a:solidFill>
                        <a:schemeClr val="bg1">
                          <a:lumMod val="75000"/>
                        </a:schemeClr>
                      </a:solidFill>
                    </a:endParaRPr>
                  </a:p>
                </p:txBody>
              </p:sp>
              <p:sp>
                <p:nvSpPr>
                  <p:cNvPr id="62" name="椭圆 61">
                    <a:extLst>
                      <a:ext uri="{FF2B5EF4-FFF2-40B4-BE49-F238E27FC236}">
                        <a16:creationId xmlns:a16="http://schemas.microsoft.com/office/drawing/2014/main" id="{30FCB736-2710-4C5B-8361-6FF9ACD0C194}"/>
                      </a:ext>
                    </a:extLst>
                  </p:cNvPr>
                  <p:cNvSpPr/>
                  <p:nvPr/>
                </p:nvSpPr>
                <p:spPr>
                  <a:xfrm>
                    <a:off x="10162905" y="4917093"/>
                    <a:ext cx="167148" cy="159143"/>
                  </a:xfrm>
                  <a:prstGeom prst="ellipse">
                    <a:avLst/>
                  </a:prstGeom>
                  <a:solidFill>
                    <a:srgbClr val="A9D18E"/>
                  </a:solidFill>
                  <a:ln>
                    <a:solidFill>
                      <a:srgbClr val="A9D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58" name="文本框 57">
                  <a:extLst>
                    <a:ext uri="{FF2B5EF4-FFF2-40B4-BE49-F238E27FC236}">
                      <a16:creationId xmlns:a16="http://schemas.microsoft.com/office/drawing/2014/main" id="{DEF94681-4C3A-4D7A-B13D-9AEC7D12D185}"/>
                    </a:ext>
                  </a:extLst>
                </p:cNvPr>
                <p:cNvSpPr txBox="1"/>
                <p:nvPr/>
              </p:nvSpPr>
              <p:spPr>
                <a:xfrm>
                  <a:off x="10352880" y="4753118"/>
                  <a:ext cx="1331120" cy="435948"/>
                </a:xfrm>
                <a:prstGeom prst="rect">
                  <a:avLst/>
                </a:prstGeom>
                <a:noFill/>
              </p:spPr>
              <p:txBody>
                <a:bodyPr wrap="square" rtlCol="0">
                  <a:spAutoFit/>
                </a:bodyPr>
                <a:lstStyle/>
                <a:p>
                  <a:r>
                    <a:rPr lang="en-US" altLang="zh-CN" sz="2000" dirty="0">
                      <a:solidFill>
                        <a:schemeClr val="bg1">
                          <a:lumMod val="75000"/>
                        </a:schemeClr>
                      </a:solidFill>
                    </a:rPr>
                    <a:t>Missing </a:t>
                  </a:r>
                  <a:endParaRPr lang="zh-CN" altLang="en-US" sz="2000" dirty="0">
                    <a:solidFill>
                      <a:schemeClr val="bg1">
                        <a:lumMod val="75000"/>
                      </a:schemeClr>
                    </a:solidFill>
                  </a:endParaRPr>
                </a:p>
              </p:txBody>
            </p:sp>
          </p:grpSp>
          <p:sp>
            <p:nvSpPr>
              <p:cNvPr id="56" name="矩形 55">
                <a:extLst>
                  <a:ext uri="{FF2B5EF4-FFF2-40B4-BE49-F238E27FC236}">
                    <a16:creationId xmlns:a16="http://schemas.microsoft.com/office/drawing/2014/main" id="{84364D20-9C41-4E46-826A-A0F160562A15}"/>
                  </a:ext>
                </a:extLst>
              </p:cNvPr>
              <p:cNvSpPr/>
              <p:nvPr/>
            </p:nvSpPr>
            <p:spPr>
              <a:xfrm>
                <a:off x="5902787" y="1161143"/>
                <a:ext cx="4114699" cy="3280228"/>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63" name="组合 62">
              <a:extLst>
                <a:ext uri="{FF2B5EF4-FFF2-40B4-BE49-F238E27FC236}">
                  <a16:creationId xmlns:a16="http://schemas.microsoft.com/office/drawing/2014/main" id="{76BDB2BF-90B6-4253-A59C-1B1BEE1A5D37}"/>
                </a:ext>
              </a:extLst>
            </p:cNvPr>
            <p:cNvGrpSpPr/>
            <p:nvPr/>
          </p:nvGrpSpPr>
          <p:grpSpPr>
            <a:xfrm>
              <a:off x="6044382" y="644997"/>
              <a:ext cx="4114699" cy="3280228"/>
              <a:chOff x="5902787" y="1161143"/>
              <a:chExt cx="4114699" cy="3280228"/>
            </a:xfrm>
            <a:scene3d>
              <a:camera prst="isometricRightUp"/>
              <a:lightRig rig="threePt" dir="t"/>
            </a:scene3d>
          </p:grpSpPr>
          <p:grpSp>
            <p:nvGrpSpPr>
              <p:cNvPr id="64" name="组合 63">
                <a:extLst>
                  <a:ext uri="{FF2B5EF4-FFF2-40B4-BE49-F238E27FC236}">
                    <a16:creationId xmlns:a16="http://schemas.microsoft.com/office/drawing/2014/main" id="{DDC184B4-BB3B-496E-A2C7-D5079C5F83ED}"/>
                  </a:ext>
                </a:extLst>
              </p:cNvPr>
              <p:cNvGrpSpPr/>
              <p:nvPr/>
            </p:nvGrpSpPr>
            <p:grpSpPr>
              <a:xfrm>
                <a:off x="5902787" y="1357294"/>
                <a:ext cx="4114699" cy="2949423"/>
                <a:chOff x="8025702" y="2239643"/>
                <a:chExt cx="4114699" cy="2949423"/>
              </a:xfrm>
            </p:grpSpPr>
            <p:grpSp>
              <p:nvGrpSpPr>
                <p:cNvPr id="66" name="组合 65">
                  <a:extLst>
                    <a:ext uri="{FF2B5EF4-FFF2-40B4-BE49-F238E27FC236}">
                      <a16:creationId xmlns:a16="http://schemas.microsoft.com/office/drawing/2014/main" id="{BDAA74CE-3191-46A7-A92B-76E82D4694F0}"/>
                    </a:ext>
                  </a:extLst>
                </p:cNvPr>
                <p:cNvGrpSpPr/>
                <p:nvPr/>
              </p:nvGrpSpPr>
              <p:grpSpPr>
                <a:xfrm>
                  <a:off x="8025702" y="2239643"/>
                  <a:ext cx="4114699" cy="2943374"/>
                  <a:chOff x="8025702" y="2239643"/>
                  <a:chExt cx="4114699" cy="2943374"/>
                </a:xfrm>
              </p:grpSpPr>
              <p:pic>
                <p:nvPicPr>
                  <p:cNvPr id="68" name="图片 67">
                    <a:extLst>
                      <a:ext uri="{FF2B5EF4-FFF2-40B4-BE49-F238E27FC236}">
                        <a16:creationId xmlns:a16="http://schemas.microsoft.com/office/drawing/2014/main" id="{F9C5B816-002D-4A48-B003-E8F2CDC139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02" y="2239643"/>
                    <a:ext cx="4114699" cy="2535024"/>
                  </a:xfrm>
                  <a:prstGeom prst="rect">
                    <a:avLst/>
                  </a:prstGeom>
                </p:spPr>
              </p:pic>
              <p:sp>
                <p:nvSpPr>
                  <p:cNvPr id="69" name="椭圆 68">
                    <a:extLst>
                      <a:ext uri="{FF2B5EF4-FFF2-40B4-BE49-F238E27FC236}">
                        <a16:creationId xmlns:a16="http://schemas.microsoft.com/office/drawing/2014/main" id="{F2CE2ED3-C311-45D5-A657-03C654A6D1E4}"/>
                      </a:ext>
                    </a:extLst>
                  </p:cNvPr>
                  <p:cNvSpPr/>
                  <p:nvPr/>
                </p:nvSpPr>
                <p:spPr>
                  <a:xfrm>
                    <a:off x="8215677" y="4907922"/>
                    <a:ext cx="167148" cy="159143"/>
                  </a:xfrm>
                  <a:prstGeom prst="ellipse">
                    <a:avLst/>
                  </a:prstGeom>
                  <a:solidFill>
                    <a:srgbClr val="FFCF46"/>
                  </a:solidFill>
                  <a:ln>
                    <a:solidFill>
                      <a:srgbClr val="FFCF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0" name="文本框 69">
                    <a:extLst>
                      <a:ext uri="{FF2B5EF4-FFF2-40B4-BE49-F238E27FC236}">
                        <a16:creationId xmlns:a16="http://schemas.microsoft.com/office/drawing/2014/main" id="{232F33F4-5D0A-4EBB-A430-9990BFA41D6A}"/>
                      </a:ext>
                    </a:extLst>
                  </p:cNvPr>
                  <p:cNvSpPr txBox="1"/>
                  <p:nvPr/>
                </p:nvSpPr>
                <p:spPr>
                  <a:xfrm>
                    <a:off x="8423145" y="4747069"/>
                    <a:ext cx="3479520" cy="435948"/>
                  </a:xfrm>
                  <a:prstGeom prst="rect">
                    <a:avLst/>
                  </a:prstGeom>
                  <a:noFill/>
                </p:spPr>
                <p:txBody>
                  <a:bodyPr wrap="square" rtlCol="0">
                    <a:spAutoFit/>
                  </a:bodyPr>
                  <a:lstStyle/>
                  <a:p>
                    <a:r>
                      <a:rPr lang="en-US" altLang="zh-CN" sz="2000" dirty="0">
                        <a:solidFill>
                          <a:schemeClr val="bg1">
                            <a:lumMod val="75000"/>
                          </a:schemeClr>
                        </a:solidFill>
                      </a:rPr>
                      <a:t>Observed </a:t>
                    </a:r>
                    <a:endParaRPr lang="zh-CN" altLang="en-US" sz="2000" dirty="0">
                      <a:solidFill>
                        <a:schemeClr val="bg1">
                          <a:lumMod val="75000"/>
                        </a:schemeClr>
                      </a:solidFill>
                    </a:endParaRPr>
                  </a:p>
                </p:txBody>
              </p:sp>
              <p:sp>
                <p:nvSpPr>
                  <p:cNvPr id="71" name="椭圆 70">
                    <a:extLst>
                      <a:ext uri="{FF2B5EF4-FFF2-40B4-BE49-F238E27FC236}">
                        <a16:creationId xmlns:a16="http://schemas.microsoft.com/office/drawing/2014/main" id="{896D5C94-DE21-448A-AA31-38E2E47732BA}"/>
                      </a:ext>
                    </a:extLst>
                  </p:cNvPr>
                  <p:cNvSpPr/>
                  <p:nvPr/>
                </p:nvSpPr>
                <p:spPr>
                  <a:xfrm>
                    <a:off x="10162905" y="4917093"/>
                    <a:ext cx="167148" cy="159143"/>
                  </a:xfrm>
                  <a:prstGeom prst="ellipse">
                    <a:avLst/>
                  </a:prstGeom>
                  <a:solidFill>
                    <a:srgbClr val="A9D18E"/>
                  </a:solidFill>
                  <a:ln>
                    <a:solidFill>
                      <a:srgbClr val="A9D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67" name="文本框 66">
                  <a:extLst>
                    <a:ext uri="{FF2B5EF4-FFF2-40B4-BE49-F238E27FC236}">
                      <a16:creationId xmlns:a16="http://schemas.microsoft.com/office/drawing/2014/main" id="{47081948-AFBA-4F3C-9B1A-09B9C12E1367}"/>
                    </a:ext>
                  </a:extLst>
                </p:cNvPr>
                <p:cNvSpPr txBox="1"/>
                <p:nvPr/>
              </p:nvSpPr>
              <p:spPr>
                <a:xfrm>
                  <a:off x="10352880" y="4753118"/>
                  <a:ext cx="1331120" cy="435948"/>
                </a:xfrm>
                <a:prstGeom prst="rect">
                  <a:avLst/>
                </a:prstGeom>
                <a:noFill/>
              </p:spPr>
              <p:txBody>
                <a:bodyPr wrap="square" rtlCol="0">
                  <a:spAutoFit/>
                </a:bodyPr>
                <a:lstStyle/>
                <a:p>
                  <a:r>
                    <a:rPr lang="en-US" altLang="zh-CN" sz="2000" dirty="0">
                      <a:solidFill>
                        <a:schemeClr val="bg1">
                          <a:lumMod val="75000"/>
                        </a:schemeClr>
                      </a:solidFill>
                    </a:rPr>
                    <a:t>Missing </a:t>
                  </a:r>
                  <a:endParaRPr lang="zh-CN" altLang="en-US" sz="2000" dirty="0">
                    <a:solidFill>
                      <a:schemeClr val="bg1">
                        <a:lumMod val="75000"/>
                      </a:schemeClr>
                    </a:solidFill>
                  </a:endParaRPr>
                </a:p>
              </p:txBody>
            </p:sp>
          </p:grpSp>
          <p:sp>
            <p:nvSpPr>
              <p:cNvPr id="65" name="矩形 64">
                <a:extLst>
                  <a:ext uri="{FF2B5EF4-FFF2-40B4-BE49-F238E27FC236}">
                    <a16:creationId xmlns:a16="http://schemas.microsoft.com/office/drawing/2014/main" id="{31397B45-5D06-43DB-A875-A47F37CBE3ED}"/>
                  </a:ext>
                </a:extLst>
              </p:cNvPr>
              <p:cNvSpPr/>
              <p:nvPr/>
            </p:nvSpPr>
            <p:spPr>
              <a:xfrm>
                <a:off x="5902787" y="1161143"/>
                <a:ext cx="4114699" cy="3280228"/>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72" name="组合 71">
              <a:extLst>
                <a:ext uri="{FF2B5EF4-FFF2-40B4-BE49-F238E27FC236}">
                  <a16:creationId xmlns:a16="http://schemas.microsoft.com/office/drawing/2014/main" id="{5FAA6083-ADF2-49C2-87C5-C9DC2D1C32DC}"/>
                </a:ext>
              </a:extLst>
            </p:cNvPr>
            <p:cNvGrpSpPr/>
            <p:nvPr/>
          </p:nvGrpSpPr>
          <p:grpSpPr>
            <a:xfrm>
              <a:off x="6506903" y="644997"/>
              <a:ext cx="4114699" cy="3280228"/>
              <a:chOff x="5902787" y="1161143"/>
              <a:chExt cx="4114699" cy="3280228"/>
            </a:xfrm>
            <a:scene3d>
              <a:camera prst="isometricRightUp"/>
              <a:lightRig rig="threePt" dir="t"/>
            </a:scene3d>
          </p:grpSpPr>
          <p:grpSp>
            <p:nvGrpSpPr>
              <p:cNvPr id="73" name="组合 72">
                <a:extLst>
                  <a:ext uri="{FF2B5EF4-FFF2-40B4-BE49-F238E27FC236}">
                    <a16:creationId xmlns:a16="http://schemas.microsoft.com/office/drawing/2014/main" id="{3757BF4B-0B99-4252-9E02-11EC8A16A407}"/>
                  </a:ext>
                </a:extLst>
              </p:cNvPr>
              <p:cNvGrpSpPr/>
              <p:nvPr/>
            </p:nvGrpSpPr>
            <p:grpSpPr>
              <a:xfrm>
                <a:off x="5902787" y="1357294"/>
                <a:ext cx="4114699" cy="2949423"/>
                <a:chOff x="8025702" y="2239643"/>
                <a:chExt cx="4114699" cy="2949423"/>
              </a:xfrm>
            </p:grpSpPr>
            <p:grpSp>
              <p:nvGrpSpPr>
                <p:cNvPr id="75" name="组合 74">
                  <a:extLst>
                    <a:ext uri="{FF2B5EF4-FFF2-40B4-BE49-F238E27FC236}">
                      <a16:creationId xmlns:a16="http://schemas.microsoft.com/office/drawing/2014/main" id="{1F77DE40-B921-45FF-B62F-43B1AD6E274F}"/>
                    </a:ext>
                  </a:extLst>
                </p:cNvPr>
                <p:cNvGrpSpPr/>
                <p:nvPr/>
              </p:nvGrpSpPr>
              <p:grpSpPr>
                <a:xfrm>
                  <a:off x="8025702" y="2239643"/>
                  <a:ext cx="4114699" cy="2943374"/>
                  <a:chOff x="8025702" y="2239643"/>
                  <a:chExt cx="4114699" cy="2943374"/>
                </a:xfrm>
              </p:grpSpPr>
              <p:pic>
                <p:nvPicPr>
                  <p:cNvPr id="77" name="图片 76">
                    <a:extLst>
                      <a:ext uri="{FF2B5EF4-FFF2-40B4-BE49-F238E27FC236}">
                        <a16:creationId xmlns:a16="http://schemas.microsoft.com/office/drawing/2014/main" id="{87E0D1A8-EADF-45E9-894E-ECDD6ABF2C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02" y="2239643"/>
                    <a:ext cx="4114699" cy="2535024"/>
                  </a:xfrm>
                  <a:prstGeom prst="rect">
                    <a:avLst/>
                  </a:prstGeom>
                </p:spPr>
              </p:pic>
              <p:sp>
                <p:nvSpPr>
                  <p:cNvPr id="78" name="椭圆 77">
                    <a:extLst>
                      <a:ext uri="{FF2B5EF4-FFF2-40B4-BE49-F238E27FC236}">
                        <a16:creationId xmlns:a16="http://schemas.microsoft.com/office/drawing/2014/main" id="{27B82383-B461-4D37-8A24-6017EC80DA3C}"/>
                      </a:ext>
                    </a:extLst>
                  </p:cNvPr>
                  <p:cNvSpPr/>
                  <p:nvPr/>
                </p:nvSpPr>
                <p:spPr>
                  <a:xfrm>
                    <a:off x="8215677" y="4907922"/>
                    <a:ext cx="167148" cy="159143"/>
                  </a:xfrm>
                  <a:prstGeom prst="ellipse">
                    <a:avLst/>
                  </a:prstGeom>
                  <a:solidFill>
                    <a:srgbClr val="FFCF46"/>
                  </a:solidFill>
                  <a:ln>
                    <a:solidFill>
                      <a:srgbClr val="FFCF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79" name="文本框 78">
                    <a:extLst>
                      <a:ext uri="{FF2B5EF4-FFF2-40B4-BE49-F238E27FC236}">
                        <a16:creationId xmlns:a16="http://schemas.microsoft.com/office/drawing/2014/main" id="{215DD211-2EB3-4BDD-A342-2A15FA5E2049}"/>
                      </a:ext>
                    </a:extLst>
                  </p:cNvPr>
                  <p:cNvSpPr txBox="1"/>
                  <p:nvPr/>
                </p:nvSpPr>
                <p:spPr>
                  <a:xfrm>
                    <a:off x="8423145" y="4747069"/>
                    <a:ext cx="3479520" cy="435948"/>
                  </a:xfrm>
                  <a:prstGeom prst="rect">
                    <a:avLst/>
                  </a:prstGeom>
                  <a:noFill/>
                </p:spPr>
                <p:txBody>
                  <a:bodyPr wrap="square" rtlCol="0">
                    <a:spAutoFit/>
                  </a:bodyPr>
                  <a:lstStyle/>
                  <a:p>
                    <a:r>
                      <a:rPr lang="en-US" altLang="zh-CN" sz="2000" dirty="0">
                        <a:solidFill>
                          <a:schemeClr val="bg1">
                            <a:lumMod val="75000"/>
                          </a:schemeClr>
                        </a:solidFill>
                      </a:rPr>
                      <a:t>Observed </a:t>
                    </a:r>
                    <a:endParaRPr lang="zh-CN" altLang="en-US" sz="2000" dirty="0">
                      <a:solidFill>
                        <a:schemeClr val="bg1">
                          <a:lumMod val="75000"/>
                        </a:schemeClr>
                      </a:solidFill>
                    </a:endParaRPr>
                  </a:p>
                </p:txBody>
              </p:sp>
              <p:sp>
                <p:nvSpPr>
                  <p:cNvPr id="80" name="椭圆 79">
                    <a:extLst>
                      <a:ext uri="{FF2B5EF4-FFF2-40B4-BE49-F238E27FC236}">
                        <a16:creationId xmlns:a16="http://schemas.microsoft.com/office/drawing/2014/main" id="{B7E17C80-D086-4FB1-9963-01A2CC5F2902}"/>
                      </a:ext>
                    </a:extLst>
                  </p:cNvPr>
                  <p:cNvSpPr/>
                  <p:nvPr/>
                </p:nvSpPr>
                <p:spPr>
                  <a:xfrm>
                    <a:off x="10162905" y="4917093"/>
                    <a:ext cx="167148" cy="159143"/>
                  </a:xfrm>
                  <a:prstGeom prst="ellipse">
                    <a:avLst/>
                  </a:prstGeom>
                  <a:solidFill>
                    <a:srgbClr val="A9D18E"/>
                  </a:solidFill>
                  <a:ln>
                    <a:solidFill>
                      <a:srgbClr val="A9D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76" name="文本框 75">
                  <a:extLst>
                    <a:ext uri="{FF2B5EF4-FFF2-40B4-BE49-F238E27FC236}">
                      <a16:creationId xmlns:a16="http://schemas.microsoft.com/office/drawing/2014/main" id="{9D50A763-A5CF-40D8-B0B5-1CE1F04CD271}"/>
                    </a:ext>
                  </a:extLst>
                </p:cNvPr>
                <p:cNvSpPr txBox="1"/>
                <p:nvPr/>
              </p:nvSpPr>
              <p:spPr>
                <a:xfrm>
                  <a:off x="10352880" y="4753118"/>
                  <a:ext cx="1331120" cy="435948"/>
                </a:xfrm>
                <a:prstGeom prst="rect">
                  <a:avLst/>
                </a:prstGeom>
                <a:noFill/>
              </p:spPr>
              <p:txBody>
                <a:bodyPr wrap="square" rtlCol="0">
                  <a:spAutoFit/>
                </a:bodyPr>
                <a:lstStyle/>
                <a:p>
                  <a:r>
                    <a:rPr lang="en-US" altLang="zh-CN" sz="2000" dirty="0">
                      <a:solidFill>
                        <a:schemeClr val="bg1">
                          <a:lumMod val="75000"/>
                        </a:schemeClr>
                      </a:solidFill>
                    </a:rPr>
                    <a:t>Missing </a:t>
                  </a:r>
                  <a:endParaRPr lang="zh-CN" altLang="en-US" sz="2000" dirty="0">
                    <a:solidFill>
                      <a:schemeClr val="bg1">
                        <a:lumMod val="75000"/>
                      </a:schemeClr>
                    </a:solidFill>
                  </a:endParaRPr>
                </a:p>
              </p:txBody>
            </p:sp>
          </p:grpSp>
          <p:sp>
            <p:nvSpPr>
              <p:cNvPr id="74" name="矩形 73">
                <a:extLst>
                  <a:ext uri="{FF2B5EF4-FFF2-40B4-BE49-F238E27FC236}">
                    <a16:creationId xmlns:a16="http://schemas.microsoft.com/office/drawing/2014/main" id="{C5AAEA98-76B2-4D84-9666-F6C8DF667A47}"/>
                  </a:ext>
                </a:extLst>
              </p:cNvPr>
              <p:cNvSpPr/>
              <p:nvPr/>
            </p:nvSpPr>
            <p:spPr>
              <a:xfrm>
                <a:off x="5902787" y="1161143"/>
                <a:ext cx="4114699" cy="3280228"/>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81" name="组合 80">
              <a:extLst>
                <a:ext uri="{FF2B5EF4-FFF2-40B4-BE49-F238E27FC236}">
                  <a16:creationId xmlns:a16="http://schemas.microsoft.com/office/drawing/2014/main" id="{090ACA2D-1F97-4BED-A2C9-8F991CFEB2E2}"/>
                </a:ext>
              </a:extLst>
            </p:cNvPr>
            <p:cNvGrpSpPr/>
            <p:nvPr/>
          </p:nvGrpSpPr>
          <p:grpSpPr>
            <a:xfrm>
              <a:off x="7052072" y="612583"/>
              <a:ext cx="4114699" cy="3280228"/>
              <a:chOff x="5902787" y="1161143"/>
              <a:chExt cx="4114699" cy="3280228"/>
            </a:xfrm>
            <a:scene3d>
              <a:camera prst="isometricRightUp"/>
              <a:lightRig rig="threePt" dir="t"/>
            </a:scene3d>
          </p:grpSpPr>
          <p:grpSp>
            <p:nvGrpSpPr>
              <p:cNvPr id="82" name="组合 81">
                <a:extLst>
                  <a:ext uri="{FF2B5EF4-FFF2-40B4-BE49-F238E27FC236}">
                    <a16:creationId xmlns:a16="http://schemas.microsoft.com/office/drawing/2014/main" id="{356915CE-0415-421C-9DCB-F70818CF772C}"/>
                  </a:ext>
                </a:extLst>
              </p:cNvPr>
              <p:cNvGrpSpPr/>
              <p:nvPr/>
            </p:nvGrpSpPr>
            <p:grpSpPr>
              <a:xfrm>
                <a:off x="5902787" y="1357294"/>
                <a:ext cx="4114699" cy="2949423"/>
                <a:chOff x="8025702" y="2239643"/>
                <a:chExt cx="4114699" cy="2949423"/>
              </a:xfrm>
            </p:grpSpPr>
            <p:grpSp>
              <p:nvGrpSpPr>
                <p:cNvPr id="84" name="组合 83">
                  <a:extLst>
                    <a:ext uri="{FF2B5EF4-FFF2-40B4-BE49-F238E27FC236}">
                      <a16:creationId xmlns:a16="http://schemas.microsoft.com/office/drawing/2014/main" id="{84C009D7-CCC4-47A4-ACD2-94C71DF5C582}"/>
                    </a:ext>
                  </a:extLst>
                </p:cNvPr>
                <p:cNvGrpSpPr/>
                <p:nvPr/>
              </p:nvGrpSpPr>
              <p:grpSpPr>
                <a:xfrm>
                  <a:off x="8025702" y="2239643"/>
                  <a:ext cx="4114699" cy="2943374"/>
                  <a:chOff x="8025702" y="2239643"/>
                  <a:chExt cx="4114699" cy="2943374"/>
                </a:xfrm>
              </p:grpSpPr>
              <p:pic>
                <p:nvPicPr>
                  <p:cNvPr id="86" name="图片 85">
                    <a:extLst>
                      <a:ext uri="{FF2B5EF4-FFF2-40B4-BE49-F238E27FC236}">
                        <a16:creationId xmlns:a16="http://schemas.microsoft.com/office/drawing/2014/main" id="{175A2B4B-3BBB-4460-83F7-E8AD2B9DA1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02" y="2239643"/>
                    <a:ext cx="4114699" cy="2535024"/>
                  </a:xfrm>
                  <a:prstGeom prst="rect">
                    <a:avLst/>
                  </a:prstGeom>
                </p:spPr>
              </p:pic>
              <p:sp>
                <p:nvSpPr>
                  <p:cNvPr id="87" name="椭圆 86">
                    <a:extLst>
                      <a:ext uri="{FF2B5EF4-FFF2-40B4-BE49-F238E27FC236}">
                        <a16:creationId xmlns:a16="http://schemas.microsoft.com/office/drawing/2014/main" id="{69066457-6221-438C-9670-AECCC5DEDF4E}"/>
                      </a:ext>
                    </a:extLst>
                  </p:cNvPr>
                  <p:cNvSpPr/>
                  <p:nvPr/>
                </p:nvSpPr>
                <p:spPr>
                  <a:xfrm>
                    <a:off x="8215677" y="4907922"/>
                    <a:ext cx="167148" cy="159143"/>
                  </a:xfrm>
                  <a:prstGeom prst="ellipse">
                    <a:avLst/>
                  </a:prstGeom>
                  <a:solidFill>
                    <a:srgbClr val="FFCF46"/>
                  </a:solidFill>
                  <a:ln>
                    <a:solidFill>
                      <a:srgbClr val="FFCF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8" name="文本框 87">
                    <a:extLst>
                      <a:ext uri="{FF2B5EF4-FFF2-40B4-BE49-F238E27FC236}">
                        <a16:creationId xmlns:a16="http://schemas.microsoft.com/office/drawing/2014/main" id="{A14C0730-494C-48ED-B88B-98F928FD565D}"/>
                      </a:ext>
                    </a:extLst>
                  </p:cNvPr>
                  <p:cNvSpPr txBox="1"/>
                  <p:nvPr/>
                </p:nvSpPr>
                <p:spPr>
                  <a:xfrm>
                    <a:off x="8423145" y="4747069"/>
                    <a:ext cx="3479520" cy="435948"/>
                  </a:xfrm>
                  <a:prstGeom prst="rect">
                    <a:avLst/>
                  </a:prstGeom>
                  <a:noFill/>
                </p:spPr>
                <p:txBody>
                  <a:bodyPr wrap="square" rtlCol="0">
                    <a:spAutoFit/>
                  </a:bodyPr>
                  <a:lstStyle/>
                  <a:p>
                    <a:r>
                      <a:rPr lang="en-US" altLang="zh-CN" sz="2000" dirty="0">
                        <a:solidFill>
                          <a:schemeClr val="bg1">
                            <a:lumMod val="75000"/>
                          </a:schemeClr>
                        </a:solidFill>
                      </a:rPr>
                      <a:t>Observed </a:t>
                    </a:r>
                    <a:endParaRPr lang="zh-CN" altLang="en-US" sz="2000" dirty="0">
                      <a:solidFill>
                        <a:schemeClr val="bg1">
                          <a:lumMod val="75000"/>
                        </a:schemeClr>
                      </a:solidFill>
                    </a:endParaRPr>
                  </a:p>
                </p:txBody>
              </p:sp>
              <p:sp>
                <p:nvSpPr>
                  <p:cNvPr id="89" name="椭圆 88">
                    <a:extLst>
                      <a:ext uri="{FF2B5EF4-FFF2-40B4-BE49-F238E27FC236}">
                        <a16:creationId xmlns:a16="http://schemas.microsoft.com/office/drawing/2014/main" id="{AEBF3015-4965-4D40-99CD-C697B320B167}"/>
                      </a:ext>
                    </a:extLst>
                  </p:cNvPr>
                  <p:cNvSpPr/>
                  <p:nvPr/>
                </p:nvSpPr>
                <p:spPr>
                  <a:xfrm>
                    <a:off x="10162905" y="4917093"/>
                    <a:ext cx="167148" cy="159143"/>
                  </a:xfrm>
                  <a:prstGeom prst="ellipse">
                    <a:avLst/>
                  </a:prstGeom>
                  <a:solidFill>
                    <a:srgbClr val="A9D18E"/>
                  </a:solidFill>
                  <a:ln>
                    <a:solidFill>
                      <a:srgbClr val="A9D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85" name="文本框 84">
                  <a:extLst>
                    <a:ext uri="{FF2B5EF4-FFF2-40B4-BE49-F238E27FC236}">
                      <a16:creationId xmlns:a16="http://schemas.microsoft.com/office/drawing/2014/main" id="{C53B6D83-793D-4561-BA95-7E3ED3F2B994}"/>
                    </a:ext>
                  </a:extLst>
                </p:cNvPr>
                <p:cNvSpPr txBox="1"/>
                <p:nvPr/>
              </p:nvSpPr>
              <p:spPr>
                <a:xfrm>
                  <a:off x="10352880" y="4753118"/>
                  <a:ext cx="1331120" cy="435948"/>
                </a:xfrm>
                <a:prstGeom prst="rect">
                  <a:avLst/>
                </a:prstGeom>
                <a:noFill/>
              </p:spPr>
              <p:txBody>
                <a:bodyPr wrap="square" rtlCol="0">
                  <a:spAutoFit/>
                </a:bodyPr>
                <a:lstStyle/>
                <a:p>
                  <a:r>
                    <a:rPr lang="en-US" altLang="zh-CN" sz="2000" dirty="0">
                      <a:solidFill>
                        <a:schemeClr val="bg1">
                          <a:lumMod val="75000"/>
                        </a:schemeClr>
                      </a:solidFill>
                    </a:rPr>
                    <a:t>Missing </a:t>
                  </a:r>
                  <a:endParaRPr lang="zh-CN" altLang="en-US" sz="2000" dirty="0">
                    <a:solidFill>
                      <a:schemeClr val="bg1">
                        <a:lumMod val="75000"/>
                      </a:schemeClr>
                    </a:solidFill>
                  </a:endParaRPr>
                </a:p>
              </p:txBody>
            </p:sp>
          </p:grpSp>
          <p:sp>
            <p:nvSpPr>
              <p:cNvPr id="83" name="矩形 82">
                <a:extLst>
                  <a:ext uri="{FF2B5EF4-FFF2-40B4-BE49-F238E27FC236}">
                    <a16:creationId xmlns:a16="http://schemas.microsoft.com/office/drawing/2014/main" id="{AC567164-A7B1-465A-A6EA-FDD40578F5DC}"/>
                  </a:ext>
                </a:extLst>
              </p:cNvPr>
              <p:cNvSpPr/>
              <p:nvPr/>
            </p:nvSpPr>
            <p:spPr>
              <a:xfrm>
                <a:off x="5902787" y="1161143"/>
                <a:ext cx="4114699" cy="3280228"/>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grpSp>
          <p:nvGrpSpPr>
            <p:cNvPr id="90" name="组合 89">
              <a:extLst>
                <a:ext uri="{FF2B5EF4-FFF2-40B4-BE49-F238E27FC236}">
                  <a16:creationId xmlns:a16="http://schemas.microsoft.com/office/drawing/2014/main" id="{BAC7E580-F315-40BA-A6BA-FBD4B68C0B85}"/>
                </a:ext>
              </a:extLst>
            </p:cNvPr>
            <p:cNvGrpSpPr/>
            <p:nvPr/>
          </p:nvGrpSpPr>
          <p:grpSpPr>
            <a:xfrm>
              <a:off x="7694347" y="677411"/>
              <a:ext cx="4114699" cy="3280228"/>
              <a:chOff x="5902787" y="1161143"/>
              <a:chExt cx="4114699" cy="3280228"/>
            </a:xfrm>
            <a:scene3d>
              <a:camera prst="isometricRightUp"/>
              <a:lightRig rig="threePt" dir="t"/>
            </a:scene3d>
          </p:grpSpPr>
          <p:grpSp>
            <p:nvGrpSpPr>
              <p:cNvPr id="91" name="组合 90">
                <a:extLst>
                  <a:ext uri="{FF2B5EF4-FFF2-40B4-BE49-F238E27FC236}">
                    <a16:creationId xmlns:a16="http://schemas.microsoft.com/office/drawing/2014/main" id="{BE693B51-A0C0-4E57-B5D1-ED3CC2587B8C}"/>
                  </a:ext>
                </a:extLst>
              </p:cNvPr>
              <p:cNvGrpSpPr/>
              <p:nvPr/>
            </p:nvGrpSpPr>
            <p:grpSpPr>
              <a:xfrm>
                <a:off x="5902787" y="1357294"/>
                <a:ext cx="4114699" cy="2949423"/>
                <a:chOff x="8025702" y="2239643"/>
                <a:chExt cx="4114699" cy="2949423"/>
              </a:xfrm>
            </p:grpSpPr>
            <p:grpSp>
              <p:nvGrpSpPr>
                <p:cNvPr id="93" name="组合 92">
                  <a:extLst>
                    <a:ext uri="{FF2B5EF4-FFF2-40B4-BE49-F238E27FC236}">
                      <a16:creationId xmlns:a16="http://schemas.microsoft.com/office/drawing/2014/main" id="{557D7382-EA0F-43B0-9DA9-5A2D3F29BC6D}"/>
                    </a:ext>
                  </a:extLst>
                </p:cNvPr>
                <p:cNvGrpSpPr/>
                <p:nvPr/>
              </p:nvGrpSpPr>
              <p:grpSpPr>
                <a:xfrm>
                  <a:off x="8025702" y="2239643"/>
                  <a:ext cx="4114699" cy="2943374"/>
                  <a:chOff x="8025702" y="2239643"/>
                  <a:chExt cx="4114699" cy="2943374"/>
                </a:xfrm>
              </p:grpSpPr>
              <p:pic>
                <p:nvPicPr>
                  <p:cNvPr id="95" name="图片 94">
                    <a:extLst>
                      <a:ext uri="{FF2B5EF4-FFF2-40B4-BE49-F238E27FC236}">
                        <a16:creationId xmlns:a16="http://schemas.microsoft.com/office/drawing/2014/main" id="{EB5F2AA7-AB1C-46C3-BC54-7E717A2945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5702" y="2239643"/>
                    <a:ext cx="4114699" cy="2535024"/>
                  </a:xfrm>
                  <a:prstGeom prst="rect">
                    <a:avLst/>
                  </a:prstGeom>
                </p:spPr>
              </p:pic>
              <p:sp>
                <p:nvSpPr>
                  <p:cNvPr id="96" name="椭圆 95">
                    <a:extLst>
                      <a:ext uri="{FF2B5EF4-FFF2-40B4-BE49-F238E27FC236}">
                        <a16:creationId xmlns:a16="http://schemas.microsoft.com/office/drawing/2014/main" id="{D5754867-DC40-4EE3-90E1-5B5DB436A861}"/>
                      </a:ext>
                    </a:extLst>
                  </p:cNvPr>
                  <p:cNvSpPr/>
                  <p:nvPr/>
                </p:nvSpPr>
                <p:spPr>
                  <a:xfrm>
                    <a:off x="8215677" y="4907922"/>
                    <a:ext cx="167148" cy="159143"/>
                  </a:xfrm>
                  <a:prstGeom prst="ellipse">
                    <a:avLst/>
                  </a:prstGeom>
                  <a:solidFill>
                    <a:srgbClr val="FFCF46"/>
                  </a:solidFill>
                  <a:ln>
                    <a:solidFill>
                      <a:srgbClr val="FFCF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97" name="文本框 96">
                    <a:extLst>
                      <a:ext uri="{FF2B5EF4-FFF2-40B4-BE49-F238E27FC236}">
                        <a16:creationId xmlns:a16="http://schemas.microsoft.com/office/drawing/2014/main" id="{96189058-7512-4BBD-B9CE-223DACC379EE}"/>
                      </a:ext>
                    </a:extLst>
                  </p:cNvPr>
                  <p:cNvSpPr txBox="1"/>
                  <p:nvPr/>
                </p:nvSpPr>
                <p:spPr>
                  <a:xfrm>
                    <a:off x="8423145" y="4747069"/>
                    <a:ext cx="3479520" cy="435948"/>
                  </a:xfrm>
                  <a:prstGeom prst="rect">
                    <a:avLst/>
                  </a:prstGeom>
                  <a:noFill/>
                </p:spPr>
                <p:txBody>
                  <a:bodyPr wrap="square" rtlCol="0">
                    <a:spAutoFit/>
                  </a:bodyPr>
                  <a:lstStyle/>
                  <a:p>
                    <a:r>
                      <a:rPr lang="en-US" altLang="zh-CN" sz="2000" dirty="0">
                        <a:solidFill>
                          <a:schemeClr val="bg1">
                            <a:lumMod val="75000"/>
                          </a:schemeClr>
                        </a:solidFill>
                      </a:rPr>
                      <a:t>Observed </a:t>
                    </a:r>
                    <a:endParaRPr lang="zh-CN" altLang="en-US" sz="2000" dirty="0">
                      <a:solidFill>
                        <a:schemeClr val="bg1">
                          <a:lumMod val="75000"/>
                        </a:schemeClr>
                      </a:solidFill>
                    </a:endParaRPr>
                  </a:p>
                </p:txBody>
              </p:sp>
              <p:sp>
                <p:nvSpPr>
                  <p:cNvPr id="98" name="椭圆 97">
                    <a:extLst>
                      <a:ext uri="{FF2B5EF4-FFF2-40B4-BE49-F238E27FC236}">
                        <a16:creationId xmlns:a16="http://schemas.microsoft.com/office/drawing/2014/main" id="{E5EAFBDB-4C97-4F42-9448-27335A420A14}"/>
                      </a:ext>
                    </a:extLst>
                  </p:cNvPr>
                  <p:cNvSpPr/>
                  <p:nvPr/>
                </p:nvSpPr>
                <p:spPr>
                  <a:xfrm>
                    <a:off x="10162905" y="4917093"/>
                    <a:ext cx="167148" cy="159143"/>
                  </a:xfrm>
                  <a:prstGeom prst="ellipse">
                    <a:avLst/>
                  </a:prstGeom>
                  <a:solidFill>
                    <a:srgbClr val="A9D18E"/>
                  </a:solidFill>
                  <a:ln>
                    <a:solidFill>
                      <a:srgbClr val="A9D18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94" name="文本框 93">
                  <a:extLst>
                    <a:ext uri="{FF2B5EF4-FFF2-40B4-BE49-F238E27FC236}">
                      <a16:creationId xmlns:a16="http://schemas.microsoft.com/office/drawing/2014/main" id="{2BDDF925-0D71-4470-9595-1FC4F1EEF0C1}"/>
                    </a:ext>
                  </a:extLst>
                </p:cNvPr>
                <p:cNvSpPr txBox="1"/>
                <p:nvPr/>
              </p:nvSpPr>
              <p:spPr>
                <a:xfrm>
                  <a:off x="10352880" y="4753118"/>
                  <a:ext cx="1331120" cy="435948"/>
                </a:xfrm>
                <a:prstGeom prst="rect">
                  <a:avLst/>
                </a:prstGeom>
                <a:noFill/>
              </p:spPr>
              <p:txBody>
                <a:bodyPr wrap="square" rtlCol="0">
                  <a:spAutoFit/>
                </a:bodyPr>
                <a:lstStyle/>
                <a:p>
                  <a:r>
                    <a:rPr lang="en-US" altLang="zh-CN" sz="2000" dirty="0">
                      <a:solidFill>
                        <a:schemeClr val="bg1">
                          <a:lumMod val="75000"/>
                        </a:schemeClr>
                      </a:solidFill>
                    </a:rPr>
                    <a:t>Missing </a:t>
                  </a:r>
                  <a:endParaRPr lang="zh-CN" altLang="en-US" sz="2000" dirty="0">
                    <a:solidFill>
                      <a:schemeClr val="bg1">
                        <a:lumMod val="75000"/>
                      </a:schemeClr>
                    </a:solidFill>
                  </a:endParaRPr>
                </a:p>
              </p:txBody>
            </p:sp>
          </p:grpSp>
          <p:sp>
            <p:nvSpPr>
              <p:cNvPr id="92" name="矩形 91">
                <a:extLst>
                  <a:ext uri="{FF2B5EF4-FFF2-40B4-BE49-F238E27FC236}">
                    <a16:creationId xmlns:a16="http://schemas.microsoft.com/office/drawing/2014/main" id="{FB6E7ABD-6299-4B4C-9E20-2A757C62EA36}"/>
                  </a:ext>
                </a:extLst>
              </p:cNvPr>
              <p:cNvSpPr/>
              <p:nvPr/>
            </p:nvSpPr>
            <p:spPr>
              <a:xfrm>
                <a:off x="5902787" y="1161143"/>
                <a:ext cx="4114699" cy="3280228"/>
              </a:xfrm>
              <a:prstGeom prst="rect">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cxnSp>
          <p:nvCxnSpPr>
            <p:cNvPr id="10" name="直接箭头连接符 9">
              <a:extLst>
                <a:ext uri="{FF2B5EF4-FFF2-40B4-BE49-F238E27FC236}">
                  <a16:creationId xmlns:a16="http://schemas.microsoft.com/office/drawing/2014/main" id="{ED0453CC-F15C-4532-868D-DFDE46BEC7E2}"/>
                </a:ext>
              </a:extLst>
            </p:cNvPr>
            <p:cNvCxnSpPr>
              <a:cxnSpLocks/>
            </p:cNvCxnSpPr>
            <p:nvPr/>
          </p:nvCxnSpPr>
          <p:spPr>
            <a:xfrm>
              <a:off x="9615514" y="3739685"/>
              <a:ext cx="1026701" cy="16098"/>
            </a:xfrm>
            <a:prstGeom prst="straightConnector1">
              <a:avLst/>
            </a:prstGeom>
            <a:ln w="38100">
              <a:tailEnd type="triangle"/>
            </a:ln>
          </p:spPr>
          <p:style>
            <a:lnRef idx="3">
              <a:schemeClr val="accent6"/>
            </a:lnRef>
            <a:fillRef idx="0">
              <a:schemeClr val="accent6"/>
            </a:fillRef>
            <a:effectRef idx="2">
              <a:schemeClr val="accent6"/>
            </a:effectRef>
            <a:fontRef idx="minor">
              <a:schemeClr val="tx1"/>
            </a:fontRef>
          </p:style>
        </p:cxnSp>
        <p:sp>
          <p:nvSpPr>
            <p:cNvPr id="17" name="文本框 16">
              <a:extLst>
                <a:ext uri="{FF2B5EF4-FFF2-40B4-BE49-F238E27FC236}">
                  <a16:creationId xmlns:a16="http://schemas.microsoft.com/office/drawing/2014/main" id="{A8D9837E-4F31-40F7-8500-E2E692DF1A0A}"/>
                </a:ext>
              </a:extLst>
            </p:cNvPr>
            <p:cNvSpPr txBox="1"/>
            <p:nvPr/>
          </p:nvSpPr>
          <p:spPr>
            <a:xfrm>
              <a:off x="9883730" y="3243934"/>
              <a:ext cx="1180421" cy="455096"/>
            </a:xfrm>
            <a:prstGeom prst="rect">
              <a:avLst/>
            </a:prstGeom>
            <a:noFill/>
          </p:spPr>
          <p:txBody>
            <a:bodyPr wrap="square" rtlCol="0">
              <a:spAutoFit/>
            </a:bodyPr>
            <a:lstStyle/>
            <a:p>
              <a:r>
                <a:rPr lang="en-US" altLang="zh-CN" sz="2000" dirty="0"/>
                <a:t>Day</a:t>
              </a:r>
              <a:endParaRPr lang="zh-CN" altLang="en-US" sz="2000" dirty="0"/>
            </a:p>
          </p:txBody>
        </p:sp>
      </p:grpSp>
      <p:sp>
        <p:nvSpPr>
          <p:cNvPr id="23" name="右大括号 22">
            <a:extLst>
              <a:ext uri="{FF2B5EF4-FFF2-40B4-BE49-F238E27FC236}">
                <a16:creationId xmlns:a16="http://schemas.microsoft.com/office/drawing/2014/main" id="{A0C9E3CD-C598-4D88-A508-2F50F3E825CB}"/>
              </a:ext>
            </a:extLst>
          </p:cNvPr>
          <p:cNvSpPr/>
          <p:nvPr/>
        </p:nvSpPr>
        <p:spPr>
          <a:xfrm rot="16200000">
            <a:off x="8035297" y="495614"/>
            <a:ext cx="388496" cy="3349748"/>
          </a:xfrm>
          <a:prstGeom prst="righ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1" name="文本框 240">
            <a:extLst>
              <a:ext uri="{FF2B5EF4-FFF2-40B4-BE49-F238E27FC236}">
                <a16:creationId xmlns:a16="http://schemas.microsoft.com/office/drawing/2014/main" id="{77F59BAB-6C7D-4062-91F7-9A83623D4EB0}"/>
              </a:ext>
            </a:extLst>
          </p:cNvPr>
          <p:cNvSpPr txBox="1"/>
          <p:nvPr/>
        </p:nvSpPr>
        <p:spPr>
          <a:xfrm>
            <a:off x="6907168" y="1557254"/>
            <a:ext cx="4595116" cy="461665"/>
          </a:xfrm>
          <a:prstGeom prst="rect">
            <a:avLst/>
          </a:prstGeom>
          <a:noFill/>
        </p:spPr>
        <p:txBody>
          <a:bodyPr wrap="square" rtlCol="0">
            <a:spAutoFit/>
          </a:bodyPr>
          <a:lstStyle/>
          <a:p>
            <a:r>
              <a:rPr lang="en-US" altLang="zh-CN" sz="2400" dirty="0"/>
              <a:t>Months and years</a:t>
            </a:r>
            <a:endParaRPr lang="zh-CN" altLang="en-US" sz="2400" dirty="0"/>
          </a:p>
        </p:txBody>
      </p:sp>
      <p:sp>
        <p:nvSpPr>
          <p:cNvPr id="242" name="文本框 241">
            <a:extLst>
              <a:ext uri="{FF2B5EF4-FFF2-40B4-BE49-F238E27FC236}">
                <a16:creationId xmlns:a16="http://schemas.microsoft.com/office/drawing/2014/main" id="{5B9D19E4-1535-48ED-B3C1-144F72F97E87}"/>
              </a:ext>
            </a:extLst>
          </p:cNvPr>
          <p:cNvSpPr txBox="1"/>
          <p:nvPr/>
        </p:nvSpPr>
        <p:spPr>
          <a:xfrm>
            <a:off x="739722" y="4870940"/>
            <a:ext cx="3734750" cy="83099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b="1" i="1" dirty="0"/>
              <a:t>High sparsity.</a:t>
            </a:r>
          </a:p>
          <a:p>
            <a:pPr marL="342900" indent="-342900">
              <a:buFont typeface="Arial" panose="020B0604020202020204" pitchFamily="34" charset="0"/>
              <a:buChar char="•"/>
            </a:pPr>
            <a:r>
              <a:rPr lang="en-US" altLang="zh-CN" sz="2400" b="1" i="1" dirty="0"/>
              <a:t>Uneven distribution.</a:t>
            </a:r>
            <a:endParaRPr lang="zh-CN" altLang="en-US" sz="2400" b="1" i="1" dirty="0"/>
          </a:p>
        </p:txBody>
      </p:sp>
      <p:pic>
        <p:nvPicPr>
          <p:cNvPr id="3074" name="Picture 2" descr="Holding Phone Icons - Download Free Vector Icons | Noun Project">
            <a:extLst>
              <a:ext uri="{FF2B5EF4-FFF2-40B4-BE49-F238E27FC236}">
                <a16:creationId xmlns:a16="http://schemas.microsoft.com/office/drawing/2014/main" id="{0EF6903E-8518-4EE4-99E6-87A0DD4F44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0335" y="3954769"/>
            <a:ext cx="1177653" cy="1177653"/>
          </a:xfrm>
          <a:prstGeom prst="rect">
            <a:avLst/>
          </a:prstGeom>
          <a:noFill/>
          <a:extLst>
            <a:ext uri="{909E8E84-426E-40DD-AFC4-6F175D3DCCD1}">
              <a14:hiddenFill xmlns:a14="http://schemas.microsoft.com/office/drawing/2010/main">
                <a:solidFill>
                  <a:srgbClr val="FFFFFF"/>
                </a:solidFill>
              </a14:hiddenFill>
            </a:ext>
          </a:extLst>
        </p:spPr>
      </p:pic>
      <p:sp>
        <p:nvSpPr>
          <p:cNvPr id="99" name="文本框 98">
            <a:extLst>
              <a:ext uri="{FF2B5EF4-FFF2-40B4-BE49-F238E27FC236}">
                <a16:creationId xmlns:a16="http://schemas.microsoft.com/office/drawing/2014/main" id="{9544E7C6-9DCC-453A-90BC-524D13F82AEC}"/>
              </a:ext>
            </a:extLst>
          </p:cNvPr>
          <p:cNvSpPr txBox="1"/>
          <p:nvPr/>
        </p:nvSpPr>
        <p:spPr>
          <a:xfrm>
            <a:off x="6202144" y="5229390"/>
            <a:ext cx="4950757" cy="461665"/>
          </a:xfrm>
          <a:prstGeom prst="rect">
            <a:avLst/>
          </a:prstGeom>
          <a:noFill/>
        </p:spPr>
        <p:txBody>
          <a:bodyPr wrap="square" rtlCol="0">
            <a:spAutoFit/>
          </a:bodyPr>
          <a:lstStyle/>
          <a:p>
            <a:pPr marL="342900" indent="-342900">
              <a:buFont typeface="Arial" panose="020B0604020202020204" pitchFamily="34" charset="0"/>
              <a:buChar char="•"/>
            </a:pPr>
            <a:r>
              <a:rPr lang="en-US" altLang="zh-CN" sz="2400" b="1" i="1" dirty="0"/>
              <a:t>Long-term</a:t>
            </a:r>
            <a:r>
              <a:rPr lang="zh-CN" altLang="en-US" sz="2400" b="1" i="1" dirty="0"/>
              <a:t>！</a:t>
            </a:r>
            <a:r>
              <a:rPr lang="en-US" altLang="zh-CN" sz="2400" b="1" i="1" dirty="0"/>
              <a:t>-- Periodical </a:t>
            </a:r>
            <a:endParaRPr lang="zh-CN" altLang="en-US" sz="2400" b="1" i="1" dirty="0"/>
          </a:p>
        </p:txBody>
      </p:sp>
      <p:cxnSp>
        <p:nvCxnSpPr>
          <p:cNvPr id="100" name="直接连接符 99">
            <a:extLst>
              <a:ext uri="{FF2B5EF4-FFF2-40B4-BE49-F238E27FC236}">
                <a16:creationId xmlns:a16="http://schemas.microsoft.com/office/drawing/2014/main" id="{86CAB4EA-DECE-4FA8-8E21-9E2768DBC09F}"/>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F5121B92-5FCC-4C1E-AC96-ED65DC516A16}"/>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7999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241"/>
                                        </p:tgtEl>
                                        <p:attrNameLst>
                                          <p:attrName>style.visibility</p:attrName>
                                        </p:attrNameLst>
                                      </p:cBhvr>
                                      <p:to>
                                        <p:strVal val="visible"/>
                                      </p:to>
                                    </p:set>
                                    <p:animEffect transition="in" filter="wipe(up)">
                                      <p:cBhvr>
                                        <p:cTn id="7" dur="500"/>
                                        <p:tgtEl>
                                          <p:spTgt spid="24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42"/>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 grpId="0"/>
      <p:bldP spid="242" grpId="0"/>
      <p:bldP spid="9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9240" y="495734"/>
            <a:ext cx="2574744" cy="486287"/>
          </a:xfrm>
        </p:spPr>
        <p:txBody>
          <a:bodyPr/>
          <a:lstStyle/>
          <a:p>
            <a:pPr>
              <a:lnSpc>
                <a:spcPct val="80000"/>
              </a:lnSpc>
            </a:pPr>
            <a:r>
              <a:rPr lang="af-ZA" altLang="zh-CN" dirty="0"/>
              <a:t>Background</a:t>
            </a:r>
            <a:endParaRPr lang="zh-CN" altLang="en-US" dirty="0"/>
          </a:p>
        </p:txBody>
      </p:sp>
      <p:sp>
        <p:nvSpPr>
          <p:cNvPr id="15" name="矩形 14">
            <a:extLst>
              <a:ext uri="{FF2B5EF4-FFF2-40B4-BE49-F238E27FC236}">
                <a16:creationId xmlns:a16="http://schemas.microsoft.com/office/drawing/2014/main" id="{27F2C18F-1BBC-4CC7-BEA0-527738C9AEFC}"/>
              </a:ext>
            </a:extLst>
          </p:cNvPr>
          <p:cNvSpPr/>
          <p:nvPr/>
        </p:nvSpPr>
        <p:spPr>
          <a:xfrm>
            <a:off x="2259307" y="1037421"/>
            <a:ext cx="7733867" cy="400110"/>
          </a:xfrm>
          <a:prstGeom prst="rect">
            <a:avLst/>
          </a:prstGeom>
        </p:spPr>
        <p:txBody>
          <a:bodyPr wrap="square">
            <a:spAutoFit/>
          </a:bodyPr>
          <a:lstStyle/>
          <a:p>
            <a:endParaRPr lang="en-US" altLang="zh-CN" sz="2000" dirty="0">
              <a:solidFill>
                <a:srgbClr val="002060"/>
              </a:solidFill>
              <a:ea typeface="Arial Unicode MS" panose="020B0604020202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FABD69CF-03D6-4C94-B950-6A978B152BE0}"/>
              </a:ext>
            </a:extLst>
          </p:cNvPr>
          <p:cNvSpPr txBox="1"/>
          <p:nvPr/>
        </p:nvSpPr>
        <p:spPr>
          <a:xfrm>
            <a:off x="269010" y="955711"/>
            <a:ext cx="12014828" cy="830997"/>
          </a:xfrm>
          <a:prstGeom prst="rect">
            <a:avLst/>
          </a:prstGeom>
          <a:noFill/>
        </p:spPr>
        <p:txBody>
          <a:bodyPr wrap="none" rtlCol="0">
            <a:spAutoFit/>
          </a:bodyPr>
          <a:lstStyle/>
          <a:p>
            <a:pPr marL="342900" indent="-342900">
              <a:buSzPct val="50000"/>
              <a:buFont typeface="Wingdings" panose="05000000000000000000" pitchFamily="2" charset="2"/>
              <a:buChar char="n"/>
            </a:pPr>
            <a:r>
              <a:rPr lang="en-US" altLang="zh-CN" sz="2400" b="1" dirty="0">
                <a:solidFill>
                  <a:srgbClr val="002060"/>
                </a:solidFill>
                <a:ea typeface="Arial Unicode MS" panose="020B0604020202020204" pitchFamily="34" charset="-122"/>
                <a:cs typeface="Times New Roman" panose="02020603050405020304" pitchFamily="18" charset="0"/>
              </a:rPr>
              <a:t>Problem: Combine current </a:t>
            </a:r>
            <a:r>
              <a:rPr lang="en-US" altLang="zh-CN" sz="2400" b="1" dirty="0" err="1">
                <a:solidFill>
                  <a:srgbClr val="002060"/>
                </a:solidFill>
                <a:ea typeface="Arial Unicode MS" panose="020B0604020202020204" pitchFamily="34" charset="-122"/>
                <a:cs typeface="Times New Roman" panose="02020603050405020304" pitchFamily="18" charset="0"/>
              </a:rPr>
              <a:t>spatio</a:t>
            </a:r>
            <a:r>
              <a:rPr lang="en-US" altLang="zh-CN" sz="2400" b="1" dirty="0">
                <a:solidFill>
                  <a:srgbClr val="002060"/>
                </a:solidFill>
                <a:ea typeface="Arial Unicode MS" panose="020B0604020202020204" pitchFamily="34" charset="-122"/>
                <a:cs typeface="Times New Roman" panose="02020603050405020304" pitchFamily="18" charset="0"/>
              </a:rPr>
              <a:t>-temporal constrains and historical period to </a:t>
            </a:r>
          </a:p>
          <a:p>
            <a:pPr>
              <a:buSzPct val="50000"/>
            </a:pPr>
            <a:r>
              <a:rPr lang="en-US" altLang="zh-CN" sz="2400" b="1" dirty="0">
                <a:solidFill>
                  <a:srgbClr val="002060"/>
                </a:solidFill>
                <a:ea typeface="Arial Unicode MS" panose="020B0604020202020204" pitchFamily="34" charset="-122"/>
                <a:cs typeface="Times New Roman" panose="02020603050405020304" pitchFamily="18" charset="0"/>
              </a:rPr>
              <a:t>                     recover overall mobility trajectory </a:t>
            </a:r>
            <a:endParaRPr lang="en-US" altLang="zh-CN" sz="2400" dirty="0">
              <a:solidFill>
                <a:srgbClr val="002060"/>
              </a:solidFill>
              <a:ea typeface="Arial Unicode MS" panose="020B0604020202020204" pitchFamily="34" charset="-122"/>
              <a:cs typeface="Times New Roman" panose="02020603050405020304" pitchFamily="18" charset="0"/>
            </a:endParaRPr>
          </a:p>
        </p:txBody>
      </p:sp>
      <p:sp>
        <p:nvSpPr>
          <p:cNvPr id="2" name="灯片编号占位符 1"/>
          <p:cNvSpPr>
            <a:spLocks noGrp="1"/>
          </p:cNvSpPr>
          <p:nvPr>
            <p:ph type="sldNum" sz="quarter" idx="10"/>
          </p:nvPr>
        </p:nvSpPr>
        <p:spPr>
          <a:xfrm>
            <a:off x="11299600" y="6305570"/>
            <a:ext cx="749643" cy="378081"/>
          </a:xfrm>
        </p:spPr>
        <p:txBody>
          <a:bodyPr/>
          <a:lstStyle/>
          <a:p>
            <a:fld id="{3A7104C2-2265-4AB9-B90C-4162FA6B94AE}" type="slidenum">
              <a:rPr lang="zh-CN" altLang="en-US" smtClean="0"/>
              <a:pPr/>
              <a:t>5</a:t>
            </a:fld>
            <a:endParaRPr lang="zh-CN" altLang="en-US" dirty="0"/>
          </a:p>
        </p:txBody>
      </p:sp>
      <p:cxnSp>
        <p:nvCxnSpPr>
          <p:cNvPr id="178" name="直接连接符 177">
            <a:extLst>
              <a:ext uri="{FF2B5EF4-FFF2-40B4-BE49-F238E27FC236}">
                <a16:creationId xmlns:a16="http://schemas.microsoft.com/office/drawing/2014/main" id="{7D7232E3-E531-40AA-B4DE-5403929D7B8D}"/>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a:extLst>
              <a:ext uri="{FF2B5EF4-FFF2-40B4-BE49-F238E27FC236}">
                <a16:creationId xmlns:a16="http://schemas.microsoft.com/office/drawing/2014/main" id="{22B6349E-9B2B-48DB-BEDD-AF934487A1B1}"/>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nvGrpSpPr>
          <p:cNvPr id="8" name="组合 7">
            <a:extLst>
              <a:ext uri="{FF2B5EF4-FFF2-40B4-BE49-F238E27FC236}">
                <a16:creationId xmlns:a16="http://schemas.microsoft.com/office/drawing/2014/main" id="{0BA727CE-F638-4ACC-8EC5-12BC1BCBA78F}"/>
              </a:ext>
            </a:extLst>
          </p:cNvPr>
          <p:cNvGrpSpPr/>
          <p:nvPr/>
        </p:nvGrpSpPr>
        <p:grpSpPr>
          <a:xfrm>
            <a:off x="757640" y="1873458"/>
            <a:ext cx="11368185" cy="4331005"/>
            <a:chOff x="757640" y="1873458"/>
            <a:chExt cx="11368185" cy="4331005"/>
          </a:xfrm>
        </p:grpSpPr>
        <p:grpSp>
          <p:nvGrpSpPr>
            <p:cNvPr id="439" name="组合 438"/>
            <p:cNvGrpSpPr/>
            <p:nvPr/>
          </p:nvGrpSpPr>
          <p:grpSpPr>
            <a:xfrm>
              <a:off x="1501371" y="2555800"/>
              <a:ext cx="4251591" cy="1194203"/>
              <a:chOff x="838569" y="1345287"/>
              <a:chExt cx="4251591" cy="1194203"/>
            </a:xfrm>
          </p:grpSpPr>
          <p:sp>
            <p:nvSpPr>
              <p:cNvPr id="440" name="流程图: 数据 439"/>
              <p:cNvSpPr/>
              <p:nvPr/>
            </p:nvSpPr>
            <p:spPr>
              <a:xfrm>
                <a:off x="838569" y="1389699"/>
                <a:ext cx="3499751" cy="1129981"/>
              </a:xfrm>
              <a:prstGeom prst="flowChartInputOutput">
                <a:avLst/>
              </a:prstGeom>
              <a:blipFill dpi="0" rotWithShape="1">
                <a:blip r:embed="rId3" cstate="email">
                  <a:extLst>
                    <a:ext uri="{28A0092B-C50C-407E-A947-70E740481C1C}">
                      <a14:useLocalDpi xmlns:a14="http://schemas.microsoft.com/office/drawing/2010/main" val="0"/>
                    </a:ext>
                  </a:extLst>
                </a:blip>
                <a:srcRect/>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41" name="图片 440"/>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51128" y="2037588"/>
                <a:ext cx="266700" cy="266700"/>
              </a:xfrm>
              <a:prstGeom prst="rect">
                <a:avLst/>
              </a:prstGeom>
            </p:spPr>
          </p:pic>
          <p:pic>
            <p:nvPicPr>
              <p:cNvPr id="442" name="图片 441"/>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597037" y="1770888"/>
                <a:ext cx="266700" cy="266700"/>
              </a:xfrm>
              <a:prstGeom prst="rect">
                <a:avLst/>
              </a:prstGeom>
            </p:spPr>
          </p:pic>
          <p:pic>
            <p:nvPicPr>
              <p:cNvPr id="443" name="图片 442"/>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766568" y="1504188"/>
                <a:ext cx="266700" cy="266700"/>
              </a:xfrm>
              <a:prstGeom prst="rect">
                <a:avLst/>
              </a:prstGeom>
            </p:spPr>
          </p:pic>
          <p:pic>
            <p:nvPicPr>
              <p:cNvPr id="444" name="图片 44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419094" y="1556004"/>
                <a:ext cx="266700" cy="266700"/>
              </a:xfrm>
              <a:prstGeom prst="rect">
                <a:avLst/>
              </a:prstGeom>
            </p:spPr>
          </p:pic>
          <p:cxnSp>
            <p:nvCxnSpPr>
              <p:cNvPr id="445" name="直接箭头连接符 444"/>
              <p:cNvCxnSpPr/>
              <p:nvPr/>
            </p:nvCxnSpPr>
            <p:spPr>
              <a:xfrm flipV="1">
                <a:off x="1284478" y="1999234"/>
                <a:ext cx="445909" cy="266700"/>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cxnSp>
            <p:nvCxnSpPr>
              <p:cNvPr id="446" name="直接箭头连接符 445"/>
              <p:cNvCxnSpPr/>
              <p:nvPr/>
            </p:nvCxnSpPr>
            <p:spPr>
              <a:xfrm flipV="1">
                <a:off x="1730387" y="1732534"/>
                <a:ext cx="1169531" cy="266700"/>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cxnSp>
            <p:nvCxnSpPr>
              <p:cNvPr id="447" name="直接箭头连接符 446"/>
              <p:cNvCxnSpPr/>
              <p:nvPr/>
            </p:nvCxnSpPr>
            <p:spPr>
              <a:xfrm>
                <a:off x="2899918" y="1732534"/>
                <a:ext cx="652526" cy="51816"/>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sp>
            <p:nvSpPr>
              <p:cNvPr id="448" name="文本框 447"/>
              <p:cNvSpPr txBox="1"/>
              <p:nvPr/>
            </p:nvSpPr>
            <p:spPr>
              <a:xfrm>
                <a:off x="3545816" y="1345287"/>
                <a:ext cx="1544344" cy="338554"/>
              </a:xfrm>
              <a:prstGeom prst="rect">
                <a:avLst/>
              </a:prstGeom>
              <a:noFill/>
            </p:spPr>
            <p:txBody>
              <a:bodyPr wrap="square" rtlCol="0">
                <a:spAutoFit/>
              </a:bodyPr>
              <a:lstStyle/>
              <a:p>
                <a:r>
                  <a:rPr lang="en-US" altLang="zh-CN" sz="1600" dirty="0">
                    <a:solidFill>
                      <a:srgbClr val="C00000"/>
                    </a:solidFill>
                  </a:rPr>
                  <a:t>user1</a:t>
                </a:r>
                <a:endParaRPr lang="zh-CN" altLang="en-US" sz="1600" dirty="0">
                  <a:solidFill>
                    <a:srgbClr val="C00000"/>
                  </a:solidFill>
                </a:endParaRPr>
              </a:p>
            </p:txBody>
          </p:sp>
          <p:pic>
            <p:nvPicPr>
              <p:cNvPr id="449" name="图片 448"/>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749159" y="1486662"/>
                <a:ext cx="263398" cy="263398"/>
              </a:xfrm>
              <a:prstGeom prst="rect">
                <a:avLst/>
              </a:prstGeom>
            </p:spPr>
          </p:pic>
          <p:pic>
            <p:nvPicPr>
              <p:cNvPr id="450" name="图片 449"/>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290179" y="1865884"/>
                <a:ext cx="263398" cy="263398"/>
              </a:xfrm>
              <a:prstGeom prst="rect">
                <a:avLst/>
              </a:prstGeom>
            </p:spPr>
          </p:pic>
          <p:pic>
            <p:nvPicPr>
              <p:cNvPr id="451" name="图片 450"/>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117040" y="2096262"/>
                <a:ext cx="263398" cy="263398"/>
              </a:xfrm>
              <a:prstGeom prst="rect">
                <a:avLst/>
              </a:prstGeom>
            </p:spPr>
          </p:pic>
          <p:cxnSp>
            <p:nvCxnSpPr>
              <p:cNvPr id="452" name="直接箭头连接符 451"/>
              <p:cNvCxnSpPr/>
              <p:nvPr/>
            </p:nvCxnSpPr>
            <p:spPr>
              <a:xfrm>
                <a:off x="1870940" y="1720469"/>
                <a:ext cx="541020" cy="379222"/>
              </a:xfrm>
              <a:prstGeom prst="straightConnector1">
                <a:avLst/>
              </a:prstGeom>
              <a:ln w="12700">
                <a:solidFill>
                  <a:srgbClr val="338DCD"/>
                </a:solidFill>
                <a:tailEnd type="triangle"/>
              </a:ln>
            </p:spPr>
            <p:style>
              <a:lnRef idx="1">
                <a:schemeClr val="accent1"/>
              </a:lnRef>
              <a:fillRef idx="0">
                <a:schemeClr val="accent1"/>
              </a:fillRef>
              <a:effectRef idx="0">
                <a:schemeClr val="accent1"/>
              </a:effectRef>
              <a:fontRef idx="minor">
                <a:schemeClr val="tx1"/>
              </a:fontRef>
            </p:style>
          </p:cxnSp>
          <p:cxnSp>
            <p:nvCxnSpPr>
              <p:cNvPr id="453" name="直接箭头连接符 452"/>
              <p:cNvCxnSpPr/>
              <p:nvPr/>
            </p:nvCxnSpPr>
            <p:spPr>
              <a:xfrm>
                <a:off x="2433157" y="2094103"/>
                <a:ext cx="804303" cy="230378"/>
              </a:xfrm>
              <a:prstGeom prst="straightConnector1">
                <a:avLst/>
              </a:prstGeom>
              <a:ln w="12700">
                <a:solidFill>
                  <a:srgbClr val="338DCD"/>
                </a:solidFill>
                <a:tailEnd type="triangle"/>
              </a:ln>
            </p:spPr>
            <p:style>
              <a:lnRef idx="1">
                <a:schemeClr val="accent1"/>
              </a:lnRef>
              <a:fillRef idx="0">
                <a:schemeClr val="accent1"/>
              </a:fillRef>
              <a:effectRef idx="0">
                <a:schemeClr val="accent1"/>
              </a:effectRef>
              <a:fontRef idx="minor">
                <a:schemeClr val="tx1"/>
              </a:fontRef>
            </p:style>
          </p:cxnSp>
          <p:sp>
            <p:nvSpPr>
              <p:cNvPr id="454" name="文本框 453"/>
              <p:cNvSpPr txBox="1"/>
              <p:nvPr/>
            </p:nvSpPr>
            <p:spPr>
              <a:xfrm>
                <a:off x="3198725" y="1897507"/>
                <a:ext cx="1544344" cy="338554"/>
              </a:xfrm>
              <a:prstGeom prst="rect">
                <a:avLst/>
              </a:prstGeom>
              <a:noFill/>
            </p:spPr>
            <p:txBody>
              <a:bodyPr wrap="square" rtlCol="0">
                <a:spAutoFit/>
              </a:bodyPr>
              <a:lstStyle/>
              <a:p>
                <a:r>
                  <a:rPr lang="en-US" altLang="zh-CN" sz="1600" dirty="0">
                    <a:solidFill>
                      <a:srgbClr val="338DCD"/>
                    </a:solidFill>
                  </a:rPr>
                  <a:t>user2</a:t>
                </a:r>
                <a:endParaRPr lang="zh-CN" altLang="en-US" sz="1600" dirty="0">
                  <a:solidFill>
                    <a:srgbClr val="338DCD"/>
                  </a:solidFill>
                </a:endParaRPr>
              </a:p>
            </p:txBody>
          </p:sp>
          <p:sp>
            <p:nvSpPr>
              <p:cNvPr id="455" name="文本框 454"/>
              <p:cNvSpPr txBox="1"/>
              <p:nvPr/>
            </p:nvSpPr>
            <p:spPr>
              <a:xfrm>
                <a:off x="1295606" y="2200936"/>
                <a:ext cx="1544344" cy="338554"/>
              </a:xfrm>
              <a:prstGeom prst="rect">
                <a:avLst/>
              </a:prstGeom>
              <a:noFill/>
            </p:spPr>
            <p:txBody>
              <a:bodyPr wrap="square" rtlCol="0">
                <a:spAutoFit/>
              </a:bodyPr>
              <a:lstStyle/>
              <a:p>
                <a:r>
                  <a:rPr lang="en-US" altLang="zh-CN" sz="1600" dirty="0"/>
                  <a:t>Day3</a:t>
                </a:r>
                <a:endParaRPr lang="zh-CN" altLang="en-US" sz="1600" dirty="0"/>
              </a:p>
            </p:txBody>
          </p:sp>
        </p:grpSp>
        <p:grpSp>
          <p:nvGrpSpPr>
            <p:cNvPr id="456" name="组合 455"/>
            <p:cNvGrpSpPr/>
            <p:nvPr/>
          </p:nvGrpSpPr>
          <p:grpSpPr>
            <a:xfrm>
              <a:off x="1501371" y="2204615"/>
              <a:ext cx="4251591" cy="1194203"/>
              <a:chOff x="838569" y="1345287"/>
              <a:chExt cx="4251591" cy="1194203"/>
            </a:xfrm>
          </p:grpSpPr>
          <p:sp>
            <p:nvSpPr>
              <p:cNvPr id="457" name="流程图: 数据 456"/>
              <p:cNvSpPr/>
              <p:nvPr/>
            </p:nvSpPr>
            <p:spPr>
              <a:xfrm>
                <a:off x="838569" y="1389699"/>
                <a:ext cx="3499751" cy="1129981"/>
              </a:xfrm>
              <a:prstGeom prst="flowChartInputOutput">
                <a:avLst/>
              </a:prstGeom>
              <a:blipFill dpi="0" rotWithShape="1">
                <a:blip r:embed="rId3" cstate="email">
                  <a:extLst>
                    <a:ext uri="{28A0092B-C50C-407E-A947-70E740481C1C}">
                      <a14:useLocalDpi xmlns:a14="http://schemas.microsoft.com/office/drawing/2010/main" val="0"/>
                    </a:ext>
                  </a:extLst>
                </a:blip>
                <a:srcRect/>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58" name="图片 457"/>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51128" y="2037588"/>
                <a:ext cx="266700" cy="266700"/>
              </a:xfrm>
              <a:prstGeom prst="rect">
                <a:avLst/>
              </a:prstGeom>
            </p:spPr>
          </p:pic>
          <p:pic>
            <p:nvPicPr>
              <p:cNvPr id="459" name="图片 458"/>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597037" y="1770888"/>
                <a:ext cx="266700" cy="266700"/>
              </a:xfrm>
              <a:prstGeom prst="rect">
                <a:avLst/>
              </a:prstGeom>
            </p:spPr>
          </p:pic>
          <p:pic>
            <p:nvPicPr>
              <p:cNvPr id="460" name="图片 459"/>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766568" y="1504188"/>
                <a:ext cx="266700" cy="266700"/>
              </a:xfrm>
              <a:prstGeom prst="rect">
                <a:avLst/>
              </a:prstGeom>
            </p:spPr>
          </p:pic>
          <p:pic>
            <p:nvPicPr>
              <p:cNvPr id="461" name="图片 460"/>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419094" y="1556004"/>
                <a:ext cx="266700" cy="266700"/>
              </a:xfrm>
              <a:prstGeom prst="rect">
                <a:avLst/>
              </a:prstGeom>
            </p:spPr>
          </p:pic>
          <p:cxnSp>
            <p:nvCxnSpPr>
              <p:cNvPr id="462" name="直接箭头连接符 461"/>
              <p:cNvCxnSpPr/>
              <p:nvPr/>
            </p:nvCxnSpPr>
            <p:spPr>
              <a:xfrm flipV="1">
                <a:off x="1284478" y="1999234"/>
                <a:ext cx="445909" cy="266700"/>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cxnSp>
            <p:nvCxnSpPr>
              <p:cNvPr id="463" name="直接箭头连接符 462"/>
              <p:cNvCxnSpPr/>
              <p:nvPr/>
            </p:nvCxnSpPr>
            <p:spPr>
              <a:xfrm flipV="1">
                <a:off x="1730387" y="1732534"/>
                <a:ext cx="1169531" cy="266700"/>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cxnSp>
            <p:nvCxnSpPr>
              <p:cNvPr id="464" name="直接箭头连接符 463"/>
              <p:cNvCxnSpPr/>
              <p:nvPr/>
            </p:nvCxnSpPr>
            <p:spPr>
              <a:xfrm>
                <a:off x="2899918" y="1732534"/>
                <a:ext cx="652526" cy="51816"/>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sp>
            <p:nvSpPr>
              <p:cNvPr id="465" name="文本框 464"/>
              <p:cNvSpPr txBox="1"/>
              <p:nvPr/>
            </p:nvSpPr>
            <p:spPr>
              <a:xfrm>
                <a:off x="3545816" y="1345287"/>
                <a:ext cx="1544344" cy="338554"/>
              </a:xfrm>
              <a:prstGeom prst="rect">
                <a:avLst/>
              </a:prstGeom>
              <a:noFill/>
            </p:spPr>
            <p:txBody>
              <a:bodyPr wrap="square" rtlCol="0">
                <a:spAutoFit/>
              </a:bodyPr>
              <a:lstStyle/>
              <a:p>
                <a:r>
                  <a:rPr lang="en-US" altLang="zh-CN" sz="1600" dirty="0">
                    <a:solidFill>
                      <a:srgbClr val="C00000"/>
                    </a:solidFill>
                  </a:rPr>
                  <a:t>user1</a:t>
                </a:r>
                <a:endParaRPr lang="zh-CN" altLang="en-US" sz="1600" dirty="0">
                  <a:solidFill>
                    <a:srgbClr val="C00000"/>
                  </a:solidFill>
                </a:endParaRPr>
              </a:p>
            </p:txBody>
          </p:sp>
          <p:pic>
            <p:nvPicPr>
              <p:cNvPr id="466" name="图片 465"/>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749159" y="1486662"/>
                <a:ext cx="263398" cy="263398"/>
              </a:xfrm>
              <a:prstGeom prst="rect">
                <a:avLst/>
              </a:prstGeom>
            </p:spPr>
          </p:pic>
          <p:pic>
            <p:nvPicPr>
              <p:cNvPr id="467" name="图片 466"/>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290179" y="1865884"/>
                <a:ext cx="263398" cy="263398"/>
              </a:xfrm>
              <a:prstGeom prst="rect">
                <a:avLst/>
              </a:prstGeom>
            </p:spPr>
          </p:pic>
          <p:pic>
            <p:nvPicPr>
              <p:cNvPr id="468" name="图片 467"/>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117040" y="2096262"/>
                <a:ext cx="263398" cy="263398"/>
              </a:xfrm>
              <a:prstGeom prst="rect">
                <a:avLst/>
              </a:prstGeom>
            </p:spPr>
          </p:pic>
          <p:cxnSp>
            <p:nvCxnSpPr>
              <p:cNvPr id="469" name="直接箭头连接符 468"/>
              <p:cNvCxnSpPr/>
              <p:nvPr/>
            </p:nvCxnSpPr>
            <p:spPr>
              <a:xfrm>
                <a:off x="1870940" y="1720469"/>
                <a:ext cx="541020" cy="379222"/>
              </a:xfrm>
              <a:prstGeom prst="straightConnector1">
                <a:avLst/>
              </a:prstGeom>
              <a:ln w="12700">
                <a:solidFill>
                  <a:srgbClr val="338DCD"/>
                </a:solidFill>
                <a:tailEnd type="triangle"/>
              </a:ln>
            </p:spPr>
            <p:style>
              <a:lnRef idx="1">
                <a:schemeClr val="accent1"/>
              </a:lnRef>
              <a:fillRef idx="0">
                <a:schemeClr val="accent1"/>
              </a:fillRef>
              <a:effectRef idx="0">
                <a:schemeClr val="accent1"/>
              </a:effectRef>
              <a:fontRef idx="minor">
                <a:schemeClr val="tx1"/>
              </a:fontRef>
            </p:style>
          </p:cxnSp>
          <p:cxnSp>
            <p:nvCxnSpPr>
              <p:cNvPr id="470" name="直接箭头连接符 469"/>
              <p:cNvCxnSpPr/>
              <p:nvPr/>
            </p:nvCxnSpPr>
            <p:spPr>
              <a:xfrm>
                <a:off x="2433157" y="2094103"/>
                <a:ext cx="804303" cy="230378"/>
              </a:xfrm>
              <a:prstGeom prst="straightConnector1">
                <a:avLst/>
              </a:prstGeom>
              <a:ln w="12700">
                <a:solidFill>
                  <a:srgbClr val="338DCD"/>
                </a:solidFill>
                <a:tailEnd type="triangle"/>
              </a:ln>
            </p:spPr>
            <p:style>
              <a:lnRef idx="1">
                <a:schemeClr val="accent1"/>
              </a:lnRef>
              <a:fillRef idx="0">
                <a:schemeClr val="accent1"/>
              </a:fillRef>
              <a:effectRef idx="0">
                <a:schemeClr val="accent1"/>
              </a:effectRef>
              <a:fontRef idx="minor">
                <a:schemeClr val="tx1"/>
              </a:fontRef>
            </p:style>
          </p:cxnSp>
          <p:sp>
            <p:nvSpPr>
              <p:cNvPr id="471" name="文本框 470"/>
              <p:cNvSpPr txBox="1"/>
              <p:nvPr/>
            </p:nvSpPr>
            <p:spPr>
              <a:xfrm>
                <a:off x="3198725" y="1897507"/>
                <a:ext cx="1544344" cy="338554"/>
              </a:xfrm>
              <a:prstGeom prst="rect">
                <a:avLst/>
              </a:prstGeom>
              <a:noFill/>
            </p:spPr>
            <p:txBody>
              <a:bodyPr wrap="square" rtlCol="0">
                <a:spAutoFit/>
              </a:bodyPr>
              <a:lstStyle/>
              <a:p>
                <a:r>
                  <a:rPr lang="en-US" altLang="zh-CN" sz="1600" dirty="0">
                    <a:solidFill>
                      <a:srgbClr val="338DCD"/>
                    </a:solidFill>
                  </a:rPr>
                  <a:t>user2</a:t>
                </a:r>
                <a:endParaRPr lang="zh-CN" altLang="en-US" sz="1600" dirty="0">
                  <a:solidFill>
                    <a:srgbClr val="338DCD"/>
                  </a:solidFill>
                </a:endParaRPr>
              </a:p>
            </p:txBody>
          </p:sp>
          <p:sp>
            <p:nvSpPr>
              <p:cNvPr id="472" name="文本框 471"/>
              <p:cNvSpPr txBox="1"/>
              <p:nvPr/>
            </p:nvSpPr>
            <p:spPr>
              <a:xfrm>
                <a:off x="1295606" y="2200936"/>
                <a:ext cx="1544344" cy="338554"/>
              </a:xfrm>
              <a:prstGeom prst="rect">
                <a:avLst/>
              </a:prstGeom>
              <a:noFill/>
            </p:spPr>
            <p:txBody>
              <a:bodyPr wrap="square" rtlCol="0">
                <a:spAutoFit/>
              </a:bodyPr>
              <a:lstStyle/>
              <a:p>
                <a:r>
                  <a:rPr lang="en-US" altLang="zh-CN" sz="1600" dirty="0"/>
                  <a:t>Day2</a:t>
                </a:r>
                <a:endParaRPr lang="zh-CN" altLang="en-US" sz="1600" dirty="0"/>
              </a:p>
            </p:txBody>
          </p:sp>
        </p:grpSp>
        <p:grpSp>
          <p:nvGrpSpPr>
            <p:cNvPr id="473" name="组合 472"/>
            <p:cNvGrpSpPr/>
            <p:nvPr/>
          </p:nvGrpSpPr>
          <p:grpSpPr>
            <a:xfrm>
              <a:off x="1501371" y="1873458"/>
              <a:ext cx="4251591" cy="1194203"/>
              <a:chOff x="838569" y="1345287"/>
              <a:chExt cx="4251591" cy="1194203"/>
            </a:xfrm>
          </p:grpSpPr>
          <p:sp>
            <p:nvSpPr>
              <p:cNvPr id="474" name="流程图: 数据 473"/>
              <p:cNvSpPr/>
              <p:nvPr/>
            </p:nvSpPr>
            <p:spPr>
              <a:xfrm>
                <a:off x="838569" y="1389699"/>
                <a:ext cx="3499751" cy="1129981"/>
              </a:xfrm>
              <a:prstGeom prst="flowChartInputOutput">
                <a:avLst/>
              </a:prstGeom>
              <a:blipFill dpi="0" rotWithShape="1">
                <a:blip r:embed="rId3" cstate="email">
                  <a:extLst>
                    <a:ext uri="{28A0092B-C50C-407E-A947-70E740481C1C}">
                      <a14:useLocalDpi xmlns:a14="http://schemas.microsoft.com/office/drawing/2010/main" val="0"/>
                    </a:ext>
                  </a:extLst>
                </a:blip>
                <a:srcRect/>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75" name="图片 474"/>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51128" y="2037588"/>
                <a:ext cx="266700" cy="266700"/>
              </a:xfrm>
              <a:prstGeom prst="rect">
                <a:avLst/>
              </a:prstGeom>
            </p:spPr>
          </p:pic>
          <p:pic>
            <p:nvPicPr>
              <p:cNvPr id="476" name="图片 475"/>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597037" y="1770888"/>
                <a:ext cx="266700" cy="266700"/>
              </a:xfrm>
              <a:prstGeom prst="rect">
                <a:avLst/>
              </a:prstGeom>
            </p:spPr>
          </p:pic>
          <p:pic>
            <p:nvPicPr>
              <p:cNvPr id="477" name="图片 476"/>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766568" y="1504188"/>
                <a:ext cx="266700" cy="266700"/>
              </a:xfrm>
              <a:prstGeom prst="rect">
                <a:avLst/>
              </a:prstGeom>
            </p:spPr>
          </p:pic>
          <p:pic>
            <p:nvPicPr>
              <p:cNvPr id="478" name="图片 477"/>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419094" y="1556004"/>
                <a:ext cx="266700" cy="266700"/>
              </a:xfrm>
              <a:prstGeom prst="rect">
                <a:avLst/>
              </a:prstGeom>
            </p:spPr>
          </p:pic>
          <p:cxnSp>
            <p:nvCxnSpPr>
              <p:cNvPr id="479" name="直接箭头连接符 478"/>
              <p:cNvCxnSpPr/>
              <p:nvPr/>
            </p:nvCxnSpPr>
            <p:spPr>
              <a:xfrm flipV="1">
                <a:off x="1284478" y="1999234"/>
                <a:ext cx="445909" cy="266700"/>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cxnSp>
            <p:nvCxnSpPr>
              <p:cNvPr id="480" name="直接箭头连接符 479"/>
              <p:cNvCxnSpPr/>
              <p:nvPr/>
            </p:nvCxnSpPr>
            <p:spPr>
              <a:xfrm flipV="1">
                <a:off x="1730387" y="1732534"/>
                <a:ext cx="1169531" cy="266700"/>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cxnSp>
            <p:nvCxnSpPr>
              <p:cNvPr id="481" name="直接箭头连接符 480"/>
              <p:cNvCxnSpPr/>
              <p:nvPr/>
            </p:nvCxnSpPr>
            <p:spPr>
              <a:xfrm>
                <a:off x="2899918" y="1732534"/>
                <a:ext cx="652526" cy="51816"/>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sp>
            <p:nvSpPr>
              <p:cNvPr id="482" name="文本框 481"/>
              <p:cNvSpPr txBox="1"/>
              <p:nvPr/>
            </p:nvSpPr>
            <p:spPr>
              <a:xfrm>
                <a:off x="3545816" y="1345287"/>
                <a:ext cx="1544344" cy="338554"/>
              </a:xfrm>
              <a:prstGeom prst="rect">
                <a:avLst/>
              </a:prstGeom>
              <a:noFill/>
            </p:spPr>
            <p:txBody>
              <a:bodyPr wrap="square" rtlCol="0">
                <a:spAutoFit/>
              </a:bodyPr>
              <a:lstStyle/>
              <a:p>
                <a:r>
                  <a:rPr lang="en-US" altLang="zh-CN" sz="1600" dirty="0">
                    <a:solidFill>
                      <a:srgbClr val="C00000"/>
                    </a:solidFill>
                  </a:rPr>
                  <a:t>user1</a:t>
                </a:r>
                <a:endParaRPr lang="zh-CN" altLang="en-US" sz="1600" dirty="0">
                  <a:solidFill>
                    <a:srgbClr val="C00000"/>
                  </a:solidFill>
                </a:endParaRPr>
              </a:p>
            </p:txBody>
          </p:sp>
          <p:pic>
            <p:nvPicPr>
              <p:cNvPr id="483" name="图片 482"/>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749159" y="1486662"/>
                <a:ext cx="263398" cy="263398"/>
              </a:xfrm>
              <a:prstGeom prst="rect">
                <a:avLst/>
              </a:prstGeom>
            </p:spPr>
          </p:pic>
          <p:pic>
            <p:nvPicPr>
              <p:cNvPr id="484" name="图片 483"/>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290179" y="1865884"/>
                <a:ext cx="263398" cy="263398"/>
              </a:xfrm>
              <a:prstGeom prst="rect">
                <a:avLst/>
              </a:prstGeom>
            </p:spPr>
          </p:pic>
          <p:pic>
            <p:nvPicPr>
              <p:cNvPr id="485" name="图片 484"/>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117040" y="2096262"/>
                <a:ext cx="263398" cy="263398"/>
              </a:xfrm>
              <a:prstGeom prst="rect">
                <a:avLst/>
              </a:prstGeom>
            </p:spPr>
          </p:pic>
          <p:cxnSp>
            <p:nvCxnSpPr>
              <p:cNvPr id="486" name="直接箭头连接符 485"/>
              <p:cNvCxnSpPr/>
              <p:nvPr/>
            </p:nvCxnSpPr>
            <p:spPr>
              <a:xfrm>
                <a:off x="1870940" y="1720469"/>
                <a:ext cx="541020" cy="379222"/>
              </a:xfrm>
              <a:prstGeom prst="straightConnector1">
                <a:avLst/>
              </a:prstGeom>
              <a:ln w="12700">
                <a:solidFill>
                  <a:srgbClr val="338DCD"/>
                </a:solidFill>
                <a:tailEnd type="triangle"/>
              </a:ln>
            </p:spPr>
            <p:style>
              <a:lnRef idx="1">
                <a:schemeClr val="accent1"/>
              </a:lnRef>
              <a:fillRef idx="0">
                <a:schemeClr val="accent1"/>
              </a:fillRef>
              <a:effectRef idx="0">
                <a:schemeClr val="accent1"/>
              </a:effectRef>
              <a:fontRef idx="minor">
                <a:schemeClr val="tx1"/>
              </a:fontRef>
            </p:style>
          </p:cxnSp>
          <p:cxnSp>
            <p:nvCxnSpPr>
              <p:cNvPr id="487" name="直接箭头连接符 486"/>
              <p:cNvCxnSpPr/>
              <p:nvPr/>
            </p:nvCxnSpPr>
            <p:spPr>
              <a:xfrm>
                <a:off x="2433157" y="2094103"/>
                <a:ext cx="804303" cy="230378"/>
              </a:xfrm>
              <a:prstGeom prst="straightConnector1">
                <a:avLst/>
              </a:prstGeom>
              <a:ln w="12700">
                <a:solidFill>
                  <a:srgbClr val="338DCD"/>
                </a:solidFill>
                <a:tailEnd type="triangle"/>
              </a:ln>
            </p:spPr>
            <p:style>
              <a:lnRef idx="1">
                <a:schemeClr val="accent1"/>
              </a:lnRef>
              <a:fillRef idx="0">
                <a:schemeClr val="accent1"/>
              </a:fillRef>
              <a:effectRef idx="0">
                <a:schemeClr val="accent1"/>
              </a:effectRef>
              <a:fontRef idx="minor">
                <a:schemeClr val="tx1"/>
              </a:fontRef>
            </p:style>
          </p:cxnSp>
          <p:sp>
            <p:nvSpPr>
              <p:cNvPr id="488" name="文本框 487"/>
              <p:cNvSpPr txBox="1"/>
              <p:nvPr/>
            </p:nvSpPr>
            <p:spPr>
              <a:xfrm>
                <a:off x="3198725" y="1897507"/>
                <a:ext cx="1544344" cy="338554"/>
              </a:xfrm>
              <a:prstGeom prst="rect">
                <a:avLst/>
              </a:prstGeom>
              <a:noFill/>
            </p:spPr>
            <p:txBody>
              <a:bodyPr wrap="square" rtlCol="0">
                <a:spAutoFit/>
              </a:bodyPr>
              <a:lstStyle/>
              <a:p>
                <a:r>
                  <a:rPr lang="en-US" altLang="zh-CN" sz="1600" dirty="0">
                    <a:solidFill>
                      <a:srgbClr val="338DCD"/>
                    </a:solidFill>
                  </a:rPr>
                  <a:t>user2</a:t>
                </a:r>
                <a:endParaRPr lang="zh-CN" altLang="en-US" sz="1600" dirty="0">
                  <a:solidFill>
                    <a:srgbClr val="338DCD"/>
                  </a:solidFill>
                </a:endParaRPr>
              </a:p>
            </p:txBody>
          </p:sp>
          <p:sp>
            <p:nvSpPr>
              <p:cNvPr id="489" name="文本框 488"/>
              <p:cNvSpPr txBox="1"/>
              <p:nvPr/>
            </p:nvSpPr>
            <p:spPr>
              <a:xfrm>
                <a:off x="1295606" y="2200936"/>
                <a:ext cx="1544344" cy="338554"/>
              </a:xfrm>
              <a:prstGeom prst="rect">
                <a:avLst/>
              </a:prstGeom>
              <a:noFill/>
            </p:spPr>
            <p:txBody>
              <a:bodyPr wrap="square" rtlCol="0">
                <a:spAutoFit/>
              </a:bodyPr>
              <a:lstStyle/>
              <a:p>
                <a:r>
                  <a:rPr lang="en-US" altLang="zh-CN" sz="1600" dirty="0"/>
                  <a:t>Day1</a:t>
                </a:r>
                <a:endParaRPr lang="zh-CN" altLang="en-US" sz="1600" dirty="0"/>
              </a:p>
            </p:txBody>
          </p:sp>
        </p:grpSp>
        <p:sp>
          <p:nvSpPr>
            <p:cNvPr id="490" name="文本框 489"/>
            <p:cNvSpPr txBox="1"/>
            <p:nvPr/>
          </p:nvSpPr>
          <p:spPr>
            <a:xfrm>
              <a:off x="2814113" y="3851000"/>
              <a:ext cx="1086149" cy="338554"/>
            </a:xfrm>
            <a:prstGeom prst="rect">
              <a:avLst/>
            </a:prstGeom>
            <a:noFill/>
          </p:spPr>
          <p:txBody>
            <a:bodyPr wrap="square" rtlCol="0">
              <a:spAutoFit/>
            </a:bodyPr>
            <a:lstStyle/>
            <a:p>
              <a:r>
                <a:rPr lang="en-US" altLang="zh-CN" sz="1600" dirty="0"/>
                <a:t>…</a:t>
              </a:r>
              <a:endParaRPr lang="zh-CN" altLang="en-US" sz="1600" dirty="0"/>
            </a:p>
          </p:txBody>
        </p:sp>
        <p:grpSp>
          <p:nvGrpSpPr>
            <p:cNvPr id="491" name="组合 490"/>
            <p:cNvGrpSpPr/>
            <p:nvPr/>
          </p:nvGrpSpPr>
          <p:grpSpPr>
            <a:xfrm>
              <a:off x="1231391" y="4562559"/>
              <a:ext cx="4251591" cy="1194203"/>
              <a:chOff x="838569" y="1345287"/>
              <a:chExt cx="4251591" cy="1194203"/>
            </a:xfrm>
          </p:grpSpPr>
          <p:sp>
            <p:nvSpPr>
              <p:cNvPr id="492" name="流程图: 数据 491"/>
              <p:cNvSpPr/>
              <p:nvPr/>
            </p:nvSpPr>
            <p:spPr>
              <a:xfrm>
                <a:off x="838569" y="1389699"/>
                <a:ext cx="3499751" cy="1129981"/>
              </a:xfrm>
              <a:prstGeom prst="flowChartInputOutput">
                <a:avLst/>
              </a:prstGeom>
              <a:blipFill dpi="0" rotWithShape="1">
                <a:blip r:embed="rId3" cstate="email">
                  <a:extLst>
                    <a:ext uri="{28A0092B-C50C-407E-A947-70E740481C1C}">
                      <a14:useLocalDpi xmlns:a14="http://schemas.microsoft.com/office/drawing/2010/main" val="0"/>
                    </a:ext>
                  </a:extLst>
                </a:blip>
                <a:srcRect/>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493" name="图片 492"/>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51128" y="2037588"/>
                <a:ext cx="266700" cy="266700"/>
              </a:xfrm>
              <a:prstGeom prst="rect">
                <a:avLst/>
              </a:prstGeom>
            </p:spPr>
          </p:pic>
          <p:pic>
            <p:nvPicPr>
              <p:cNvPr id="494" name="图片 49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597037" y="1770888"/>
                <a:ext cx="266700" cy="266700"/>
              </a:xfrm>
              <a:prstGeom prst="rect">
                <a:avLst/>
              </a:prstGeom>
            </p:spPr>
          </p:pic>
          <p:pic>
            <p:nvPicPr>
              <p:cNvPr id="495" name="图片 494"/>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766568" y="1504188"/>
                <a:ext cx="266700" cy="266700"/>
              </a:xfrm>
              <a:prstGeom prst="rect">
                <a:avLst/>
              </a:prstGeom>
            </p:spPr>
          </p:pic>
          <p:pic>
            <p:nvPicPr>
              <p:cNvPr id="496" name="图片 495"/>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3419094" y="1556004"/>
                <a:ext cx="266700" cy="266700"/>
              </a:xfrm>
              <a:prstGeom prst="rect">
                <a:avLst/>
              </a:prstGeom>
            </p:spPr>
          </p:pic>
          <p:cxnSp>
            <p:nvCxnSpPr>
              <p:cNvPr id="497" name="直接箭头连接符 496"/>
              <p:cNvCxnSpPr/>
              <p:nvPr/>
            </p:nvCxnSpPr>
            <p:spPr>
              <a:xfrm flipV="1">
                <a:off x="1284478" y="1999234"/>
                <a:ext cx="445909" cy="266700"/>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cxnSp>
            <p:nvCxnSpPr>
              <p:cNvPr id="498" name="直接箭头连接符 497"/>
              <p:cNvCxnSpPr/>
              <p:nvPr/>
            </p:nvCxnSpPr>
            <p:spPr>
              <a:xfrm flipV="1">
                <a:off x="1730387" y="1732534"/>
                <a:ext cx="1169531" cy="266700"/>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cxnSp>
            <p:nvCxnSpPr>
              <p:cNvPr id="499" name="直接箭头连接符 498"/>
              <p:cNvCxnSpPr/>
              <p:nvPr/>
            </p:nvCxnSpPr>
            <p:spPr>
              <a:xfrm>
                <a:off x="2899918" y="1732534"/>
                <a:ext cx="652526" cy="51816"/>
              </a:xfrm>
              <a:prstGeom prst="straightConnector1">
                <a:avLst/>
              </a:prstGeom>
              <a:ln w="12700">
                <a:solidFill>
                  <a:srgbClr val="CC4A4A"/>
                </a:solidFill>
                <a:tailEnd type="triangle"/>
              </a:ln>
            </p:spPr>
            <p:style>
              <a:lnRef idx="1">
                <a:schemeClr val="accent1"/>
              </a:lnRef>
              <a:fillRef idx="0">
                <a:schemeClr val="accent1"/>
              </a:fillRef>
              <a:effectRef idx="0">
                <a:schemeClr val="accent1"/>
              </a:effectRef>
              <a:fontRef idx="minor">
                <a:schemeClr val="tx1"/>
              </a:fontRef>
            </p:style>
          </p:cxnSp>
          <p:sp>
            <p:nvSpPr>
              <p:cNvPr id="500" name="文本框 499"/>
              <p:cNvSpPr txBox="1"/>
              <p:nvPr/>
            </p:nvSpPr>
            <p:spPr>
              <a:xfrm>
                <a:off x="3545816" y="1345287"/>
                <a:ext cx="1544344" cy="338554"/>
              </a:xfrm>
              <a:prstGeom prst="rect">
                <a:avLst/>
              </a:prstGeom>
              <a:noFill/>
            </p:spPr>
            <p:txBody>
              <a:bodyPr wrap="square" rtlCol="0">
                <a:spAutoFit/>
              </a:bodyPr>
              <a:lstStyle/>
              <a:p>
                <a:r>
                  <a:rPr lang="en-US" altLang="zh-CN" sz="1600" dirty="0">
                    <a:solidFill>
                      <a:srgbClr val="C00000"/>
                    </a:solidFill>
                  </a:rPr>
                  <a:t>user1</a:t>
                </a:r>
                <a:endParaRPr lang="zh-CN" altLang="en-US" sz="1600" dirty="0">
                  <a:solidFill>
                    <a:srgbClr val="C00000"/>
                  </a:solidFill>
                </a:endParaRPr>
              </a:p>
            </p:txBody>
          </p:sp>
          <p:pic>
            <p:nvPicPr>
              <p:cNvPr id="501" name="图片 500"/>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749159" y="1486662"/>
                <a:ext cx="263398" cy="263398"/>
              </a:xfrm>
              <a:prstGeom prst="rect">
                <a:avLst/>
              </a:prstGeom>
            </p:spPr>
          </p:pic>
          <p:pic>
            <p:nvPicPr>
              <p:cNvPr id="502" name="图片 501"/>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290179" y="1865884"/>
                <a:ext cx="263398" cy="263398"/>
              </a:xfrm>
              <a:prstGeom prst="rect">
                <a:avLst/>
              </a:prstGeom>
            </p:spPr>
          </p:pic>
          <p:pic>
            <p:nvPicPr>
              <p:cNvPr id="503" name="图片 502"/>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3117040" y="2096262"/>
                <a:ext cx="263398" cy="263398"/>
              </a:xfrm>
              <a:prstGeom prst="rect">
                <a:avLst/>
              </a:prstGeom>
            </p:spPr>
          </p:pic>
          <p:cxnSp>
            <p:nvCxnSpPr>
              <p:cNvPr id="504" name="直接箭头连接符 503"/>
              <p:cNvCxnSpPr/>
              <p:nvPr/>
            </p:nvCxnSpPr>
            <p:spPr>
              <a:xfrm>
                <a:off x="1870940" y="1720469"/>
                <a:ext cx="541020" cy="379222"/>
              </a:xfrm>
              <a:prstGeom prst="straightConnector1">
                <a:avLst/>
              </a:prstGeom>
              <a:ln w="12700">
                <a:solidFill>
                  <a:srgbClr val="338DCD"/>
                </a:solidFill>
                <a:tailEnd type="triangle"/>
              </a:ln>
            </p:spPr>
            <p:style>
              <a:lnRef idx="1">
                <a:schemeClr val="accent1"/>
              </a:lnRef>
              <a:fillRef idx="0">
                <a:schemeClr val="accent1"/>
              </a:fillRef>
              <a:effectRef idx="0">
                <a:schemeClr val="accent1"/>
              </a:effectRef>
              <a:fontRef idx="minor">
                <a:schemeClr val="tx1"/>
              </a:fontRef>
            </p:style>
          </p:cxnSp>
          <p:cxnSp>
            <p:nvCxnSpPr>
              <p:cNvPr id="505" name="直接箭头连接符 504"/>
              <p:cNvCxnSpPr/>
              <p:nvPr/>
            </p:nvCxnSpPr>
            <p:spPr>
              <a:xfrm>
                <a:off x="2433157" y="2094103"/>
                <a:ext cx="804303" cy="230378"/>
              </a:xfrm>
              <a:prstGeom prst="straightConnector1">
                <a:avLst/>
              </a:prstGeom>
              <a:ln w="12700">
                <a:solidFill>
                  <a:srgbClr val="338DCD"/>
                </a:solidFill>
                <a:tailEnd type="triangle"/>
              </a:ln>
            </p:spPr>
            <p:style>
              <a:lnRef idx="1">
                <a:schemeClr val="accent1"/>
              </a:lnRef>
              <a:fillRef idx="0">
                <a:schemeClr val="accent1"/>
              </a:fillRef>
              <a:effectRef idx="0">
                <a:schemeClr val="accent1"/>
              </a:effectRef>
              <a:fontRef idx="minor">
                <a:schemeClr val="tx1"/>
              </a:fontRef>
            </p:style>
          </p:cxnSp>
          <p:sp>
            <p:nvSpPr>
              <p:cNvPr id="506" name="文本框 505"/>
              <p:cNvSpPr txBox="1"/>
              <p:nvPr/>
            </p:nvSpPr>
            <p:spPr>
              <a:xfrm>
                <a:off x="3198725" y="1897507"/>
                <a:ext cx="1544344" cy="338554"/>
              </a:xfrm>
              <a:prstGeom prst="rect">
                <a:avLst/>
              </a:prstGeom>
              <a:noFill/>
            </p:spPr>
            <p:txBody>
              <a:bodyPr wrap="square" rtlCol="0">
                <a:spAutoFit/>
              </a:bodyPr>
              <a:lstStyle/>
              <a:p>
                <a:r>
                  <a:rPr lang="en-US" altLang="zh-CN" sz="1600" dirty="0">
                    <a:solidFill>
                      <a:srgbClr val="338DCD"/>
                    </a:solidFill>
                  </a:rPr>
                  <a:t>user2</a:t>
                </a:r>
                <a:endParaRPr lang="zh-CN" altLang="en-US" sz="1600" dirty="0">
                  <a:solidFill>
                    <a:srgbClr val="338DCD"/>
                  </a:solidFill>
                </a:endParaRPr>
              </a:p>
            </p:txBody>
          </p:sp>
          <p:sp>
            <p:nvSpPr>
              <p:cNvPr id="507" name="文本框 506"/>
              <p:cNvSpPr txBox="1"/>
              <p:nvPr/>
            </p:nvSpPr>
            <p:spPr>
              <a:xfrm>
                <a:off x="1295606" y="2200936"/>
                <a:ext cx="1544344" cy="338554"/>
              </a:xfrm>
              <a:prstGeom prst="rect">
                <a:avLst/>
              </a:prstGeom>
              <a:noFill/>
            </p:spPr>
            <p:txBody>
              <a:bodyPr wrap="square" rtlCol="0">
                <a:spAutoFit/>
              </a:bodyPr>
              <a:lstStyle/>
              <a:p>
                <a:r>
                  <a:rPr lang="en-US" altLang="zh-CN" sz="1600" dirty="0" err="1"/>
                  <a:t>DayN</a:t>
                </a:r>
                <a:endParaRPr lang="zh-CN" altLang="en-US" sz="1600" dirty="0"/>
              </a:p>
            </p:txBody>
          </p:sp>
        </p:grpSp>
        <p:sp>
          <p:nvSpPr>
            <p:cNvPr id="508" name="文本框 507"/>
            <p:cNvSpPr txBox="1"/>
            <p:nvPr/>
          </p:nvSpPr>
          <p:spPr>
            <a:xfrm>
              <a:off x="1624670" y="3885416"/>
              <a:ext cx="2960393" cy="369332"/>
            </a:xfrm>
            <a:prstGeom prst="rect">
              <a:avLst/>
            </a:prstGeom>
            <a:solidFill>
              <a:schemeClr val="bg1">
                <a:lumMod val="95000"/>
              </a:schemeClr>
            </a:solidFill>
            <a:ln>
              <a:solidFill>
                <a:srgbClr val="86981D"/>
              </a:solidFill>
            </a:ln>
          </p:spPr>
          <p:txBody>
            <a:bodyPr wrap="square" rtlCol="0">
              <a:spAutoFit/>
            </a:bodyPr>
            <a:lstStyle/>
            <a:p>
              <a:r>
                <a:rPr lang="en-US" altLang="zh-CN" dirty="0">
                  <a:solidFill>
                    <a:srgbClr val="86981D"/>
                  </a:solidFill>
                </a:rPr>
                <a:t>History sparse trajectories</a:t>
              </a:r>
              <a:endParaRPr lang="zh-CN" altLang="en-US" dirty="0">
                <a:solidFill>
                  <a:srgbClr val="86981D"/>
                </a:solidFill>
              </a:endParaRPr>
            </a:p>
          </p:txBody>
        </p:sp>
        <p:sp>
          <p:nvSpPr>
            <p:cNvPr id="509" name="文本框 508"/>
            <p:cNvSpPr txBox="1"/>
            <p:nvPr/>
          </p:nvSpPr>
          <p:spPr>
            <a:xfrm>
              <a:off x="1441425" y="5835131"/>
              <a:ext cx="2948800" cy="369332"/>
            </a:xfrm>
            <a:prstGeom prst="rect">
              <a:avLst/>
            </a:prstGeom>
            <a:solidFill>
              <a:schemeClr val="bg1">
                <a:lumMod val="95000"/>
              </a:schemeClr>
            </a:solidFill>
            <a:ln>
              <a:solidFill>
                <a:srgbClr val="86981D"/>
              </a:solidFill>
            </a:ln>
          </p:spPr>
          <p:txBody>
            <a:bodyPr wrap="square" rtlCol="0">
              <a:spAutoFit/>
            </a:bodyPr>
            <a:lstStyle>
              <a:defPPr>
                <a:defRPr lang="zh-CN"/>
              </a:defPPr>
              <a:lvl1pPr>
                <a:defRPr sz="2000">
                  <a:solidFill>
                    <a:srgbClr val="C00000"/>
                  </a:solidFill>
                </a:defRPr>
              </a:lvl1pPr>
            </a:lstStyle>
            <a:p>
              <a:r>
                <a:rPr lang="en-US" altLang="zh-CN" sz="1800" dirty="0">
                  <a:solidFill>
                    <a:srgbClr val="86981D"/>
                  </a:solidFill>
                </a:rPr>
                <a:t>Current sparse trajectories </a:t>
              </a:r>
              <a:endParaRPr lang="zh-CN" altLang="en-US" sz="1800" dirty="0">
                <a:solidFill>
                  <a:srgbClr val="86981D"/>
                </a:solidFill>
              </a:endParaRPr>
            </a:p>
          </p:txBody>
        </p:sp>
        <p:sp>
          <p:nvSpPr>
            <p:cNvPr id="510" name="右弧形箭头 509"/>
            <p:cNvSpPr/>
            <p:nvPr/>
          </p:nvSpPr>
          <p:spPr>
            <a:xfrm>
              <a:off x="4885065" y="2869903"/>
              <a:ext cx="995082" cy="2217863"/>
            </a:xfrm>
            <a:prstGeom prst="curvedLef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511" name="下弧形箭头 510"/>
            <p:cNvSpPr/>
            <p:nvPr/>
          </p:nvSpPr>
          <p:spPr>
            <a:xfrm rot="20774282">
              <a:off x="4452818" y="4615695"/>
              <a:ext cx="3571386" cy="957218"/>
            </a:xfrm>
            <a:prstGeom prst="curvedUpArrow">
              <a:avLst>
                <a:gd name="adj1" fmla="val 33702"/>
                <a:gd name="adj2" fmla="val 75903"/>
                <a:gd name="adj3" fmla="val 25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grpSp>
          <p:nvGrpSpPr>
            <p:cNvPr id="512" name="组合 511"/>
            <p:cNvGrpSpPr/>
            <p:nvPr/>
          </p:nvGrpSpPr>
          <p:grpSpPr>
            <a:xfrm>
              <a:off x="6276424" y="2135077"/>
              <a:ext cx="5095958" cy="2163553"/>
              <a:chOff x="6679813" y="2349734"/>
              <a:chExt cx="5376411" cy="2563982"/>
            </a:xfrm>
          </p:grpSpPr>
          <p:grpSp>
            <p:nvGrpSpPr>
              <p:cNvPr id="513" name="组合 512"/>
              <p:cNvGrpSpPr/>
              <p:nvPr/>
            </p:nvGrpSpPr>
            <p:grpSpPr>
              <a:xfrm>
                <a:off x="6679813" y="2349734"/>
                <a:ext cx="5376411" cy="2054131"/>
                <a:chOff x="838569" y="1389699"/>
                <a:chExt cx="4271923" cy="1129981"/>
              </a:xfrm>
            </p:grpSpPr>
            <p:sp>
              <p:nvSpPr>
                <p:cNvPr id="599" name="流程图: 数据 598"/>
                <p:cNvSpPr/>
                <p:nvPr/>
              </p:nvSpPr>
              <p:spPr>
                <a:xfrm>
                  <a:off x="838569" y="1389699"/>
                  <a:ext cx="3499751" cy="1129981"/>
                </a:xfrm>
                <a:prstGeom prst="flowChartInputOutput">
                  <a:avLst/>
                </a:prstGeom>
                <a:blipFill dpi="0" rotWithShape="1">
                  <a:blip r:embed="rId6" cstate="email">
                    <a:extLst>
                      <a:ext uri="{28A0092B-C50C-407E-A947-70E740481C1C}">
                        <a14:useLocalDpi xmlns:a14="http://schemas.microsoft.com/office/drawing/2010/main" val="0"/>
                      </a:ext>
                    </a:extLst>
                  </a:blip>
                  <a:srcRect/>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600" name="图片 599"/>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1151128" y="2084678"/>
                  <a:ext cx="219611" cy="219610"/>
                </a:xfrm>
                <a:prstGeom prst="rect">
                  <a:avLst/>
                </a:prstGeom>
              </p:spPr>
            </p:pic>
            <p:sp>
              <p:nvSpPr>
                <p:cNvPr id="601" name="文本框 600"/>
                <p:cNvSpPr txBox="1"/>
                <p:nvPr/>
              </p:nvSpPr>
              <p:spPr>
                <a:xfrm>
                  <a:off x="3566148" y="1643304"/>
                  <a:ext cx="1544344" cy="220708"/>
                </a:xfrm>
                <a:prstGeom prst="rect">
                  <a:avLst/>
                </a:prstGeom>
                <a:noFill/>
              </p:spPr>
              <p:txBody>
                <a:bodyPr wrap="square" rtlCol="0">
                  <a:spAutoFit/>
                </a:bodyPr>
                <a:lstStyle/>
                <a:p>
                  <a:r>
                    <a:rPr lang="en-US" altLang="zh-CN" sz="1600" dirty="0">
                      <a:solidFill>
                        <a:srgbClr val="C00000"/>
                      </a:solidFill>
                    </a:rPr>
                    <a:t>user1</a:t>
                  </a:r>
                  <a:endParaRPr lang="zh-CN" altLang="en-US" sz="1600" dirty="0">
                    <a:solidFill>
                      <a:srgbClr val="C00000"/>
                    </a:solidFill>
                  </a:endParaRPr>
                </a:p>
              </p:txBody>
            </p:sp>
            <p:sp>
              <p:nvSpPr>
                <p:cNvPr id="602" name="文本框 601"/>
                <p:cNvSpPr txBox="1"/>
                <p:nvPr/>
              </p:nvSpPr>
              <p:spPr>
                <a:xfrm>
                  <a:off x="3268446" y="2129565"/>
                  <a:ext cx="1544344" cy="220708"/>
                </a:xfrm>
                <a:prstGeom prst="rect">
                  <a:avLst/>
                </a:prstGeom>
                <a:noFill/>
              </p:spPr>
              <p:txBody>
                <a:bodyPr wrap="square" rtlCol="0">
                  <a:spAutoFit/>
                </a:bodyPr>
                <a:lstStyle/>
                <a:p>
                  <a:r>
                    <a:rPr lang="en-US" altLang="zh-CN" sz="1600" dirty="0">
                      <a:solidFill>
                        <a:srgbClr val="338DCD"/>
                      </a:solidFill>
                    </a:rPr>
                    <a:t>user2</a:t>
                  </a:r>
                  <a:endParaRPr lang="zh-CN" altLang="en-US" sz="1600" dirty="0">
                    <a:solidFill>
                      <a:srgbClr val="338DCD"/>
                    </a:solidFill>
                  </a:endParaRPr>
                </a:p>
              </p:txBody>
            </p:sp>
            <p:sp>
              <p:nvSpPr>
                <p:cNvPr id="603" name="文本框 602"/>
                <p:cNvSpPr txBox="1"/>
                <p:nvPr/>
              </p:nvSpPr>
              <p:spPr>
                <a:xfrm>
                  <a:off x="1309601" y="2290183"/>
                  <a:ext cx="1544344" cy="220708"/>
                </a:xfrm>
                <a:prstGeom prst="rect">
                  <a:avLst/>
                </a:prstGeom>
                <a:noFill/>
              </p:spPr>
              <p:txBody>
                <a:bodyPr wrap="square" rtlCol="0">
                  <a:spAutoFit/>
                </a:bodyPr>
                <a:lstStyle/>
                <a:p>
                  <a:r>
                    <a:rPr lang="en-US" altLang="zh-CN" sz="1600" dirty="0" err="1"/>
                    <a:t>DayN</a:t>
                  </a:r>
                  <a:endParaRPr lang="zh-CN" altLang="en-US" sz="1600" dirty="0"/>
                </a:p>
              </p:txBody>
            </p:sp>
          </p:grpSp>
          <p:pic>
            <p:nvPicPr>
              <p:cNvPr id="514" name="图片 513"/>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7682783" y="3097758"/>
                <a:ext cx="276391" cy="399217"/>
              </a:xfrm>
              <a:prstGeom prst="rect">
                <a:avLst/>
              </a:prstGeom>
            </p:spPr>
          </p:pic>
          <p:pic>
            <p:nvPicPr>
              <p:cNvPr id="515" name="图片 514"/>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9152726" y="2642227"/>
                <a:ext cx="276391" cy="399217"/>
              </a:xfrm>
              <a:prstGeom prst="rect">
                <a:avLst/>
              </a:prstGeom>
            </p:spPr>
          </p:pic>
          <p:pic>
            <p:nvPicPr>
              <p:cNvPr id="516" name="图片 515"/>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9927347" y="2707404"/>
                <a:ext cx="276391" cy="399217"/>
              </a:xfrm>
              <a:prstGeom prst="rect">
                <a:avLst/>
              </a:prstGeom>
            </p:spPr>
          </p:pic>
          <p:pic>
            <p:nvPicPr>
              <p:cNvPr id="517" name="图片 516"/>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273374" y="3633844"/>
                <a:ext cx="152400" cy="220125"/>
              </a:xfrm>
              <a:prstGeom prst="rect">
                <a:avLst/>
              </a:prstGeom>
            </p:spPr>
          </p:pic>
          <p:pic>
            <p:nvPicPr>
              <p:cNvPr id="518" name="图片 517"/>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353832" y="3616868"/>
                <a:ext cx="152400" cy="220125"/>
              </a:xfrm>
              <a:prstGeom prst="rect">
                <a:avLst/>
              </a:prstGeom>
            </p:spPr>
          </p:pic>
          <p:pic>
            <p:nvPicPr>
              <p:cNvPr id="519" name="图片 518"/>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422593" y="3513409"/>
                <a:ext cx="152400" cy="220125"/>
              </a:xfrm>
              <a:prstGeom prst="rect">
                <a:avLst/>
              </a:prstGeom>
            </p:spPr>
          </p:pic>
          <p:pic>
            <p:nvPicPr>
              <p:cNvPr id="520" name="图片 519"/>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478559" y="3412559"/>
                <a:ext cx="152400" cy="220125"/>
              </a:xfrm>
              <a:prstGeom prst="rect">
                <a:avLst/>
              </a:prstGeom>
            </p:spPr>
          </p:pic>
          <p:pic>
            <p:nvPicPr>
              <p:cNvPr id="521" name="图片 520"/>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547671" y="3359329"/>
                <a:ext cx="152400" cy="220125"/>
              </a:xfrm>
              <a:prstGeom prst="rect">
                <a:avLst/>
              </a:prstGeom>
            </p:spPr>
          </p:pic>
          <p:pic>
            <p:nvPicPr>
              <p:cNvPr id="522" name="图片 521"/>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631141" y="3284278"/>
                <a:ext cx="152400" cy="220125"/>
              </a:xfrm>
              <a:prstGeom prst="rect">
                <a:avLst/>
              </a:prstGeom>
            </p:spPr>
          </p:pic>
          <p:pic>
            <p:nvPicPr>
              <p:cNvPr id="523" name="图片 522"/>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879070" y="3253021"/>
                <a:ext cx="152400" cy="220125"/>
              </a:xfrm>
              <a:prstGeom prst="rect">
                <a:avLst/>
              </a:prstGeom>
            </p:spPr>
          </p:pic>
          <p:pic>
            <p:nvPicPr>
              <p:cNvPr id="524" name="图片 523"/>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7974599" y="3268513"/>
                <a:ext cx="152400" cy="220125"/>
              </a:xfrm>
              <a:prstGeom prst="rect">
                <a:avLst/>
              </a:prstGeom>
            </p:spPr>
          </p:pic>
          <p:pic>
            <p:nvPicPr>
              <p:cNvPr id="525" name="图片 524"/>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042836" y="3239778"/>
                <a:ext cx="152400" cy="220125"/>
              </a:xfrm>
              <a:prstGeom prst="rect">
                <a:avLst/>
              </a:prstGeom>
            </p:spPr>
          </p:pic>
          <p:pic>
            <p:nvPicPr>
              <p:cNvPr id="526" name="图片 525"/>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114091" y="3222483"/>
                <a:ext cx="152400" cy="220125"/>
              </a:xfrm>
              <a:prstGeom prst="rect">
                <a:avLst/>
              </a:prstGeom>
            </p:spPr>
          </p:pic>
          <p:pic>
            <p:nvPicPr>
              <p:cNvPr id="527" name="图片 526"/>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182963" y="3192092"/>
                <a:ext cx="152400" cy="220125"/>
              </a:xfrm>
              <a:prstGeom prst="rect">
                <a:avLst/>
              </a:prstGeom>
            </p:spPr>
          </p:pic>
          <p:pic>
            <p:nvPicPr>
              <p:cNvPr id="528" name="图片 527"/>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284418" y="3207754"/>
                <a:ext cx="152400" cy="220125"/>
              </a:xfrm>
              <a:prstGeom prst="rect">
                <a:avLst/>
              </a:prstGeom>
            </p:spPr>
          </p:pic>
          <p:pic>
            <p:nvPicPr>
              <p:cNvPr id="529" name="图片 528"/>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325023" y="3207754"/>
                <a:ext cx="152400" cy="220125"/>
              </a:xfrm>
              <a:prstGeom prst="rect">
                <a:avLst/>
              </a:prstGeom>
            </p:spPr>
          </p:pic>
          <p:pic>
            <p:nvPicPr>
              <p:cNvPr id="530" name="图片 529"/>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546112" y="3019504"/>
                <a:ext cx="149049" cy="215285"/>
              </a:xfrm>
              <a:prstGeom prst="rect">
                <a:avLst/>
              </a:prstGeom>
            </p:spPr>
          </p:pic>
          <p:pic>
            <p:nvPicPr>
              <p:cNvPr id="531" name="图片 530"/>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629818" y="2993645"/>
                <a:ext cx="152400" cy="220125"/>
              </a:xfrm>
              <a:prstGeom prst="rect">
                <a:avLst/>
              </a:prstGeom>
            </p:spPr>
          </p:pic>
          <p:pic>
            <p:nvPicPr>
              <p:cNvPr id="532" name="图片 531"/>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705949" y="2987695"/>
                <a:ext cx="152400" cy="220125"/>
              </a:xfrm>
              <a:prstGeom prst="rect">
                <a:avLst/>
              </a:prstGeom>
            </p:spPr>
          </p:pic>
          <p:pic>
            <p:nvPicPr>
              <p:cNvPr id="533" name="图片 532"/>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805927" y="2968719"/>
                <a:ext cx="152400" cy="220125"/>
              </a:xfrm>
              <a:prstGeom prst="rect">
                <a:avLst/>
              </a:prstGeom>
            </p:spPr>
          </p:pic>
          <p:pic>
            <p:nvPicPr>
              <p:cNvPr id="534" name="图片 533"/>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903126" y="2955237"/>
                <a:ext cx="152400" cy="220125"/>
              </a:xfrm>
              <a:prstGeom prst="rect">
                <a:avLst/>
              </a:prstGeom>
            </p:spPr>
          </p:pic>
          <p:pic>
            <p:nvPicPr>
              <p:cNvPr id="535" name="图片 534"/>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986993" y="2924948"/>
                <a:ext cx="152400" cy="220125"/>
              </a:xfrm>
              <a:prstGeom prst="rect">
                <a:avLst/>
              </a:prstGeom>
            </p:spPr>
          </p:pic>
          <p:pic>
            <p:nvPicPr>
              <p:cNvPr id="536" name="图片 535"/>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080984" y="2924947"/>
                <a:ext cx="152400" cy="220125"/>
              </a:xfrm>
              <a:prstGeom prst="rect">
                <a:avLst/>
              </a:prstGeom>
            </p:spPr>
          </p:pic>
          <p:pic>
            <p:nvPicPr>
              <p:cNvPr id="537" name="图片 536"/>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173759" y="2909516"/>
                <a:ext cx="152400" cy="220125"/>
              </a:xfrm>
              <a:prstGeom prst="rect">
                <a:avLst/>
              </a:prstGeom>
            </p:spPr>
          </p:pic>
          <p:pic>
            <p:nvPicPr>
              <p:cNvPr id="538" name="图片 537"/>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335066" y="2754884"/>
                <a:ext cx="152400" cy="220125"/>
              </a:xfrm>
              <a:prstGeom prst="rect">
                <a:avLst/>
              </a:prstGeom>
            </p:spPr>
          </p:pic>
          <p:pic>
            <p:nvPicPr>
              <p:cNvPr id="539" name="图片 538"/>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406941" y="2694417"/>
                <a:ext cx="152400" cy="220125"/>
              </a:xfrm>
              <a:prstGeom prst="rect">
                <a:avLst/>
              </a:prstGeom>
            </p:spPr>
          </p:pic>
          <p:pic>
            <p:nvPicPr>
              <p:cNvPr id="540" name="图片 539"/>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514499" y="2677014"/>
                <a:ext cx="152400" cy="220125"/>
              </a:xfrm>
              <a:prstGeom prst="rect">
                <a:avLst/>
              </a:prstGeom>
            </p:spPr>
          </p:pic>
          <p:pic>
            <p:nvPicPr>
              <p:cNvPr id="541" name="图片 540"/>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537165" y="2850708"/>
                <a:ext cx="152400" cy="220125"/>
              </a:xfrm>
              <a:prstGeom prst="rect">
                <a:avLst/>
              </a:prstGeom>
            </p:spPr>
          </p:pic>
          <p:pic>
            <p:nvPicPr>
              <p:cNvPr id="542" name="图片 541"/>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529923" y="2773520"/>
                <a:ext cx="152400" cy="220125"/>
              </a:xfrm>
              <a:prstGeom prst="rect">
                <a:avLst/>
              </a:prstGeom>
            </p:spPr>
          </p:pic>
          <p:pic>
            <p:nvPicPr>
              <p:cNvPr id="543" name="图片 542"/>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537165" y="2941002"/>
                <a:ext cx="152400" cy="220125"/>
              </a:xfrm>
              <a:prstGeom prst="rect">
                <a:avLst/>
              </a:prstGeom>
            </p:spPr>
          </p:pic>
          <p:pic>
            <p:nvPicPr>
              <p:cNvPr id="544" name="图片 543"/>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528956" y="3010681"/>
                <a:ext cx="152400" cy="220125"/>
              </a:xfrm>
              <a:prstGeom prst="rect">
                <a:avLst/>
              </a:prstGeom>
            </p:spPr>
          </p:pic>
          <p:pic>
            <p:nvPicPr>
              <p:cNvPr id="545" name="图片 544"/>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552072" y="3121655"/>
                <a:ext cx="152400" cy="220125"/>
              </a:xfrm>
              <a:prstGeom prst="rect">
                <a:avLst/>
              </a:prstGeom>
            </p:spPr>
          </p:pic>
          <p:pic>
            <p:nvPicPr>
              <p:cNvPr id="546" name="图片 545"/>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628272" y="3071170"/>
                <a:ext cx="152400" cy="220125"/>
              </a:xfrm>
              <a:prstGeom prst="rect">
                <a:avLst/>
              </a:prstGeom>
            </p:spPr>
          </p:pic>
          <p:pic>
            <p:nvPicPr>
              <p:cNvPr id="547" name="图片 546"/>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688598" y="3047199"/>
                <a:ext cx="152400" cy="220125"/>
              </a:xfrm>
              <a:prstGeom prst="rect">
                <a:avLst/>
              </a:prstGeom>
            </p:spPr>
          </p:pic>
          <p:pic>
            <p:nvPicPr>
              <p:cNvPr id="548" name="图片 547"/>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765295" y="3039695"/>
                <a:ext cx="152400" cy="220125"/>
              </a:xfrm>
              <a:prstGeom prst="rect">
                <a:avLst/>
              </a:prstGeom>
            </p:spPr>
          </p:pic>
          <p:pic>
            <p:nvPicPr>
              <p:cNvPr id="549" name="图片 548"/>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864551" y="3032191"/>
                <a:ext cx="152400" cy="220125"/>
              </a:xfrm>
              <a:prstGeom prst="rect">
                <a:avLst/>
              </a:prstGeom>
            </p:spPr>
          </p:pic>
          <p:pic>
            <p:nvPicPr>
              <p:cNvPr id="550" name="图片 549"/>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9924649" y="2962922"/>
                <a:ext cx="152400" cy="220125"/>
              </a:xfrm>
              <a:prstGeom prst="rect">
                <a:avLst/>
              </a:prstGeom>
            </p:spPr>
          </p:pic>
          <p:pic>
            <p:nvPicPr>
              <p:cNvPr id="551" name="图片 550"/>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499525" y="3047198"/>
                <a:ext cx="152400" cy="220125"/>
              </a:xfrm>
              <a:prstGeom prst="rect">
                <a:avLst/>
              </a:prstGeom>
            </p:spPr>
          </p:pic>
          <p:pic>
            <p:nvPicPr>
              <p:cNvPr id="552" name="图片 551"/>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501886" y="3146443"/>
                <a:ext cx="152400" cy="220125"/>
              </a:xfrm>
              <a:prstGeom prst="rect">
                <a:avLst/>
              </a:prstGeom>
            </p:spPr>
          </p:pic>
          <p:pic>
            <p:nvPicPr>
              <p:cNvPr id="553" name="图片 552"/>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492701" y="3238089"/>
                <a:ext cx="152400" cy="220125"/>
              </a:xfrm>
              <a:prstGeom prst="rect">
                <a:avLst/>
              </a:prstGeom>
            </p:spPr>
          </p:pic>
          <p:pic>
            <p:nvPicPr>
              <p:cNvPr id="554" name="图片 553"/>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a:off x="8408642" y="3245458"/>
                <a:ext cx="152400" cy="220125"/>
              </a:xfrm>
              <a:prstGeom prst="rect">
                <a:avLst/>
              </a:prstGeom>
            </p:spPr>
          </p:pic>
          <p:sp>
            <p:nvSpPr>
              <p:cNvPr id="555" name="任意多边形 554"/>
              <p:cNvSpPr/>
              <p:nvPr/>
            </p:nvSpPr>
            <p:spPr>
              <a:xfrm>
                <a:off x="7208520" y="2834640"/>
                <a:ext cx="2895600" cy="1104900"/>
              </a:xfrm>
              <a:custGeom>
                <a:avLst/>
                <a:gdLst>
                  <a:gd name="connsiteX0" fmla="*/ 0 w 2895600"/>
                  <a:gd name="connsiteY0" fmla="*/ 1104900 h 1104900"/>
                  <a:gd name="connsiteX1" fmla="*/ 30480 w 2895600"/>
                  <a:gd name="connsiteY1" fmla="*/ 1066800 h 1104900"/>
                  <a:gd name="connsiteX2" fmla="*/ 76200 w 2895600"/>
                  <a:gd name="connsiteY2" fmla="*/ 1043940 h 1104900"/>
                  <a:gd name="connsiteX3" fmla="*/ 99060 w 2895600"/>
                  <a:gd name="connsiteY3" fmla="*/ 1028700 h 1104900"/>
                  <a:gd name="connsiteX4" fmla="*/ 121920 w 2895600"/>
                  <a:gd name="connsiteY4" fmla="*/ 1021080 h 1104900"/>
                  <a:gd name="connsiteX5" fmla="*/ 167640 w 2895600"/>
                  <a:gd name="connsiteY5" fmla="*/ 998220 h 1104900"/>
                  <a:gd name="connsiteX6" fmla="*/ 205740 w 2895600"/>
                  <a:gd name="connsiteY6" fmla="*/ 967740 h 1104900"/>
                  <a:gd name="connsiteX7" fmla="*/ 220980 w 2895600"/>
                  <a:gd name="connsiteY7" fmla="*/ 944880 h 1104900"/>
                  <a:gd name="connsiteX8" fmla="*/ 228600 w 2895600"/>
                  <a:gd name="connsiteY8" fmla="*/ 906780 h 1104900"/>
                  <a:gd name="connsiteX9" fmla="*/ 274320 w 2895600"/>
                  <a:gd name="connsiteY9" fmla="*/ 868680 h 1104900"/>
                  <a:gd name="connsiteX10" fmla="*/ 289560 w 2895600"/>
                  <a:gd name="connsiteY10" fmla="*/ 845820 h 1104900"/>
                  <a:gd name="connsiteX11" fmla="*/ 304800 w 2895600"/>
                  <a:gd name="connsiteY11" fmla="*/ 807720 h 1104900"/>
                  <a:gd name="connsiteX12" fmla="*/ 350520 w 2895600"/>
                  <a:gd name="connsiteY12" fmla="*/ 769620 h 1104900"/>
                  <a:gd name="connsiteX13" fmla="*/ 373380 w 2895600"/>
                  <a:gd name="connsiteY13" fmla="*/ 746760 h 1104900"/>
                  <a:gd name="connsiteX14" fmla="*/ 426720 w 2895600"/>
                  <a:gd name="connsiteY14" fmla="*/ 723900 h 1104900"/>
                  <a:gd name="connsiteX15" fmla="*/ 449580 w 2895600"/>
                  <a:gd name="connsiteY15" fmla="*/ 693420 h 1104900"/>
                  <a:gd name="connsiteX16" fmla="*/ 464820 w 2895600"/>
                  <a:gd name="connsiteY16" fmla="*/ 670560 h 1104900"/>
                  <a:gd name="connsiteX17" fmla="*/ 495300 w 2895600"/>
                  <a:gd name="connsiteY17" fmla="*/ 655320 h 1104900"/>
                  <a:gd name="connsiteX18" fmla="*/ 518160 w 2895600"/>
                  <a:gd name="connsiteY18" fmla="*/ 640080 h 1104900"/>
                  <a:gd name="connsiteX19" fmla="*/ 586740 w 2895600"/>
                  <a:gd name="connsiteY19" fmla="*/ 609600 h 1104900"/>
                  <a:gd name="connsiteX20" fmla="*/ 822960 w 2895600"/>
                  <a:gd name="connsiteY20" fmla="*/ 624840 h 1104900"/>
                  <a:gd name="connsiteX21" fmla="*/ 891540 w 2895600"/>
                  <a:gd name="connsiteY21" fmla="*/ 647700 h 1104900"/>
                  <a:gd name="connsiteX22" fmla="*/ 944880 w 2895600"/>
                  <a:gd name="connsiteY22" fmla="*/ 632460 h 1104900"/>
                  <a:gd name="connsiteX23" fmla="*/ 982980 w 2895600"/>
                  <a:gd name="connsiteY23" fmla="*/ 617220 h 1104900"/>
                  <a:gd name="connsiteX24" fmla="*/ 1097280 w 2895600"/>
                  <a:gd name="connsiteY24" fmla="*/ 609600 h 1104900"/>
                  <a:gd name="connsiteX25" fmla="*/ 1402080 w 2895600"/>
                  <a:gd name="connsiteY25" fmla="*/ 601980 h 1104900"/>
                  <a:gd name="connsiteX26" fmla="*/ 1394460 w 2895600"/>
                  <a:gd name="connsiteY26" fmla="*/ 487680 h 1104900"/>
                  <a:gd name="connsiteX27" fmla="*/ 1386840 w 2895600"/>
                  <a:gd name="connsiteY27" fmla="*/ 464820 h 1104900"/>
                  <a:gd name="connsiteX28" fmla="*/ 1394460 w 2895600"/>
                  <a:gd name="connsiteY28" fmla="*/ 388620 h 1104900"/>
                  <a:gd name="connsiteX29" fmla="*/ 1409700 w 2895600"/>
                  <a:gd name="connsiteY29" fmla="*/ 365760 h 1104900"/>
                  <a:gd name="connsiteX30" fmla="*/ 1478280 w 2895600"/>
                  <a:gd name="connsiteY30" fmla="*/ 335280 h 1104900"/>
                  <a:gd name="connsiteX31" fmla="*/ 1577340 w 2895600"/>
                  <a:gd name="connsiteY31" fmla="*/ 327660 h 1104900"/>
                  <a:gd name="connsiteX32" fmla="*/ 1798320 w 2895600"/>
                  <a:gd name="connsiteY32" fmla="*/ 320040 h 1104900"/>
                  <a:gd name="connsiteX33" fmla="*/ 1813560 w 2895600"/>
                  <a:gd name="connsiteY33" fmla="*/ 297180 h 1104900"/>
                  <a:gd name="connsiteX34" fmla="*/ 1912620 w 2895600"/>
                  <a:gd name="connsiteY34" fmla="*/ 274320 h 1104900"/>
                  <a:gd name="connsiteX35" fmla="*/ 1935480 w 2895600"/>
                  <a:gd name="connsiteY35" fmla="*/ 266700 h 1104900"/>
                  <a:gd name="connsiteX36" fmla="*/ 1973580 w 2895600"/>
                  <a:gd name="connsiteY36" fmla="*/ 259080 h 1104900"/>
                  <a:gd name="connsiteX37" fmla="*/ 2019300 w 2895600"/>
                  <a:gd name="connsiteY37" fmla="*/ 228600 h 1104900"/>
                  <a:gd name="connsiteX38" fmla="*/ 2072640 w 2895600"/>
                  <a:gd name="connsiteY38" fmla="*/ 205740 h 1104900"/>
                  <a:gd name="connsiteX39" fmla="*/ 2087880 w 2895600"/>
                  <a:gd name="connsiteY39" fmla="*/ 182880 h 1104900"/>
                  <a:gd name="connsiteX40" fmla="*/ 2095500 w 2895600"/>
                  <a:gd name="connsiteY40" fmla="*/ 160020 h 1104900"/>
                  <a:gd name="connsiteX41" fmla="*/ 2118360 w 2895600"/>
                  <a:gd name="connsiteY41" fmla="*/ 137160 h 1104900"/>
                  <a:gd name="connsiteX42" fmla="*/ 2133600 w 2895600"/>
                  <a:gd name="connsiteY42" fmla="*/ 114300 h 1104900"/>
                  <a:gd name="connsiteX43" fmla="*/ 2179320 w 2895600"/>
                  <a:gd name="connsiteY43" fmla="*/ 83820 h 1104900"/>
                  <a:gd name="connsiteX44" fmla="*/ 2202180 w 2895600"/>
                  <a:gd name="connsiteY44" fmla="*/ 68580 h 1104900"/>
                  <a:gd name="connsiteX45" fmla="*/ 2225040 w 2895600"/>
                  <a:gd name="connsiteY45" fmla="*/ 45720 h 1104900"/>
                  <a:gd name="connsiteX46" fmla="*/ 2301240 w 2895600"/>
                  <a:gd name="connsiteY46" fmla="*/ 0 h 1104900"/>
                  <a:gd name="connsiteX47" fmla="*/ 2369820 w 2895600"/>
                  <a:gd name="connsiteY47" fmla="*/ 7620 h 1104900"/>
                  <a:gd name="connsiteX48" fmla="*/ 2400300 w 2895600"/>
                  <a:gd name="connsiteY48" fmla="*/ 60960 h 1104900"/>
                  <a:gd name="connsiteX49" fmla="*/ 2423160 w 2895600"/>
                  <a:gd name="connsiteY49" fmla="*/ 83820 h 1104900"/>
                  <a:gd name="connsiteX50" fmla="*/ 2430780 w 2895600"/>
                  <a:gd name="connsiteY50" fmla="*/ 160020 h 1104900"/>
                  <a:gd name="connsiteX51" fmla="*/ 2446020 w 2895600"/>
                  <a:gd name="connsiteY51" fmla="*/ 213360 h 1104900"/>
                  <a:gd name="connsiteX52" fmla="*/ 2453640 w 2895600"/>
                  <a:gd name="connsiteY52" fmla="*/ 259080 h 1104900"/>
                  <a:gd name="connsiteX53" fmla="*/ 2468880 w 2895600"/>
                  <a:gd name="connsiteY53" fmla="*/ 411480 h 1104900"/>
                  <a:gd name="connsiteX54" fmla="*/ 2476500 w 2895600"/>
                  <a:gd name="connsiteY54" fmla="*/ 434340 h 1104900"/>
                  <a:gd name="connsiteX55" fmla="*/ 2491740 w 2895600"/>
                  <a:gd name="connsiteY55" fmla="*/ 457200 h 1104900"/>
                  <a:gd name="connsiteX56" fmla="*/ 2514600 w 2895600"/>
                  <a:gd name="connsiteY56" fmla="*/ 464820 h 1104900"/>
                  <a:gd name="connsiteX57" fmla="*/ 2537460 w 2895600"/>
                  <a:gd name="connsiteY57" fmla="*/ 441960 h 1104900"/>
                  <a:gd name="connsiteX58" fmla="*/ 2567940 w 2895600"/>
                  <a:gd name="connsiteY58" fmla="*/ 426720 h 1104900"/>
                  <a:gd name="connsiteX59" fmla="*/ 2621280 w 2895600"/>
                  <a:gd name="connsiteY59" fmla="*/ 411480 h 1104900"/>
                  <a:gd name="connsiteX60" fmla="*/ 2644140 w 2895600"/>
                  <a:gd name="connsiteY60" fmla="*/ 396240 h 1104900"/>
                  <a:gd name="connsiteX61" fmla="*/ 2689860 w 2895600"/>
                  <a:gd name="connsiteY61" fmla="*/ 358140 h 1104900"/>
                  <a:gd name="connsiteX62" fmla="*/ 2727960 w 2895600"/>
                  <a:gd name="connsiteY62" fmla="*/ 335280 h 1104900"/>
                  <a:gd name="connsiteX63" fmla="*/ 2796540 w 2895600"/>
                  <a:gd name="connsiteY63" fmla="*/ 320040 h 1104900"/>
                  <a:gd name="connsiteX64" fmla="*/ 2811780 w 2895600"/>
                  <a:gd name="connsiteY64" fmla="*/ 297180 h 1104900"/>
                  <a:gd name="connsiteX65" fmla="*/ 2819400 w 2895600"/>
                  <a:gd name="connsiteY65" fmla="*/ 274320 h 1104900"/>
                  <a:gd name="connsiteX66" fmla="*/ 2842260 w 2895600"/>
                  <a:gd name="connsiteY66" fmla="*/ 259080 h 1104900"/>
                  <a:gd name="connsiteX67" fmla="*/ 2849880 w 2895600"/>
                  <a:gd name="connsiteY67" fmla="*/ 236220 h 1104900"/>
                  <a:gd name="connsiteX68" fmla="*/ 2895600 w 2895600"/>
                  <a:gd name="connsiteY68" fmla="*/ 228600 h 110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2895600" h="1104900">
                    <a:moveTo>
                      <a:pt x="0" y="1104900"/>
                    </a:moveTo>
                    <a:cubicBezTo>
                      <a:pt x="10160" y="1092200"/>
                      <a:pt x="17780" y="1076960"/>
                      <a:pt x="30480" y="1066800"/>
                    </a:cubicBezTo>
                    <a:cubicBezTo>
                      <a:pt x="43785" y="1056156"/>
                      <a:pt x="61305" y="1052215"/>
                      <a:pt x="76200" y="1043940"/>
                    </a:cubicBezTo>
                    <a:cubicBezTo>
                      <a:pt x="84206" y="1039492"/>
                      <a:pt x="90869" y="1032796"/>
                      <a:pt x="99060" y="1028700"/>
                    </a:cubicBezTo>
                    <a:cubicBezTo>
                      <a:pt x="106244" y="1025108"/>
                      <a:pt x="114736" y="1024672"/>
                      <a:pt x="121920" y="1021080"/>
                    </a:cubicBezTo>
                    <a:cubicBezTo>
                      <a:pt x="181006" y="991537"/>
                      <a:pt x="110181" y="1017373"/>
                      <a:pt x="167640" y="998220"/>
                    </a:cubicBezTo>
                    <a:cubicBezTo>
                      <a:pt x="211316" y="932706"/>
                      <a:pt x="153160" y="1009804"/>
                      <a:pt x="205740" y="967740"/>
                    </a:cubicBezTo>
                    <a:cubicBezTo>
                      <a:pt x="212891" y="962019"/>
                      <a:pt x="215900" y="952500"/>
                      <a:pt x="220980" y="944880"/>
                    </a:cubicBezTo>
                    <a:cubicBezTo>
                      <a:pt x="223520" y="932180"/>
                      <a:pt x="222808" y="918364"/>
                      <a:pt x="228600" y="906780"/>
                    </a:cubicBezTo>
                    <a:cubicBezTo>
                      <a:pt x="235934" y="892112"/>
                      <a:pt x="261192" y="877432"/>
                      <a:pt x="274320" y="868680"/>
                    </a:cubicBezTo>
                    <a:cubicBezTo>
                      <a:pt x="279400" y="861060"/>
                      <a:pt x="285464" y="854011"/>
                      <a:pt x="289560" y="845820"/>
                    </a:cubicBezTo>
                    <a:cubicBezTo>
                      <a:pt x="295677" y="833586"/>
                      <a:pt x="297551" y="819319"/>
                      <a:pt x="304800" y="807720"/>
                    </a:cubicBezTo>
                    <a:cubicBezTo>
                      <a:pt x="319319" y="784490"/>
                      <a:pt x="331286" y="785649"/>
                      <a:pt x="350520" y="769620"/>
                    </a:cubicBezTo>
                    <a:cubicBezTo>
                      <a:pt x="358799" y="762721"/>
                      <a:pt x="364611" y="753024"/>
                      <a:pt x="373380" y="746760"/>
                    </a:cubicBezTo>
                    <a:cubicBezTo>
                      <a:pt x="389858" y="734990"/>
                      <a:pt x="408065" y="730118"/>
                      <a:pt x="426720" y="723900"/>
                    </a:cubicBezTo>
                    <a:cubicBezTo>
                      <a:pt x="434340" y="713740"/>
                      <a:pt x="442198" y="703754"/>
                      <a:pt x="449580" y="693420"/>
                    </a:cubicBezTo>
                    <a:cubicBezTo>
                      <a:pt x="454903" y="685968"/>
                      <a:pt x="457785" y="676423"/>
                      <a:pt x="464820" y="670560"/>
                    </a:cubicBezTo>
                    <a:cubicBezTo>
                      <a:pt x="473546" y="663288"/>
                      <a:pt x="485437" y="660956"/>
                      <a:pt x="495300" y="655320"/>
                    </a:cubicBezTo>
                    <a:cubicBezTo>
                      <a:pt x="503251" y="650776"/>
                      <a:pt x="509791" y="643799"/>
                      <a:pt x="518160" y="640080"/>
                    </a:cubicBezTo>
                    <a:cubicBezTo>
                      <a:pt x="599772" y="603808"/>
                      <a:pt x="535005" y="644090"/>
                      <a:pt x="586740" y="609600"/>
                    </a:cubicBezTo>
                    <a:cubicBezTo>
                      <a:pt x="665480" y="614680"/>
                      <a:pt x="749700" y="595536"/>
                      <a:pt x="822960" y="624840"/>
                    </a:cubicBezTo>
                    <a:cubicBezTo>
                      <a:pt x="870784" y="643969"/>
                      <a:pt x="847790" y="636763"/>
                      <a:pt x="891540" y="647700"/>
                    </a:cubicBezTo>
                    <a:cubicBezTo>
                      <a:pt x="915559" y="641695"/>
                      <a:pt x="923016" y="640659"/>
                      <a:pt x="944880" y="632460"/>
                    </a:cubicBezTo>
                    <a:cubicBezTo>
                      <a:pt x="957687" y="627657"/>
                      <a:pt x="969453" y="619249"/>
                      <a:pt x="982980" y="617220"/>
                    </a:cubicBezTo>
                    <a:cubicBezTo>
                      <a:pt x="1020742" y="611556"/>
                      <a:pt x="1059121" y="610988"/>
                      <a:pt x="1097280" y="609600"/>
                    </a:cubicBezTo>
                    <a:cubicBezTo>
                      <a:pt x="1198845" y="605907"/>
                      <a:pt x="1300480" y="604520"/>
                      <a:pt x="1402080" y="601980"/>
                    </a:cubicBezTo>
                    <a:cubicBezTo>
                      <a:pt x="1399540" y="563880"/>
                      <a:pt x="1398677" y="525631"/>
                      <a:pt x="1394460" y="487680"/>
                    </a:cubicBezTo>
                    <a:cubicBezTo>
                      <a:pt x="1393573" y="479697"/>
                      <a:pt x="1386840" y="472852"/>
                      <a:pt x="1386840" y="464820"/>
                    </a:cubicBezTo>
                    <a:cubicBezTo>
                      <a:pt x="1386840" y="439293"/>
                      <a:pt x="1388720" y="413493"/>
                      <a:pt x="1394460" y="388620"/>
                    </a:cubicBezTo>
                    <a:cubicBezTo>
                      <a:pt x="1396519" y="379696"/>
                      <a:pt x="1403224" y="372236"/>
                      <a:pt x="1409700" y="365760"/>
                    </a:cubicBezTo>
                    <a:cubicBezTo>
                      <a:pt x="1424229" y="351231"/>
                      <a:pt x="1461932" y="336538"/>
                      <a:pt x="1478280" y="335280"/>
                    </a:cubicBezTo>
                    <a:cubicBezTo>
                      <a:pt x="1511300" y="332740"/>
                      <a:pt x="1544260" y="329235"/>
                      <a:pt x="1577340" y="327660"/>
                    </a:cubicBezTo>
                    <a:cubicBezTo>
                      <a:pt x="1650960" y="324154"/>
                      <a:pt x="1724660" y="322580"/>
                      <a:pt x="1798320" y="320040"/>
                    </a:cubicBezTo>
                    <a:cubicBezTo>
                      <a:pt x="1803400" y="312420"/>
                      <a:pt x="1805794" y="302034"/>
                      <a:pt x="1813560" y="297180"/>
                    </a:cubicBezTo>
                    <a:cubicBezTo>
                      <a:pt x="1838354" y="281684"/>
                      <a:pt x="1885823" y="278148"/>
                      <a:pt x="1912620" y="274320"/>
                    </a:cubicBezTo>
                    <a:cubicBezTo>
                      <a:pt x="1920240" y="271780"/>
                      <a:pt x="1927688" y="268648"/>
                      <a:pt x="1935480" y="266700"/>
                    </a:cubicBezTo>
                    <a:cubicBezTo>
                      <a:pt x="1948045" y="263559"/>
                      <a:pt x="1961789" y="264439"/>
                      <a:pt x="1973580" y="259080"/>
                    </a:cubicBezTo>
                    <a:cubicBezTo>
                      <a:pt x="1990254" y="251501"/>
                      <a:pt x="2001924" y="234392"/>
                      <a:pt x="2019300" y="228600"/>
                    </a:cubicBezTo>
                    <a:cubicBezTo>
                      <a:pt x="2052936" y="217388"/>
                      <a:pt x="2034976" y="224572"/>
                      <a:pt x="2072640" y="205740"/>
                    </a:cubicBezTo>
                    <a:cubicBezTo>
                      <a:pt x="2077720" y="198120"/>
                      <a:pt x="2083784" y="191071"/>
                      <a:pt x="2087880" y="182880"/>
                    </a:cubicBezTo>
                    <a:cubicBezTo>
                      <a:pt x="2091472" y="175696"/>
                      <a:pt x="2091045" y="166703"/>
                      <a:pt x="2095500" y="160020"/>
                    </a:cubicBezTo>
                    <a:cubicBezTo>
                      <a:pt x="2101478" y="151054"/>
                      <a:pt x="2111461" y="145439"/>
                      <a:pt x="2118360" y="137160"/>
                    </a:cubicBezTo>
                    <a:cubicBezTo>
                      <a:pt x="2124223" y="130125"/>
                      <a:pt x="2126708" y="120331"/>
                      <a:pt x="2133600" y="114300"/>
                    </a:cubicBezTo>
                    <a:cubicBezTo>
                      <a:pt x="2147384" y="102239"/>
                      <a:pt x="2164080" y="93980"/>
                      <a:pt x="2179320" y="83820"/>
                    </a:cubicBezTo>
                    <a:cubicBezTo>
                      <a:pt x="2186940" y="78740"/>
                      <a:pt x="2195704" y="75056"/>
                      <a:pt x="2202180" y="68580"/>
                    </a:cubicBezTo>
                    <a:cubicBezTo>
                      <a:pt x="2209800" y="60960"/>
                      <a:pt x="2216180" y="51854"/>
                      <a:pt x="2225040" y="45720"/>
                    </a:cubicBezTo>
                    <a:cubicBezTo>
                      <a:pt x="2249394" y="28859"/>
                      <a:pt x="2301240" y="0"/>
                      <a:pt x="2301240" y="0"/>
                    </a:cubicBezTo>
                    <a:cubicBezTo>
                      <a:pt x="2324100" y="2540"/>
                      <a:pt x="2348000" y="347"/>
                      <a:pt x="2369820" y="7620"/>
                    </a:cubicBezTo>
                    <a:cubicBezTo>
                      <a:pt x="2402567" y="18536"/>
                      <a:pt x="2387654" y="38830"/>
                      <a:pt x="2400300" y="60960"/>
                    </a:cubicBezTo>
                    <a:cubicBezTo>
                      <a:pt x="2405647" y="70316"/>
                      <a:pt x="2415540" y="76200"/>
                      <a:pt x="2423160" y="83820"/>
                    </a:cubicBezTo>
                    <a:cubicBezTo>
                      <a:pt x="2425700" y="109220"/>
                      <a:pt x="2426344" y="134882"/>
                      <a:pt x="2430780" y="160020"/>
                    </a:cubicBezTo>
                    <a:cubicBezTo>
                      <a:pt x="2433994" y="178230"/>
                      <a:pt x="2441862" y="195342"/>
                      <a:pt x="2446020" y="213360"/>
                    </a:cubicBezTo>
                    <a:cubicBezTo>
                      <a:pt x="2449494" y="228415"/>
                      <a:pt x="2451100" y="243840"/>
                      <a:pt x="2453640" y="259080"/>
                    </a:cubicBezTo>
                    <a:cubicBezTo>
                      <a:pt x="2459192" y="347915"/>
                      <a:pt x="2452084" y="352694"/>
                      <a:pt x="2468880" y="411480"/>
                    </a:cubicBezTo>
                    <a:cubicBezTo>
                      <a:pt x="2471087" y="419203"/>
                      <a:pt x="2472908" y="427156"/>
                      <a:pt x="2476500" y="434340"/>
                    </a:cubicBezTo>
                    <a:cubicBezTo>
                      <a:pt x="2480596" y="442531"/>
                      <a:pt x="2484589" y="451479"/>
                      <a:pt x="2491740" y="457200"/>
                    </a:cubicBezTo>
                    <a:cubicBezTo>
                      <a:pt x="2498012" y="462218"/>
                      <a:pt x="2506980" y="462280"/>
                      <a:pt x="2514600" y="464820"/>
                    </a:cubicBezTo>
                    <a:cubicBezTo>
                      <a:pt x="2522220" y="457200"/>
                      <a:pt x="2528691" y="448224"/>
                      <a:pt x="2537460" y="441960"/>
                    </a:cubicBezTo>
                    <a:cubicBezTo>
                      <a:pt x="2546703" y="435358"/>
                      <a:pt x="2557304" y="430708"/>
                      <a:pt x="2567940" y="426720"/>
                    </a:cubicBezTo>
                    <a:cubicBezTo>
                      <a:pt x="2587472" y="419396"/>
                      <a:pt x="2602858" y="420691"/>
                      <a:pt x="2621280" y="411480"/>
                    </a:cubicBezTo>
                    <a:cubicBezTo>
                      <a:pt x="2629471" y="407384"/>
                      <a:pt x="2636520" y="401320"/>
                      <a:pt x="2644140" y="396240"/>
                    </a:cubicBezTo>
                    <a:cubicBezTo>
                      <a:pt x="2667515" y="361178"/>
                      <a:pt x="2648914" y="380888"/>
                      <a:pt x="2689860" y="358140"/>
                    </a:cubicBezTo>
                    <a:cubicBezTo>
                      <a:pt x="2702807" y="350947"/>
                      <a:pt x="2714713" y="341904"/>
                      <a:pt x="2727960" y="335280"/>
                    </a:cubicBezTo>
                    <a:cubicBezTo>
                      <a:pt x="2746719" y="325901"/>
                      <a:pt x="2778980" y="322967"/>
                      <a:pt x="2796540" y="320040"/>
                    </a:cubicBezTo>
                    <a:cubicBezTo>
                      <a:pt x="2801620" y="312420"/>
                      <a:pt x="2807684" y="305371"/>
                      <a:pt x="2811780" y="297180"/>
                    </a:cubicBezTo>
                    <a:cubicBezTo>
                      <a:pt x="2815372" y="289996"/>
                      <a:pt x="2814382" y="280592"/>
                      <a:pt x="2819400" y="274320"/>
                    </a:cubicBezTo>
                    <a:cubicBezTo>
                      <a:pt x="2825121" y="267169"/>
                      <a:pt x="2834640" y="264160"/>
                      <a:pt x="2842260" y="259080"/>
                    </a:cubicBezTo>
                    <a:cubicBezTo>
                      <a:pt x="2844800" y="251460"/>
                      <a:pt x="2842906" y="240205"/>
                      <a:pt x="2849880" y="236220"/>
                    </a:cubicBezTo>
                    <a:cubicBezTo>
                      <a:pt x="2863295" y="228555"/>
                      <a:pt x="2895600" y="228600"/>
                      <a:pt x="2895600" y="228600"/>
                    </a:cubicBezTo>
                  </a:path>
                </a:pathLst>
              </a:cu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pic>
            <p:nvPicPr>
              <p:cNvPr id="556" name="图片 555"/>
              <p:cNvPicPr>
                <a:picLocks noChangeAspect="1"/>
              </p:cNvPicPr>
              <p:nvPr/>
            </p:nvPicPr>
            <p:blipFill>
              <a:blip r:embed="rId9" cstate="email">
                <a:extLst>
                  <a:ext uri="{28A0092B-C50C-407E-A947-70E740481C1C}">
                    <a14:useLocalDpi xmlns:a14="http://schemas.microsoft.com/office/drawing/2010/main" val="0"/>
                  </a:ext>
                </a:extLst>
              </a:blip>
              <a:stretch>
                <a:fillRect/>
              </a:stretch>
            </p:blipFill>
            <p:spPr>
              <a:xfrm>
                <a:off x="7814930" y="2618121"/>
                <a:ext cx="312069" cy="449113"/>
              </a:xfrm>
              <a:prstGeom prst="rect">
                <a:avLst/>
              </a:prstGeom>
            </p:spPr>
          </p:pic>
          <p:pic>
            <p:nvPicPr>
              <p:cNvPr id="557" name="图片 556"/>
              <p:cNvPicPr>
                <a:picLocks noChangeAspect="1"/>
              </p:cNvPicPr>
              <p:nvPr/>
            </p:nvPicPr>
            <p:blipFill>
              <a:blip r:embed="rId9" cstate="email">
                <a:extLst>
                  <a:ext uri="{28A0092B-C50C-407E-A947-70E740481C1C}">
                    <a14:useLocalDpi xmlns:a14="http://schemas.microsoft.com/office/drawing/2010/main" val="0"/>
                  </a:ext>
                </a:extLst>
              </a:blip>
              <a:stretch>
                <a:fillRect/>
              </a:stretch>
            </p:blipFill>
            <p:spPr>
              <a:xfrm>
                <a:off x="8491431" y="3294777"/>
                <a:ext cx="312069" cy="449113"/>
              </a:xfrm>
              <a:prstGeom prst="rect">
                <a:avLst/>
              </a:prstGeom>
            </p:spPr>
          </p:pic>
          <p:pic>
            <p:nvPicPr>
              <p:cNvPr id="558" name="图片 557"/>
              <p:cNvPicPr>
                <a:picLocks noChangeAspect="1"/>
              </p:cNvPicPr>
              <p:nvPr/>
            </p:nvPicPr>
            <p:blipFill>
              <a:blip r:embed="rId9" cstate="email">
                <a:extLst>
                  <a:ext uri="{28A0092B-C50C-407E-A947-70E740481C1C}">
                    <a14:useLocalDpi xmlns:a14="http://schemas.microsoft.com/office/drawing/2010/main" val="0"/>
                  </a:ext>
                </a:extLst>
              </a:blip>
              <a:stretch>
                <a:fillRect/>
              </a:stretch>
            </p:blipFill>
            <p:spPr>
              <a:xfrm>
                <a:off x="9562196" y="3637489"/>
                <a:ext cx="312069" cy="449113"/>
              </a:xfrm>
              <a:prstGeom prst="rect">
                <a:avLst/>
              </a:prstGeom>
            </p:spPr>
          </p:pic>
          <p:pic>
            <p:nvPicPr>
              <p:cNvPr id="559" name="图片 558"/>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7982047" y="2835601"/>
                <a:ext cx="134908" cy="194152"/>
              </a:xfrm>
              <a:prstGeom prst="rect">
                <a:avLst/>
              </a:prstGeom>
            </p:spPr>
          </p:pic>
          <p:pic>
            <p:nvPicPr>
              <p:cNvPr id="560" name="图片 559"/>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032810" y="2901747"/>
                <a:ext cx="134908" cy="194152"/>
              </a:xfrm>
              <a:prstGeom prst="rect">
                <a:avLst/>
              </a:prstGeom>
            </p:spPr>
          </p:pic>
          <p:pic>
            <p:nvPicPr>
              <p:cNvPr id="561" name="图片 560"/>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027635" y="2988899"/>
                <a:ext cx="134908" cy="194152"/>
              </a:xfrm>
              <a:prstGeom prst="rect">
                <a:avLst/>
              </a:prstGeom>
            </p:spPr>
          </p:pic>
          <p:pic>
            <p:nvPicPr>
              <p:cNvPr id="562" name="图片 561"/>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7971430" y="3070833"/>
                <a:ext cx="134908" cy="194152"/>
              </a:xfrm>
              <a:prstGeom prst="rect">
                <a:avLst/>
              </a:prstGeom>
            </p:spPr>
          </p:pic>
          <p:pic>
            <p:nvPicPr>
              <p:cNvPr id="563" name="图片 562"/>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7919673" y="3146021"/>
                <a:ext cx="134908" cy="194152"/>
              </a:xfrm>
              <a:prstGeom prst="rect">
                <a:avLst/>
              </a:prstGeom>
            </p:spPr>
          </p:pic>
          <p:pic>
            <p:nvPicPr>
              <p:cNvPr id="564" name="图片 563"/>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7905877" y="3307729"/>
                <a:ext cx="134908" cy="194152"/>
              </a:xfrm>
              <a:prstGeom prst="rect">
                <a:avLst/>
              </a:prstGeom>
            </p:spPr>
          </p:pic>
          <p:pic>
            <p:nvPicPr>
              <p:cNvPr id="565" name="图片 564"/>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7895927" y="3379554"/>
                <a:ext cx="134908" cy="194152"/>
              </a:xfrm>
              <a:prstGeom prst="rect">
                <a:avLst/>
              </a:prstGeom>
            </p:spPr>
          </p:pic>
          <p:pic>
            <p:nvPicPr>
              <p:cNvPr id="566" name="图片 565"/>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7884705" y="3475087"/>
                <a:ext cx="134908" cy="194152"/>
              </a:xfrm>
              <a:prstGeom prst="rect">
                <a:avLst/>
              </a:prstGeom>
            </p:spPr>
          </p:pic>
          <p:pic>
            <p:nvPicPr>
              <p:cNvPr id="567" name="图片 566"/>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7835408" y="3520204"/>
                <a:ext cx="134908" cy="194152"/>
              </a:xfrm>
              <a:prstGeom prst="rect">
                <a:avLst/>
              </a:prstGeom>
            </p:spPr>
          </p:pic>
          <p:pic>
            <p:nvPicPr>
              <p:cNvPr id="568" name="图片 567"/>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7900998" y="3547097"/>
                <a:ext cx="134908" cy="194152"/>
              </a:xfrm>
              <a:prstGeom prst="rect">
                <a:avLst/>
              </a:prstGeom>
            </p:spPr>
          </p:pic>
          <p:pic>
            <p:nvPicPr>
              <p:cNvPr id="569" name="图片 568"/>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7957230" y="3556589"/>
                <a:ext cx="134908" cy="194152"/>
              </a:xfrm>
              <a:prstGeom prst="rect">
                <a:avLst/>
              </a:prstGeom>
            </p:spPr>
          </p:pic>
          <p:pic>
            <p:nvPicPr>
              <p:cNvPr id="570" name="图片 569"/>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022779" y="3556589"/>
                <a:ext cx="134908" cy="194152"/>
              </a:xfrm>
              <a:prstGeom prst="rect">
                <a:avLst/>
              </a:prstGeom>
            </p:spPr>
          </p:pic>
          <p:pic>
            <p:nvPicPr>
              <p:cNvPr id="571" name="图片 570"/>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083263" y="3556890"/>
                <a:ext cx="134908" cy="194152"/>
              </a:xfrm>
              <a:prstGeom prst="rect">
                <a:avLst/>
              </a:prstGeom>
            </p:spPr>
          </p:pic>
          <p:pic>
            <p:nvPicPr>
              <p:cNvPr id="572" name="图片 571"/>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155614" y="3552306"/>
                <a:ext cx="134908" cy="194152"/>
              </a:xfrm>
              <a:prstGeom prst="rect">
                <a:avLst/>
              </a:prstGeom>
            </p:spPr>
          </p:pic>
          <p:pic>
            <p:nvPicPr>
              <p:cNvPr id="573" name="图片 572"/>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226926" y="3550421"/>
                <a:ext cx="134908" cy="194152"/>
              </a:xfrm>
              <a:prstGeom prst="rect">
                <a:avLst/>
              </a:prstGeom>
            </p:spPr>
          </p:pic>
          <p:pic>
            <p:nvPicPr>
              <p:cNvPr id="574" name="图片 573"/>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307261" y="3542159"/>
                <a:ext cx="134908" cy="194152"/>
              </a:xfrm>
              <a:prstGeom prst="rect">
                <a:avLst/>
              </a:prstGeom>
            </p:spPr>
          </p:pic>
          <p:pic>
            <p:nvPicPr>
              <p:cNvPr id="575" name="图片 574"/>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388723" y="3546697"/>
                <a:ext cx="134908" cy="194152"/>
              </a:xfrm>
              <a:prstGeom prst="rect">
                <a:avLst/>
              </a:prstGeom>
            </p:spPr>
          </p:pic>
          <p:pic>
            <p:nvPicPr>
              <p:cNvPr id="576" name="图片 575"/>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470185" y="3556589"/>
                <a:ext cx="134908" cy="194152"/>
              </a:xfrm>
              <a:prstGeom prst="rect">
                <a:avLst/>
              </a:prstGeom>
            </p:spPr>
          </p:pic>
          <p:pic>
            <p:nvPicPr>
              <p:cNvPr id="577" name="图片 576"/>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545497" y="3572163"/>
                <a:ext cx="134908" cy="194152"/>
              </a:xfrm>
              <a:prstGeom prst="rect">
                <a:avLst/>
              </a:prstGeom>
            </p:spPr>
          </p:pic>
          <p:pic>
            <p:nvPicPr>
              <p:cNvPr id="578" name="图片 577"/>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533758" y="3679436"/>
                <a:ext cx="134908" cy="194152"/>
              </a:xfrm>
              <a:prstGeom prst="rect">
                <a:avLst/>
              </a:prstGeom>
            </p:spPr>
          </p:pic>
          <p:pic>
            <p:nvPicPr>
              <p:cNvPr id="579" name="图片 578"/>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537639" y="3762244"/>
                <a:ext cx="134908" cy="194152"/>
              </a:xfrm>
              <a:prstGeom prst="rect">
                <a:avLst/>
              </a:prstGeom>
            </p:spPr>
          </p:pic>
          <p:pic>
            <p:nvPicPr>
              <p:cNvPr id="580" name="图片 579"/>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531831" y="3848145"/>
                <a:ext cx="134908" cy="194152"/>
              </a:xfrm>
              <a:prstGeom prst="rect">
                <a:avLst/>
              </a:prstGeom>
            </p:spPr>
          </p:pic>
          <p:pic>
            <p:nvPicPr>
              <p:cNvPr id="581" name="图片 580"/>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605287" y="3878292"/>
                <a:ext cx="134908" cy="194152"/>
              </a:xfrm>
              <a:prstGeom prst="rect">
                <a:avLst/>
              </a:prstGeom>
            </p:spPr>
          </p:pic>
          <p:pic>
            <p:nvPicPr>
              <p:cNvPr id="582" name="图片 581"/>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680644" y="3891783"/>
                <a:ext cx="134908" cy="194152"/>
              </a:xfrm>
              <a:prstGeom prst="rect">
                <a:avLst/>
              </a:prstGeom>
            </p:spPr>
          </p:pic>
          <p:pic>
            <p:nvPicPr>
              <p:cNvPr id="583" name="图片 582"/>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769741" y="3908641"/>
                <a:ext cx="134908" cy="194152"/>
              </a:xfrm>
              <a:prstGeom prst="rect">
                <a:avLst/>
              </a:prstGeom>
            </p:spPr>
          </p:pic>
          <p:pic>
            <p:nvPicPr>
              <p:cNvPr id="584" name="图片 583"/>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772918" y="3984799"/>
                <a:ext cx="134908" cy="194152"/>
              </a:xfrm>
              <a:prstGeom prst="rect">
                <a:avLst/>
              </a:prstGeom>
            </p:spPr>
          </p:pic>
          <p:pic>
            <p:nvPicPr>
              <p:cNvPr id="585" name="图片 584"/>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866184" y="4042297"/>
                <a:ext cx="134908" cy="194152"/>
              </a:xfrm>
              <a:prstGeom prst="rect">
                <a:avLst/>
              </a:prstGeom>
            </p:spPr>
          </p:pic>
          <p:pic>
            <p:nvPicPr>
              <p:cNvPr id="586" name="图片 585"/>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780323" y="4042297"/>
                <a:ext cx="134908" cy="194152"/>
              </a:xfrm>
              <a:prstGeom prst="rect">
                <a:avLst/>
              </a:prstGeom>
            </p:spPr>
          </p:pic>
          <p:pic>
            <p:nvPicPr>
              <p:cNvPr id="587" name="图片 586"/>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8951853" y="4042297"/>
                <a:ext cx="134908" cy="194152"/>
              </a:xfrm>
              <a:prstGeom prst="rect">
                <a:avLst/>
              </a:prstGeom>
            </p:spPr>
          </p:pic>
          <p:pic>
            <p:nvPicPr>
              <p:cNvPr id="588" name="图片 587"/>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9023246" y="4029847"/>
                <a:ext cx="134908" cy="194152"/>
              </a:xfrm>
              <a:prstGeom prst="rect">
                <a:avLst/>
              </a:prstGeom>
            </p:spPr>
          </p:pic>
          <p:pic>
            <p:nvPicPr>
              <p:cNvPr id="589" name="图片 588"/>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9103620" y="4026667"/>
                <a:ext cx="134908" cy="194152"/>
              </a:xfrm>
              <a:prstGeom prst="rect">
                <a:avLst/>
              </a:prstGeom>
            </p:spPr>
          </p:pic>
          <p:pic>
            <p:nvPicPr>
              <p:cNvPr id="590" name="图片 589"/>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9191251" y="4017892"/>
                <a:ext cx="134908" cy="194152"/>
              </a:xfrm>
              <a:prstGeom prst="rect">
                <a:avLst/>
              </a:prstGeom>
            </p:spPr>
          </p:pic>
          <p:pic>
            <p:nvPicPr>
              <p:cNvPr id="591" name="图片 590"/>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9268605" y="4017892"/>
                <a:ext cx="134908" cy="194152"/>
              </a:xfrm>
              <a:prstGeom prst="rect">
                <a:avLst/>
              </a:prstGeom>
            </p:spPr>
          </p:pic>
          <p:pic>
            <p:nvPicPr>
              <p:cNvPr id="592" name="图片 591"/>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9365013" y="4018319"/>
                <a:ext cx="134908" cy="194152"/>
              </a:xfrm>
              <a:prstGeom prst="rect">
                <a:avLst/>
              </a:prstGeom>
            </p:spPr>
          </p:pic>
          <p:pic>
            <p:nvPicPr>
              <p:cNvPr id="593" name="图片 592"/>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9444785" y="4022217"/>
                <a:ext cx="134908" cy="194152"/>
              </a:xfrm>
              <a:prstGeom prst="rect">
                <a:avLst/>
              </a:prstGeom>
            </p:spPr>
          </p:pic>
          <p:pic>
            <p:nvPicPr>
              <p:cNvPr id="594" name="图片 593"/>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9523696" y="4005600"/>
                <a:ext cx="134908" cy="194152"/>
              </a:xfrm>
              <a:prstGeom prst="rect">
                <a:avLst/>
              </a:prstGeom>
            </p:spPr>
          </p:pic>
          <p:pic>
            <p:nvPicPr>
              <p:cNvPr id="595" name="图片 594"/>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9609400" y="4005600"/>
                <a:ext cx="134908" cy="194152"/>
              </a:xfrm>
              <a:prstGeom prst="rect">
                <a:avLst/>
              </a:prstGeom>
            </p:spPr>
          </p:pic>
          <p:pic>
            <p:nvPicPr>
              <p:cNvPr id="596" name="图片 595"/>
              <p:cNvPicPr>
                <a:picLocks noChangeAspect="1"/>
              </p:cNvPicPr>
              <p:nvPr/>
            </p:nvPicPr>
            <p:blipFill>
              <a:blip r:embed="rId10" cstate="email">
                <a:extLst>
                  <a:ext uri="{28A0092B-C50C-407E-A947-70E740481C1C}">
                    <a14:useLocalDpi xmlns:a14="http://schemas.microsoft.com/office/drawing/2010/main" val="0"/>
                  </a:ext>
                </a:extLst>
              </a:blip>
              <a:stretch>
                <a:fillRect/>
              </a:stretch>
            </p:blipFill>
            <p:spPr>
              <a:xfrm>
                <a:off x="9645386" y="3957799"/>
                <a:ext cx="134908" cy="194152"/>
              </a:xfrm>
              <a:prstGeom prst="rect">
                <a:avLst/>
              </a:prstGeom>
            </p:spPr>
          </p:pic>
          <p:sp>
            <p:nvSpPr>
              <p:cNvPr id="597" name="任意多边形 596"/>
              <p:cNvSpPr/>
              <p:nvPr/>
            </p:nvSpPr>
            <p:spPr>
              <a:xfrm>
                <a:off x="7894320" y="2974848"/>
                <a:ext cx="1847416" cy="1243584"/>
              </a:xfrm>
              <a:custGeom>
                <a:avLst/>
                <a:gdLst>
                  <a:gd name="connsiteX0" fmla="*/ 79248 w 1847416"/>
                  <a:gd name="connsiteY0" fmla="*/ 6096 h 1243584"/>
                  <a:gd name="connsiteX1" fmla="*/ 109728 w 1847416"/>
                  <a:gd name="connsiteY1" fmla="*/ 0 h 1243584"/>
                  <a:gd name="connsiteX2" fmla="*/ 152400 w 1847416"/>
                  <a:gd name="connsiteY2" fmla="*/ 12192 h 1243584"/>
                  <a:gd name="connsiteX3" fmla="*/ 152400 w 1847416"/>
                  <a:gd name="connsiteY3" fmla="*/ 213360 h 1243584"/>
                  <a:gd name="connsiteX4" fmla="*/ 140208 w 1847416"/>
                  <a:gd name="connsiteY4" fmla="*/ 249936 h 1243584"/>
                  <a:gd name="connsiteX5" fmla="*/ 134112 w 1847416"/>
                  <a:gd name="connsiteY5" fmla="*/ 274320 h 1243584"/>
                  <a:gd name="connsiteX6" fmla="*/ 103632 w 1847416"/>
                  <a:gd name="connsiteY6" fmla="*/ 310896 h 1243584"/>
                  <a:gd name="connsiteX7" fmla="*/ 91440 w 1847416"/>
                  <a:gd name="connsiteY7" fmla="*/ 365760 h 1243584"/>
                  <a:gd name="connsiteX8" fmla="*/ 79248 w 1847416"/>
                  <a:gd name="connsiteY8" fmla="*/ 402336 h 1243584"/>
                  <a:gd name="connsiteX9" fmla="*/ 73152 w 1847416"/>
                  <a:gd name="connsiteY9" fmla="*/ 438912 h 1243584"/>
                  <a:gd name="connsiteX10" fmla="*/ 67056 w 1847416"/>
                  <a:gd name="connsiteY10" fmla="*/ 481584 h 1243584"/>
                  <a:gd name="connsiteX11" fmla="*/ 60960 w 1847416"/>
                  <a:gd name="connsiteY11" fmla="*/ 499872 h 1243584"/>
                  <a:gd name="connsiteX12" fmla="*/ 54864 w 1847416"/>
                  <a:gd name="connsiteY12" fmla="*/ 536448 h 1243584"/>
                  <a:gd name="connsiteX13" fmla="*/ 42672 w 1847416"/>
                  <a:gd name="connsiteY13" fmla="*/ 585216 h 1243584"/>
                  <a:gd name="connsiteX14" fmla="*/ 24384 w 1847416"/>
                  <a:gd name="connsiteY14" fmla="*/ 621792 h 1243584"/>
                  <a:gd name="connsiteX15" fmla="*/ 12192 w 1847416"/>
                  <a:gd name="connsiteY15" fmla="*/ 640080 h 1243584"/>
                  <a:gd name="connsiteX16" fmla="*/ 0 w 1847416"/>
                  <a:gd name="connsiteY16" fmla="*/ 676656 h 1243584"/>
                  <a:gd name="connsiteX17" fmla="*/ 24384 w 1847416"/>
                  <a:gd name="connsiteY17" fmla="*/ 725424 h 1243584"/>
                  <a:gd name="connsiteX18" fmla="*/ 67056 w 1847416"/>
                  <a:gd name="connsiteY18" fmla="*/ 737616 h 1243584"/>
                  <a:gd name="connsiteX19" fmla="*/ 85344 w 1847416"/>
                  <a:gd name="connsiteY19" fmla="*/ 743712 h 1243584"/>
                  <a:gd name="connsiteX20" fmla="*/ 195072 w 1847416"/>
                  <a:gd name="connsiteY20" fmla="*/ 755904 h 1243584"/>
                  <a:gd name="connsiteX21" fmla="*/ 414528 w 1847416"/>
                  <a:gd name="connsiteY21" fmla="*/ 762000 h 1243584"/>
                  <a:gd name="connsiteX22" fmla="*/ 493776 w 1847416"/>
                  <a:gd name="connsiteY22" fmla="*/ 743712 h 1243584"/>
                  <a:gd name="connsiteX23" fmla="*/ 633984 w 1847416"/>
                  <a:gd name="connsiteY23" fmla="*/ 749808 h 1243584"/>
                  <a:gd name="connsiteX24" fmla="*/ 652272 w 1847416"/>
                  <a:gd name="connsiteY24" fmla="*/ 786384 h 1243584"/>
                  <a:gd name="connsiteX25" fmla="*/ 676656 w 1847416"/>
                  <a:gd name="connsiteY25" fmla="*/ 822960 h 1243584"/>
                  <a:gd name="connsiteX26" fmla="*/ 688848 w 1847416"/>
                  <a:gd name="connsiteY26" fmla="*/ 841248 h 1243584"/>
                  <a:gd name="connsiteX27" fmla="*/ 694944 w 1847416"/>
                  <a:gd name="connsiteY27" fmla="*/ 877824 h 1243584"/>
                  <a:gd name="connsiteX28" fmla="*/ 707136 w 1847416"/>
                  <a:gd name="connsiteY28" fmla="*/ 896112 h 1243584"/>
                  <a:gd name="connsiteX29" fmla="*/ 713232 w 1847416"/>
                  <a:gd name="connsiteY29" fmla="*/ 914400 h 1243584"/>
                  <a:gd name="connsiteX30" fmla="*/ 719328 w 1847416"/>
                  <a:gd name="connsiteY30" fmla="*/ 938784 h 1243584"/>
                  <a:gd name="connsiteX31" fmla="*/ 737616 w 1847416"/>
                  <a:gd name="connsiteY31" fmla="*/ 993648 h 1243584"/>
                  <a:gd name="connsiteX32" fmla="*/ 743712 w 1847416"/>
                  <a:gd name="connsiteY32" fmla="*/ 1011936 h 1243584"/>
                  <a:gd name="connsiteX33" fmla="*/ 749808 w 1847416"/>
                  <a:gd name="connsiteY33" fmla="*/ 1030224 h 1243584"/>
                  <a:gd name="connsiteX34" fmla="*/ 768096 w 1847416"/>
                  <a:gd name="connsiteY34" fmla="*/ 1048512 h 1243584"/>
                  <a:gd name="connsiteX35" fmla="*/ 786384 w 1847416"/>
                  <a:gd name="connsiteY35" fmla="*/ 1060704 h 1243584"/>
                  <a:gd name="connsiteX36" fmla="*/ 829056 w 1847416"/>
                  <a:gd name="connsiteY36" fmla="*/ 1072896 h 1243584"/>
                  <a:gd name="connsiteX37" fmla="*/ 883920 w 1847416"/>
                  <a:gd name="connsiteY37" fmla="*/ 1097280 h 1243584"/>
                  <a:gd name="connsiteX38" fmla="*/ 902208 w 1847416"/>
                  <a:gd name="connsiteY38" fmla="*/ 1103376 h 1243584"/>
                  <a:gd name="connsiteX39" fmla="*/ 938784 w 1847416"/>
                  <a:gd name="connsiteY39" fmla="*/ 1127760 h 1243584"/>
                  <a:gd name="connsiteX40" fmla="*/ 944880 w 1847416"/>
                  <a:gd name="connsiteY40" fmla="*/ 1207008 h 1243584"/>
                  <a:gd name="connsiteX41" fmla="*/ 981456 w 1847416"/>
                  <a:gd name="connsiteY41" fmla="*/ 1225296 h 1243584"/>
                  <a:gd name="connsiteX42" fmla="*/ 1072896 w 1847416"/>
                  <a:gd name="connsiteY42" fmla="*/ 1243584 h 1243584"/>
                  <a:gd name="connsiteX43" fmla="*/ 1213104 w 1847416"/>
                  <a:gd name="connsiteY43" fmla="*/ 1237488 h 1243584"/>
                  <a:gd name="connsiteX44" fmla="*/ 1231392 w 1847416"/>
                  <a:gd name="connsiteY44" fmla="*/ 1231392 h 1243584"/>
                  <a:gd name="connsiteX45" fmla="*/ 1255776 w 1847416"/>
                  <a:gd name="connsiteY45" fmla="*/ 1225296 h 1243584"/>
                  <a:gd name="connsiteX46" fmla="*/ 1274064 w 1847416"/>
                  <a:gd name="connsiteY46" fmla="*/ 1219200 h 1243584"/>
                  <a:gd name="connsiteX47" fmla="*/ 1658112 w 1847416"/>
                  <a:gd name="connsiteY47" fmla="*/ 1213104 h 1243584"/>
                  <a:gd name="connsiteX48" fmla="*/ 1712976 w 1847416"/>
                  <a:gd name="connsiteY48" fmla="*/ 1207008 h 1243584"/>
                  <a:gd name="connsiteX49" fmla="*/ 1749552 w 1847416"/>
                  <a:gd name="connsiteY49" fmla="*/ 1194816 h 1243584"/>
                  <a:gd name="connsiteX50" fmla="*/ 1767840 w 1847416"/>
                  <a:gd name="connsiteY50" fmla="*/ 1188720 h 1243584"/>
                  <a:gd name="connsiteX51" fmla="*/ 1798320 w 1847416"/>
                  <a:gd name="connsiteY51" fmla="*/ 1182624 h 1243584"/>
                  <a:gd name="connsiteX52" fmla="*/ 1816608 w 1847416"/>
                  <a:gd name="connsiteY52" fmla="*/ 1127760 h 1243584"/>
                  <a:gd name="connsiteX53" fmla="*/ 1840992 w 1847416"/>
                  <a:gd name="connsiteY53" fmla="*/ 1072896 h 1243584"/>
                  <a:gd name="connsiteX54" fmla="*/ 1847088 w 1847416"/>
                  <a:gd name="connsiteY54" fmla="*/ 1018032 h 1243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847416" h="1243584">
                    <a:moveTo>
                      <a:pt x="79248" y="6096"/>
                    </a:moveTo>
                    <a:cubicBezTo>
                      <a:pt x="89408" y="4064"/>
                      <a:pt x="99367" y="0"/>
                      <a:pt x="109728" y="0"/>
                    </a:cubicBezTo>
                    <a:cubicBezTo>
                      <a:pt x="117382" y="0"/>
                      <a:pt x="143776" y="9317"/>
                      <a:pt x="152400" y="12192"/>
                    </a:cubicBezTo>
                    <a:cubicBezTo>
                      <a:pt x="176986" y="85951"/>
                      <a:pt x="166282" y="46774"/>
                      <a:pt x="152400" y="213360"/>
                    </a:cubicBezTo>
                    <a:cubicBezTo>
                      <a:pt x="151333" y="226167"/>
                      <a:pt x="143325" y="237468"/>
                      <a:pt x="140208" y="249936"/>
                    </a:cubicBezTo>
                    <a:cubicBezTo>
                      <a:pt x="138176" y="258064"/>
                      <a:pt x="138269" y="267046"/>
                      <a:pt x="134112" y="274320"/>
                    </a:cubicBezTo>
                    <a:cubicBezTo>
                      <a:pt x="80184" y="368693"/>
                      <a:pt x="146491" y="225177"/>
                      <a:pt x="103632" y="310896"/>
                    </a:cubicBezTo>
                    <a:cubicBezTo>
                      <a:pt x="94911" y="328337"/>
                      <a:pt x="96123" y="347029"/>
                      <a:pt x="91440" y="365760"/>
                    </a:cubicBezTo>
                    <a:cubicBezTo>
                      <a:pt x="88323" y="378228"/>
                      <a:pt x="81361" y="389659"/>
                      <a:pt x="79248" y="402336"/>
                    </a:cubicBezTo>
                    <a:cubicBezTo>
                      <a:pt x="77216" y="414528"/>
                      <a:pt x="75031" y="426696"/>
                      <a:pt x="73152" y="438912"/>
                    </a:cubicBezTo>
                    <a:cubicBezTo>
                      <a:pt x="70967" y="453113"/>
                      <a:pt x="69874" y="467495"/>
                      <a:pt x="67056" y="481584"/>
                    </a:cubicBezTo>
                    <a:cubicBezTo>
                      <a:pt x="65796" y="487885"/>
                      <a:pt x="62354" y="493599"/>
                      <a:pt x="60960" y="499872"/>
                    </a:cubicBezTo>
                    <a:cubicBezTo>
                      <a:pt x="58279" y="511938"/>
                      <a:pt x="57454" y="524362"/>
                      <a:pt x="54864" y="536448"/>
                    </a:cubicBezTo>
                    <a:cubicBezTo>
                      <a:pt x="51353" y="552832"/>
                      <a:pt x="51967" y="571274"/>
                      <a:pt x="42672" y="585216"/>
                    </a:cubicBezTo>
                    <a:cubicBezTo>
                      <a:pt x="7731" y="637627"/>
                      <a:pt x="49623" y="571315"/>
                      <a:pt x="24384" y="621792"/>
                    </a:cubicBezTo>
                    <a:cubicBezTo>
                      <a:pt x="21107" y="628345"/>
                      <a:pt x="15168" y="633385"/>
                      <a:pt x="12192" y="640080"/>
                    </a:cubicBezTo>
                    <a:cubicBezTo>
                      <a:pt x="6973" y="651824"/>
                      <a:pt x="0" y="676656"/>
                      <a:pt x="0" y="676656"/>
                    </a:cubicBezTo>
                    <a:cubicBezTo>
                      <a:pt x="3682" y="685861"/>
                      <a:pt x="13642" y="716830"/>
                      <a:pt x="24384" y="725424"/>
                    </a:cubicBezTo>
                    <a:cubicBezTo>
                      <a:pt x="28444" y="728672"/>
                      <a:pt x="65352" y="737129"/>
                      <a:pt x="67056" y="737616"/>
                    </a:cubicBezTo>
                    <a:cubicBezTo>
                      <a:pt x="73235" y="739381"/>
                      <a:pt x="79043" y="742452"/>
                      <a:pt x="85344" y="743712"/>
                    </a:cubicBezTo>
                    <a:cubicBezTo>
                      <a:pt x="116244" y="749892"/>
                      <a:pt x="166801" y="753334"/>
                      <a:pt x="195072" y="755904"/>
                    </a:cubicBezTo>
                    <a:cubicBezTo>
                      <a:pt x="275638" y="796187"/>
                      <a:pt x="224728" y="775557"/>
                      <a:pt x="414528" y="762000"/>
                    </a:cubicBezTo>
                    <a:cubicBezTo>
                      <a:pt x="448770" y="759554"/>
                      <a:pt x="466068" y="752948"/>
                      <a:pt x="493776" y="743712"/>
                    </a:cubicBezTo>
                    <a:cubicBezTo>
                      <a:pt x="540512" y="745744"/>
                      <a:pt x="587791" y="742417"/>
                      <a:pt x="633984" y="749808"/>
                    </a:cubicBezTo>
                    <a:cubicBezTo>
                      <a:pt x="643885" y="751392"/>
                      <a:pt x="648995" y="780485"/>
                      <a:pt x="652272" y="786384"/>
                    </a:cubicBezTo>
                    <a:cubicBezTo>
                      <a:pt x="659388" y="799193"/>
                      <a:pt x="668528" y="810768"/>
                      <a:pt x="676656" y="822960"/>
                    </a:cubicBezTo>
                    <a:lnTo>
                      <a:pt x="688848" y="841248"/>
                    </a:lnTo>
                    <a:cubicBezTo>
                      <a:pt x="690880" y="853440"/>
                      <a:pt x="691035" y="866098"/>
                      <a:pt x="694944" y="877824"/>
                    </a:cubicBezTo>
                    <a:cubicBezTo>
                      <a:pt x="697261" y="884775"/>
                      <a:pt x="703859" y="889559"/>
                      <a:pt x="707136" y="896112"/>
                    </a:cubicBezTo>
                    <a:cubicBezTo>
                      <a:pt x="710010" y="901859"/>
                      <a:pt x="711467" y="908221"/>
                      <a:pt x="713232" y="914400"/>
                    </a:cubicBezTo>
                    <a:cubicBezTo>
                      <a:pt x="715534" y="922456"/>
                      <a:pt x="716921" y="930759"/>
                      <a:pt x="719328" y="938784"/>
                    </a:cubicBezTo>
                    <a:cubicBezTo>
                      <a:pt x="724867" y="957248"/>
                      <a:pt x="731520" y="975360"/>
                      <a:pt x="737616" y="993648"/>
                    </a:cubicBezTo>
                    <a:lnTo>
                      <a:pt x="743712" y="1011936"/>
                    </a:lnTo>
                    <a:cubicBezTo>
                      <a:pt x="745744" y="1018032"/>
                      <a:pt x="745264" y="1025680"/>
                      <a:pt x="749808" y="1030224"/>
                    </a:cubicBezTo>
                    <a:cubicBezTo>
                      <a:pt x="755904" y="1036320"/>
                      <a:pt x="761473" y="1042993"/>
                      <a:pt x="768096" y="1048512"/>
                    </a:cubicBezTo>
                    <a:cubicBezTo>
                      <a:pt x="773724" y="1053202"/>
                      <a:pt x="779650" y="1057818"/>
                      <a:pt x="786384" y="1060704"/>
                    </a:cubicBezTo>
                    <a:cubicBezTo>
                      <a:pt x="813728" y="1072423"/>
                      <a:pt x="805330" y="1061033"/>
                      <a:pt x="829056" y="1072896"/>
                    </a:cubicBezTo>
                    <a:cubicBezTo>
                      <a:pt x="887018" y="1101877"/>
                      <a:pt x="789557" y="1065826"/>
                      <a:pt x="883920" y="1097280"/>
                    </a:cubicBezTo>
                    <a:cubicBezTo>
                      <a:pt x="890016" y="1099312"/>
                      <a:pt x="896861" y="1099812"/>
                      <a:pt x="902208" y="1103376"/>
                    </a:cubicBezTo>
                    <a:lnTo>
                      <a:pt x="938784" y="1127760"/>
                    </a:lnTo>
                    <a:cubicBezTo>
                      <a:pt x="940816" y="1154176"/>
                      <a:pt x="938053" y="1181409"/>
                      <a:pt x="944880" y="1207008"/>
                    </a:cubicBezTo>
                    <a:cubicBezTo>
                      <a:pt x="947083" y="1215271"/>
                      <a:pt x="975014" y="1223455"/>
                      <a:pt x="981456" y="1225296"/>
                    </a:cubicBezTo>
                    <a:cubicBezTo>
                      <a:pt x="1011391" y="1233849"/>
                      <a:pt x="1042253" y="1238477"/>
                      <a:pt x="1072896" y="1243584"/>
                    </a:cubicBezTo>
                    <a:cubicBezTo>
                      <a:pt x="1119632" y="1241552"/>
                      <a:pt x="1166462" y="1241076"/>
                      <a:pt x="1213104" y="1237488"/>
                    </a:cubicBezTo>
                    <a:cubicBezTo>
                      <a:pt x="1219511" y="1236995"/>
                      <a:pt x="1225213" y="1233157"/>
                      <a:pt x="1231392" y="1231392"/>
                    </a:cubicBezTo>
                    <a:cubicBezTo>
                      <a:pt x="1239448" y="1229090"/>
                      <a:pt x="1247720" y="1227598"/>
                      <a:pt x="1255776" y="1225296"/>
                    </a:cubicBezTo>
                    <a:cubicBezTo>
                      <a:pt x="1261955" y="1223531"/>
                      <a:pt x="1267641" y="1219395"/>
                      <a:pt x="1274064" y="1219200"/>
                    </a:cubicBezTo>
                    <a:cubicBezTo>
                      <a:pt x="1402037" y="1215322"/>
                      <a:pt x="1530096" y="1215136"/>
                      <a:pt x="1658112" y="1213104"/>
                    </a:cubicBezTo>
                    <a:cubicBezTo>
                      <a:pt x="1676400" y="1211072"/>
                      <a:pt x="1694933" y="1210617"/>
                      <a:pt x="1712976" y="1207008"/>
                    </a:cubicBezTo>
                    <a:cubicBezTo>
                      <a:pt x="1725578" y="1204488"/>
                      <a:pt x="1737360" y="1198880"/>
                      <a:pt x="1749552" y="1194816"/>
                    </a:cubicBezTo>
                    <a:cubicBezTo>
                      <a:pt x="1755648" y="1192784"/>
                      <a:pt x="1761539" y="1189980"/>
                      <a:pt x="1767840" y="1188720"/>
                    </a:cubicBezTo>
                    <a:lnTo>
                      <a:pt x="1798320" y="1182624"/>
                    </a:lnTo>
                    <a:cubicBezTo>
                      <a:pt x="1820830" y="1148859"/>
                      <a:pt x="1803467" y="1180323"/>
                      <a:pt x="1816608" y="1127760"/>
                    </a:cubicBezTo>
                    <a:cubicBezTo>
                      <a:pt x="1825313" y="1092939"/>
                      <a:pt x="1824980" y="1096914"/>
                      <a:pt x="1840992" y="1072896"/>
                    </a:cubicBezTo>
                    <a:cubicBezTo>
                      <a:pt x="1849552" y="1038655"/>
                      <a:pt x="1847088" y="1056890"/>
                      <a:pt x="1847088" y="1018032"/>
                    </a:cubicBezTo>
                  </a:path>
                </a:pathLst>
              </a:custGeom>
              <a:noFill/>
              <a:ln w="19050">
                <a:solidFill>
                  <a:srgbClr val="338DC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98" name="文本框 597"/>
              <p:cNvSpPr txBox="1"/>
              <p:nvPr/>
            </p:nvSpPr>
            <p:spPr>
              <a:xfrm>
                <a:off x="6956029" y="4476028"/>
                <a:ext cx="3148091" cy="437688"/>
              </a:xfrm>
              <a:prstGeom prst="rect">
                <a:avLst/>
              </a:prstGeom>
              <a:solidFill>
                <a:schemeClr val="bg1">
                  <a:lumMod val="95000"/>
                </a:schemeClr>
              </a:solidFill>
              <a:ln>
                <a:solidFill>
                  <a:srgbClr val="86981D"/>
                </a:solidFill>
              </a:ln>
            </p:spPr>
            <p:txBody>
              <a:bodyPr wrap="square" rtlCol="0">
                <a:spAutoFit/>
              </a:bodyPr>
              <a:lstStyle>
                <a:defPPr>
                  <a:defRPr lang="zh-CN"/>
                </a:defPPr>
                <a:lvl1pPr>
                  <a:defRPr sz="2000">
                    <a:solidFill>
                      <a:srgbClr val="C00000"/>
                    </a:solidFill>
                  </a:defRPr>
                </a:lvl1pPr>
              </a:lstStyle>
              <a:p>
                <a:r>
                  <a:rPr lang="en-US" altLang="zh-CN" sz="1800" dirty="0"/>
                  <a:t>Current dense trajectories </a:t>
                </a:r>
                <a:endParaRPr lang="zh-CN" altLang="en-US" sz="1800" dirty="0"/>
              </a:p>
            </p:txBody>
          </p:sp>
        </p:grpSp>
        <mc:AlternateContent xmlns:mc="http://schemas.openxmlformats.org/markup-compatibility/2006">
          <mc:Choice xmlns:a14="http://schemas.microsoft.com/office/drawing/2010/main" Requires="a14">
            <p:sp>
              <p:nvSpPr>
                <p:cNvPr id="6" name="文本框 5"/>
                <p:cNvSpPr txBox="1"/>
                <p:nvPr/>
              </p:nvSpPr>
              <p:spPr>
                <a:xfrm>
                  <a:off x="1240276" y="2026235"/>
                  <a:ext cx="69200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800" b="0" i="1" smtClean="0">
                                <a:latin typeface="Cambria Math" panose="02040503050406030204" pitchFamily="18" charset="0"/>
                              </a:rPr>
                            </m:ctrlPr>
                          </m:sSubSup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𝑢</m:t>
                            </m:r>
                          </m:sub>
                          <m:sup>
                            <m:r>
                              <a:rPr lang="en-US" altLang="zh-CN" sz="2800" b="0" i="1" smtClean="0">
                                <a:latin typeface="Cambria Math" panose="02040503050406030204" pitchFamily="18" charset="0"/>
                              </a:rPr>
                              <m:t>1</m:t>
                            </m:r>
                          </m:sup>
                        </m:sSubSup>
                      </m:oMath>
                    </m:oMathPara>
                  </a14:m>
                  <a:endParaRPr lang="zh-CN" altLang="en-US" sz="2800" dirty="0"/>
                </a:p>
              </p:txBody>
            </p:sp>
          </mc:Choice>
          <mc:Fallback>
            <p:sp>
              <p:nvSpPr>
                <p:cNvPr id="6" name="文本框 5"/>
                <p:cNvSpPr txBox="1">
                  <a:spLocks noRot="1" noChangeAspect="1" noMove="1" noResize="1" noEditPoints="1" noAdjustHandles="1" noChangeArrowheads="1" noChangeShapeType="1" noTextEdit="1"/>
                </p:cNvSpPr>
                <p:nvPr/>
              </p:nvSpPr>
              <p:spPr>
                <a:xfrm>
                  <a:off x="1240276" y="2026235"/>
                  <a:ext cx="692005" cy="43088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4" name="文本框 603"/>
                <p:cNvSpPr txBox="1"/>
                <p:nvPr/>
              </p:nvSpPr>
              <p:spPr>
                <a:xfrm>
                  <a:off x="977653" y="2645510"/>
                  <a:ext cx="69200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800" b="0" i="1" smtClean="0">
                                <a:latin typeface="Cambria Math" panose="02040503050406030204" pitchFamily="18" charset="0"/>
                              </a:rPr>
                            </m:ctrlPr>
                          </m:sSubSup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𝑢</m:t>
                            </m:r>
                          </m:sub>
                          <m:sup>
                            <m:r>
                              <a:rPr lang="en-US" altLang="zh-CN" sz="2800" b="0" i="1" smtClean="0">
                                <a:latin typeface="Cambria Math" panose="02040503050406030204" pitchFamily="18" charset="0"/>
                              </a:rPr>
                              <m:t>2</m:t>
                            </m:r>
                          </m:sup>
                        </m:sSubSup>
                      </m:oMath>
                    </m:oMathPara>
                  </a14:m>
                  <a:endParaRPr lang="zh-CN" altLang="en-US" sz="2800" dirty="0"/>
                </a:p>
              </p:txBody>
            </p:sp>
          </mc:Choice>
          <mc:Fallback>
            <p:sp>
              <p:nvSpPr>
                <p:cNvPr id="604" name="文本框 603"/>
                <p:cNvSpPr txBox="1">
                  <a:spLocks noRot="1" noChangeAspect="1" noMove="1" noResize="1" noEditPoints="1" noAdjustHandles="1" noChangeArrowheads="1" noChangeShapeType="1" noTextEdit="1"/>
                </p:cNvSpPr>
                <p:nvPr/>
              </p:nvSpPr>
              <p:spPr>
                <a:xfrm>
                  <a:off x="977653" y="2645510"/>
                  <a:ext cx="692005" cy="430887"/>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5" name="文本框 604"/>
                <p:cNvSpPr txBox="1"/>
                <p:nvPr/>
              </p:nvSpPr>
              <p:spPr>
                <a:xfrm>
                  <a:off x="851112" y="4995221"/>
                  <a:ext cx="69200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800" b="0" i="1" smtClean="0">
                                <a:latin typeface="Cambria Math" panose="02040503050406030204" pitchFamily="18" charset="0"/>
                              </a:rPr>
                            </m:ctrlPr>
                          </m:sSubSup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𝑢</m:t>
                            </m:r>
                          </m:sub>
                          <m:sup>
                            <m:r>
                              <a:rPr lang="en-US" altLang="zh-CN" sz="2800" b="0" i="1" smtClean="0">
                                <a:latin typeface="Cambria Math" panose="02040503050406030204" pitchFamily="18" charset="0"/>
                              </a:rPr>
                              <m:t>𝑛</m:t>
                            </m:r>
                          </m:sup>
                        </m:sSubSup>
                      </m:oMath>
                    </m:oMathPara>
                  </a14:m>
                  <a:endParaRPr lang="zh-CN" altLang="en-US" sz="2800" dirty="0"/>
                </a:p>
              </p:txBody>
            </p:sp>
          </mc:Choice>
          <mc:Fallback>
            <p:sp>
              <p:nvSpPr>
                <p:cNvPr id="605" name="文本框 604"/>
                <p:cNvSpPr txBox="1">
                  <a:spLocks noRot="1" noChangeAspect="1" noMove="1" noResize="1" noEditPoints="1" noAdjustHandles="1" noChangeArrowheads="1" noChangeShapeType="1" noTextEdit="1"/>
                </p:cNvSpPr>
                <p:nvPr/>
              </p:nvSpPr>
              <p:spPr>
                <a:xfrm>
                  <a:off x="851112" y="4995221"/>
                  <a:ext cx="692005" cy="430887"/>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6" name="文本框 605"/>
                <p:cNvSpPr txBox="1"/>
                <p:nvPr/>
              </p:nvSpPr>
              <p:spPr>
                <a:xfrm>
                  <a:off x="757640" y="3498411"/>
                  <a:ext cx="692005"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2800" b="0" i="1" smtClean="0">
                                <a:latin typeface="Cambria Math" panose="02040503050406030204" pitchFamily="18" charset="0"/>
                              </a:rPr>
                            </m:ctrlPr>
                          </m:sSubSup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𝑢</m:t>
                            </m:r>
                          </m:sub>
                          <m:sup>
                            <m:r>
                              <a:rPr lang="en-US" altLang="zh-CN" sz="2800" b="0" i="1" smtClean="0">
                                <a:latin typeface="Cambria Math" panose="02040503050406030204" pitchFamily="18" charset="0"/>
                              </a:rPr>
                              <m:t>𝑛</m:t>
                            </m:r>
                            <m:r>
                              <a:rPr lang="en-US" altLang="zh-CN" sz="2800" b="0" i="1" smtClean="0">
                                <a:latin typeface="Cambria Math" panose="02040503050406030204" pitchFamily="18" charset="0"/>
                              </a:rPr>
                              <m:t>−1</m:t>
                            </m:r>
                          </m:sup>
                        </m:sSubSup>
                      </m:oMath>
                    </m:oMathPara>
                  </a14:m>
                  <a:endParaRPr lang="zh-CN" altLang="en-US" sz="2800" dirty="0"/>
                </a:p>
              </p:txBody>
            </p:sp>
          </mc:Choice>
          <mc:Fallback>
            <p:sp>
              <p:nvSpPr>
                <p:cNvPr id="606" name="文本框 605"/>
                <p:cNvSpPr txBox="1">
                  <a:spLocks noRot="1" noChangeAspect="1" noMove="1" noResize="1" noEditPoints="1" noAdjustHandles="1" noChangeArrowheads="1" noChangeShapeType="1" noTextEdit="1"/>
                </p:cNvSpPr>
                <p:nvPr/>
              </p:nvSpPr>
              <p:spPr>
                <a:xfrm>
                  <a:off x="757640" y="3498411"/>
                  <a:ext cx="692005" cy="430887"/>
                </a:xfrm>
                <a:prstGeom prst="rect">
                  <a:avLst/>
                </a:prstGeom>
                <a:blipFill>
                  <a:blip r:embed="rId14"/>
                  <a:stretch>
                    <a:fillRect r="-43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9784013" y="2446524"/>
                  <a:ext cx="1515587" cy="46993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zh-CN" altLang="en-US" sz="2800" i="1" smtClean="0">
                                <a:latin typeface="Cambria Math" panose="02040503050406030204" pitchFamily="18" charset="0"/>
                              </a:rPr>
                            </m:ctrlPr>
                          </m:accPr>
                          <m:e>
                            <m:sSubSup>
                              <m:sSubSupPr>
                                <m:ctrlPr>
                                  <a:rPr lang="en-US" altLang="zh-CN" sz="2800" i="1" smtClean="0">
                                    <a:latin typeface="Cambria Math" panose="02040503050406030204" pitchFamily="18" charset="0"/>
                                  </a:rPr>
                                </m:ctrlPr>
                              </m:sSubSupPr>
                              <m:e>
                                <m:r>
                                  <a:rPr lang="en-US" altLang="zh-CN" sz="2800" b="0" i="1" smtClean="0">
                                    <a:latin typeface="Cambria Math" panose="02040503050406030204" pitchFamily="18" charset="0"/>
                                  </a:rPr>
                                  <m:t>𝑇</m:t>
                                </m:r>
                              </m:e>
                              <m:sub>
                                <m:r>
                                  <a:rPr lang="en-US" altLang="zh-CN" sz="2800" b="0" i="1" smtClean="0">
                                    <a:latin typeface="Cambria Math" panose="02040503050406030204" pitchFamily="18" charset="0"/>
                                  </a:rPr>
                                  <m:t>𝑛</m:t>
                                </m:r>
                              </m:sub>
                              <m:sup>
                                <m:r>
                                  <a:rPr lang="en-US" altLang="zh-CN" sz="2800" b="0" i="1" smtClean="0">
                                    <a:latin typeface="Cambria Math" panose="02040503050406030204" pitchFamily="18" charset="0"/>
                                  </a:rPr>
                                  <m:t>𝑛</m:t>
                                </m:r>
                              </m:sup>
                            </m:sSubSup>
                          </m:e>
                        </m:acc>
                      </m:oMath>
                    </m:oMathPara>
                  </a14:m>
                  <a:endParaRPr lang="zh-CN" altLang="en-US" sz="2800" dirty="0"/>
                </a:p>
              </p:txBody>
            </p:sp>
          </mc:Choice>
          <mc:Fallback>
            <p:sp>
              <p:nvSpPr>
                <p:cNvPr id="7" name="文本框 6"/>
                <p:cNvSpPr txBox="1">
                  <a:spLocks noRot="1" noChangeAspect="1" noMove="1" noResize="1" noEditPoints="1" noAdjustHandles="1" noChangeArrowheads="1" noChangeShapeType="1" noTextEdit="1"/>
                </p:cNvSpPr>
                <p:nvPr/>
              </p:nvSpPr>
              <p:spPr>
                <a:xfrm>
                  <a:off x="9784013" y="2446524"/>
                  <a:ext cx="1515587" cy="469937"/>
                </a:xfrm>
                <a:prstGeom prst="rect">
                  <a:avLst/>
                </a:prstGeom>
                <a:blipFill>
                  <a:blip r:embed="rId15"/>
                  <a:stretch>
                    <a:fillRect/>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B1127762-B5C2-4954-9269-EDC2C471B73B}"/>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5547678" y="4774797"/>
              <a:ext cx="6578147" cy="1285688"/>
            </a:xfrm>
            <a:prstGeom prst="rect">
              <a:avLst/>
            </a:prstGeom>
          </p:spPr>
        </p:pic>
      </p:grpSp>
    </p:spTree>
    <p:extLst>
      <p:ext uri="{BB962C8B-B14F-4D97-AF65-F5344CB8AC3E}">
        <p14:creationId xmlns:p14="http://schemas.microsoft.com/office/powerpoint/2010/main" val="39701719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97866" y="495734"/>
            <a:ext cx="2369559" cy="407356"/>
          </a:xfrm>
        </p:spPr>
        <p:txBody>
          <a:bodyPr/>
          <a:lstStyle/>
          <a:p>
            <a:r>
              <a:rPr lang="en-US" altLang="zh-CN" dirty="0"/>
              <a:t>Challenges</a:t>
            </a:r>
            <a:endParaRPr lang="zh-CN" altLang="en-US" dirty="0"/>
          </a:p>
        </p:txBody>
      </p:sp>
      <p:sp>
        <p:nvSpPr>
          <p:cNvPr id="16" name="文本框 15">
            <a:extLst>
              <a:ext uri="{FF2B5EF4-FFF2-40B4-BE49-F238E27FC236}">
                <a16:creationId xmlns:a16="http://schemas.microsoft.com/office/drawing/2014/main" id="{FABD69CF-03D6-4C94-B950-6A978B152BE0}"/>
              </a:ext>
            </a:extLst>
          </p:cNvPr>
          <p:cNvSpPr txBox="1"/>
          <p:nvPr/>
        </p:nvSpPr>
        <p:spPr>
          <a:xfrm>
            <a:off x="999700" y="1140061"/>
            <a:ext cx="10386177" cy="2677656"/>
          </a:xfrm>
          <a:prstGeom prst="rect">
            <a:avLst/>
          </a:prstGeom>
          <a:noFill/>
        </p:spPr>
        <p:txBody>
          <a:bodyPr wrap="none" rtlCol="0">
            <a:spAutoFit/>
          </a:bodyPr>
          <a:lstStyle/>
          <a:p>
            <a:pPr marL="457200" indent="-457200">
              <a:buAutoNum type="arabicParenR"/>
            </a:pPr>
            <a:r>
              <a:rPr lang="en-US" altLang="zh-CN" sz="2400" b="1" dirty="0">
                <a:solidFill>
                  <a:schemeClr val="tx1">
                    <a:lumMod val="75000"/>
                    <a:lumOff val="25000"/>
                  </a:schemeClr>
                </a:solidFill>
              </a:rPr>
              <a:t>High sparsity results in weak spatial-temporal constrains</a:t>
            </a:r>
          </a:p>
          <a:p>
            <a:pPr marL="457200" indent="-457200">
              <a:buAutoNum type="arabicParenR"/>
            </a:pPr>
            <a:endParaRPr lang="en-US" altLang="zh-CN" sz="2400" b="1" dirty="0">
              <a:solidFill>
                <a:schemeClr val="tx1">
                  <a:lumMod val="75000"/>
                  <a:lumOff val="25000"/>
                </a:schemeClr>
              </a:solidFill>
            </a:endParaRPr>
          </a:p>
          <a:p>
            <a:pPr marL="457200" indent="-457200">
              <a:buAutoNum type="arabicParenR"/>
            </a:pPr>
            <a:endParaRPr lang="en-US" altLang="zh-CN" sz="2400" b="1" dirty="0">
              <a:solidFill>
                <a:schemeClr val="tx1">
                  <a:lumMod val="75000"/>
                  <a:lumOff val="25000"/>
                </a:schemeClr>
              </a:solidFill>
            </a:endParaRPr>
          </a:p>
          <a:p>
            <a:pPr marL="457200" indent="-457200">
              <a:buAutoNum type="arabicParenR" startAt="2"/>
            </a:pPr>
            <a:r>
              <a:rPr lang="en-US" altLang="zh-CN" sz="2400" b="1" dirty="0">
                <a:solidFill>
                  <a:schemeClr val="tx1">
                    <a:lumMod val="75000"/>
                    <a:lumOff val="25000"/>
                  </a:schemeClr>
                </a:solidFill>
              </a:rPr>
              <a:t>Periodical feature is hard to distill from noisy history trajectories</a:t>
            </a:r>
          </a:p>
          <a:p>
            <a:pPr marL="457200" indent="-457200">
              <a:buAutoNum type="arabicParenR" startAt="2"/>
            </a:pPr>
            <a:endParaRPr lang="en-US" altLang="zh-CN" sz="2400" b="1" dirty="0">
              <a:solidFill>
                <a:schemeClr val="tx1">
                  <a:lumMod val="75000"/>
                  <a:lumOff val="25000"/>
                </a:schemeClr>
              </a:solidFill>
            </a:endParaRPr>
          </a:p>
          <a:p>
            <a:pPr marL="457200" indent="-457200">
              <a:buAutoNum type="arabicParenR" startAt="2"/>
            </a:pPr>
            <a:endParaRPr lang="en-US" altLang="zh-CN" sz="2400" b="1" dirty="0">
              <a:solidFill>
                <a:schemeClr val="tx1">
                  <a:lumMod val="75000"/>
                  <a:lumOff val="25000"/>
                </a:schemeClr>
              </a:solidFill>
            </a:endParaRPr>
          </a:p>
          <a:p>
            <a:pPr marL="457200" indent="-457200">
              <a:buAutoNum type="arabicParenR" startAt="2"/>
            </a:pPr>
            <a:r>
              <a:rPr lang="en-US" altLang="zh-CN" sz="2400" b="1" dirty="0">
                <a:solidFill>
                  <a:schemeClr val="tx1">
                    <a:lumMod val="75000"/>
                    <a:lumOff val="25000"/>
                  </a:schemeClr>
                </a:solidFill>
              </a:rPr>
              <a:t>How to combine historical pattern with observed locations.</a:t>
            </a:r>
            <a:endParaRPr lang="zh-CN" altLang="en-US" sz="2400" b="1" dirty="0">
              <a:solidFill>
                <a:schemeClr val="tx1">
                  <a:lumMod val="75000"/>
                  <a:lumOff val="25000"/>
                </a:schemeClr>
              </a:solidFill>
            </a:endParaRPr>
          </a:p>
        </p:txBody>
      </p:sp>
      <p:sp>
        <p:nvSpPr>
          <p:cNvPr id="19" name="灯片编号占位符 18"/>
          <p:cNvSpPr>
            <a:spLocks noGrp="1"/>
          </p:cNvSpPr>
          <p:nvPr>
            <p:ph type="sldNum" sz="quarter" idx="10"/>
          </p:nvPr>
        </p:nvSpPr>
        <p:spPr/>
        <p:txBody>
          <a:bodyPr/>
          <a:lstStyle/>
          <a:p>
            <a:fld id="{3A7104C2-2265-4AB9-B90C-4162FA6B94AE}" type="slidenum">
              <a:rPr lang="zh-CN" altLang="en-US" smtClean="0"/>
              <a:pPr/>
              <a:t>6</a:t>
            </a:fld>
            <a:endParaRPr lang="zh-CN" altLang="en-US" dirty="0"/>
          </a:p>
        </p:txBody>
      </p:sp>
      <p:sp>
        <p:nvSpPr>
          <p:cNvPr id="20" name="文本框 19"/>
          <p:cNvSpPr txBox="1"/>
          <p:nvPr/>
        </p:nvSpPr>
        <p:spPr>
          <a:xfrm>
            <a:off x="1543298" y="1635909"/>
            <a:ext cx="8183301" cy="400110"/>
          </a:xfrm>
          <a:prstGeom prst="rect">
            <a:avLst/>
          </a:prstGeom>
          <a:noFill/>
        </p:spPr>
        <p:txBody>
          <a:bodyPr wrap="square" rtlCol="0">
            <a:spAutoFit/>
          </a:bodyPr>
          <a:lstStyle/>
          <a:p>
            <a:pPr marL="285750" indent="-285750">
              <a:buFont typeface="Arial" panose="020B0604020202020204" pitchFamily="34" charset="0"/>
              <a:buChar char="•"/>
            </a:pPr>
            <a:r>
              <a:rPr lang="en-US" altLang="zh-CN" sz="2000" dirty="0"/>
              <a:t>Location uncertainty increases with longer time span of missing data</a:t>
            </a:r>
            <a:endParaRPr lang="zh-CN" altLang="en-US" sz="2000" dirty="0"/>
          </a:p>
        </p:txBody>
      </p:sp>
      <p:sp>
        <p:nvSpPr>
          <p:cNvPr id="33" name="文本框 32"/>
          <p:cNvSpPr txBox="1"/>
          <p:nvPr/>
        </p:nvSpPr>
        <p:spPr>
          <a:xfrm>
            <a:off x="1543299" y="2726813"/>
            <a:ext cx="10097636" cy="400110"/>
          </a:xfrm>
          <a:prstGeom prst="rect">
            <a:avLst/>
          </a:prstGeom>
          <a:noFill/>
        </p:spPr>
        <p:txBody>
          <a:bodyPr wrap="square" rtlCol="0">
            <a:spAutoFit/>
          </a:bodyPr>
          <a:lstStyle/>
          <a:p>
            <a:pPr marL="342900" indent="-342900">
              <a:buFont typeface="Arial" panose="020B0604020202020204" pitchFamily="34" charset="0"/>
              <a:buChar char="•"/>
            </a:pPr>
            <a:r>
              <a:rPr lang="en-US" altLang="zh-CN" sz="2000" dirty="0"/>
              <a:t>Historical trajectories are also sparse and contains  a lot of occasional visits</a:t>
            </a:r>
            <a:endParaRPr lang="zh-CN" altLang="en-US" sz="2000" dirty="0"/>
          </a:p>
        </p:txBody>
      </p:sp>
      <p:sp>
        <p:nvSpPr>
          <p:cNvPr id="34" name="文本框 33"/>
          <p:cNvSpPr txBox="1"/>
          <p:nvPr/>
        </p:nvSpPr>
        <p:spPr>
          <a:xfrm>
            <a:off x="1543299" y="3856762"/>
            <a:ext cx="8970381" cy="400110"/>
          </a:xfrm>
          <a:prstGeom prst="rect">
            <a:avLst/>
          </a:prstGeom>
          <a:noFill/>
        </p:spPr>
        <p:txBody>
          <a:bodyPr wrap="square" rtlCol="0">
            <a:spAutoFit/>
          </a:bodyPr>
          <a:lstStyle/>
          <a:p>
            <a:pPr marL="342900" indent="-342900">
              <a:buFont typeface="Arial" panose="020B0604020202020204" pitchFamily="34" charset="0"/>
              <a:buChar char="•"/>
            </a:pPr>
            <a:r>
              <a:rPr lang="en-US" altLang="zh-CN" sz="2000" dirty="0"/>
              <a:t>The importance of history varies with time, user, etc. </a:t>
            </a:r>
            <a:endParaRPr lang="zh-CN" altLang="en-US" sz="2000" dirty="0"/>
          </a:p>
        </p:txBody>
      </p:sp>
      <p:grpSp>
        <p:nvGrpSpPr>
          <p:cNvPr id="4" name="组合 3">
            <a:extLst>
              <a:ext uri="{FF2B5EF4-FFF2-40B4-BE49-F238E27FC236}">
                <a16:creationId xmlns:a16="http://schemas.microsoft.com/office/drawing/2014/main" id="{D0ABE575-DCD0-4329-BA86-8056DDA16B8B}"/>
              </a:ext>
            </a:extLst>
          </p:cNvPr>
          <p:cNvGrpSpPr/>
          <p:nvPr/>
        </p:nvGrpSpPr>
        <p:grpSpPr>
          <a:xfrm>
            <a:off x="1194766" y="4402563"/>
            <a:ext cx="2338702" cy="1865719"/>
            <a:chOff x="1132165" y="4608293"/>
            <a:chExt cx="2338702" cy="1865719"/>
          </a:xfrm>
        </p:grpSpPr>
        <p:pic>
          <p:nvPicPr>
            <p:cNvPr id="13" name="图片 12">
              <a:extLst>
                <a:ext uri="{FF2B5EF4-FFF2-40B4-BE49-F238E27FC236}">
                  <a16:creationId xmlns:a16="http://schemas.microsoft.com/office/drawing/2014/main" id="{99D78069-20F9-4BE3-8CC5-B2653F00A9A9}"/>
                </a:ext>
              </a:extLst>
            </p:cNvPr>
            <p:cNvPicPr>
              <a:picLocks noChangeAspect="1"/>
            </p:cNvPicPr>
            <p:nvPr/>
          </p:nvPicPr>
          <p:blipFill rotWithShape="1">
            <a:blip r:embed="rId3">
              <a:extLst>
                <a:ext uri="{28A0092B-C50C-407E-A947-70E740481C1C}">
                  <a14:useLocalDpi xmlns:a14="http://schemas.microsoft.com/office/drawing/2010/main" val="0"/>
                </a:ext>
              </a:extLst>
            </a:blip>
            <a:srcRect l="12180" t="5466" r="8267" b="9915"/>
            <a:stretch/>
          </p:blipFill>
          <p:spPr>
            <a:xfrm>
              <a:off x="1132165" y="4608293"/>
              <a:ext cx="2338702" cy="1865719"/>
            </a:xfrm>
            <a:prstGeom prst="rect">
              <a:avLst/>
            </a:prstGeom>
          </p:spPr>
        </p:pic>
        <p:sp>
          <p:nvSpPr>
            <p:cNvPr id="14" name="十字星 45">
              <a:extLst>
                <a:ext uri="{FF2B5EF4-FFF2-40B4-BE49-F238E27FC236}">
                  <a16:creationId xmlns:a16="http://schemas.microsoft.com/office/drawing/2014/main" id="{55094733-6F55-4EBB-9B9D-41F4B0A6CEC7}"/>
                </a:ext>
              </a:extLst>
            </p:cNvPr>
            <p:cNvSpPr/>
            <p:nvPr/>
          </p:nvSpPr>
          <p:spPr>
            <a:xfrm>
              <a:off x="1459771" y="5991979"/>
              <a:ext cx="158732" cy="256239"/>
            </a:xfrm>
            <a:prstGeom prst="star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十字星 46">
              <a:extLst>
                <a:ext uri="{FF2B5EF4-FFF2-40B4-BE49-F238E27FC236}">
                  <a16:creationId xmlns:a16="http://schemas.microsoft.com/office/drawing/2014/main" id="{96863772-2ADE-4ED2-8CCD-9CC5BCBCE217}"/>
                </a:ext>
              </a:extLst>
            </p:cNvPr>
            <p:cNvSpPr/>
            <p:nvPr/>
          </p:nvSpPr>
          <p:spPr>
            <a:xfrm>
              <a:off x="2222150" y="5409234"/>
              <a:ext cx="158732" cy="256239"/>
            </a:xfrm>
            <a:prstGeom prst="star4">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4F4B3792-0C2E-48B8-B291-DB0189BF5751}"/>
                </a:ext>
              </a:extLst>
            </p:cNvPr>
            <p:cNvCxnSpPr>
              <a:cxnSpLocks/>
            </p:cNvCxnSpPr>
            <p:nvPr/>
          </p:nvCxnSpPr>
          <p:spPr>
            <a:xfrm flipH="1">
              <a:off x="1642512" y="5610199"/>
              <a:ext cx="579638" cy="43024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23977E93-3AB9-4A38-80C3-FDE0CDF04090}"/>
              </a:ext>
            </a:extLst>
          </p:cNvPr>
          <p:cNvGrpSpPr/>
          <p:nvPr/>
        </p:nvGrpSpPr>
        <p:grpSpPr>
          <a:xfrm>
            <a:off x="3861074" y="4508512"/>
            <a:ext cx="3499751" cy="1687200"/>
            <a:chOff x="3264174" y="4508512"/>
            <a:chExt cx="3499751" cy="1687200"/>
          </a:xfrm>
        </p:grpSpPr>
        <p:sp>
          <p:nvSpPr>
            <p:cNvPr id="21" name="流程图: 数据 20">
              <a:extLst>
                <a:ext uri="{FF2B5EF4-FFF2-40B4-BE49-F238E27FC236}">
                  <a16:creationId xmlns:a16="http://schemas.microsoft.com/office/drawing/2014/main" id="{BD1DF9EE-7A0B-45F1-AB43-3F78F6ACA87A}"/>
                </a:ext>
              </a:extLst>
            </p:cNvPr>
            <p:cNvSpPr/>
            <p:nvPr/>
          </p:nvSpPr>
          <p:spPr>
            <a:xfrm>
              <a:off x="3264174" y="4508512"/>
              <a:ext cx="3499751" cy="1687200"/>
            </a:xfrm>
            <a:prstGeom prst="flowChartInputOutput">
              <a:avLst/>
            </a:prstGeom>
            <a:blipFill dpi="0" rotWithShape="1">
              <a:blip r:embed="rId4" cstate="email">
                <a:extLst>
                  <a:ext uri="{28A0092B-C50C-407E-A947-70E740481C1C}">
                    <a14:useLocalDpi xmlns:a14="http://schemas.microsoft.com/office/drawing/2010/main" val="0"/>
                  </a:ext>
                </a:extLst>
              </a:blip>
              <a:srcRect/>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669C7571-AF3E-48D8-A3AA-E544CCA9CE1C}"/>
                </a:ext>
              </a:extLst>
            </p:cNvPr>
            <p:cNvGrpSpPr/>
            <p:nvPr/>
          </p:nvGrpSpPr>
          <p:grpSpPr>
            <a:xfrm>
              <a:off x="3815429" y="4684060"/>
              <a:ext cx="2525485" cy="1280620"/>
              <a:chOff x="3815429" y="4684060"/>
              <a:chExt cx="2525485" cy="1280620"/>
            </a:xfrm>
          </p:grpSpPr>
          <p:sp>
            <p:nvSpPr>
              <p:cNvPr id="6" name="任意多边形: 形状 5">
                <a:extLst>
                  <a:ext uri="{FF2B5EF4-FFF2-40B4-BE49-F238E27FC236}">
                    <a16:creationId xmlns:a16="http://schemas.microsoft.com/office/drawing/2014/main" id="{C8EAFF69-FECA-4BEC-A751-8B19E734261F}"/>
                  </a:ext>
                </a:extLst>
              </p:cNvPr>
              <p:cNvSpPr/>
              <p:nvPr/>
            </p:nvSpPr>
            <p:spPr>
              <a:xfrm>
                <a:off x="4729829" y="4745461"/>
                <a:ext cx="1407885" cy="638628"/>
              </a:xfrm>
              <a:custGeom>
                <a:avLst/>
                <a:gdLst>
                  <a:gd name="connsiteX0" fmla="*/ 0 w 1407885"/>
                  <a:gd name="connsiteY0" fmla="*/ 638628 h 638628"/>
                  <a:gd name="connsiteX1" fmla="*/ 145143 w 1407885"/>
                  <a:gd name="connsiteY1" fmla="*/ 537028 h 638628"/>
                  <a:gd name="connsiteX2" fmla="*/ 188685 w 1407885"/>
                  <a:gd name="connsiteY2" fmla="*/ 551543 h 638628"/>
                  <a:gd name="connsiteX3" fmla="*/ 333828 w 1407885"/>
                  <a:gd name="connsiteY3" fmla="*/ 522514 h 638628"/>
                  <a:gd name="connsiteX4" fmla="*/ 406400 w 1407885"/>
                  <a:gd name="connsiteY4" fmla="*/ 435428 h 638628"/>
                  <a:gd name="connsiteX5" fmla="*/ 449943 w 1407885"/>
                  <a:gd name="connsiteY5" fmla="*/ 391886 h 638628"/>
                  <a:gd name="connsiteX6" fmla="*/ 566057 w 1407885"/>
                  <a:gd name="connsiteY6" fmla="*/ 362857 h 638628"/>
                  <a:gd name="connsiteX7" fmla="*/ 696685 w 1407885"/>
                  <a:gd name="connsiteY7" fmla="*/ 290286 h 638628"/>
                  <a:gd name="connsiteX8" fmla="*/ 711200 w 1407885"/>
                  <a:gd name="connsiteY8" fmla="*/ 246743 h 638628"/>
                  <a:gd name="connsiteX9" fmla="*/ 725714 w 1407885"/>
                  <a:gd name="connsiteY9" fmla="*/ 130628 h 638628"/>
                  <a:gd name="connsiteX10" fmla="*/ 1016000 w 1407885"/>
                  <a:gd name="connsiteY10" fmla="*/ 116114 h 638628"/>
                  <a:gd name="connsiteX11" fmla="*/ 1146628 w 1407885"/>
                  <a:gd name="connsiteY11" fmla="*/ 58057 h 638628"/>
                  <a:gd name="connsiteX12" fmla="*/ 1262743 w 1407885"/>
                  <a:gd name="connsiteY12" fmla="*/ 29028 h 638628"/>
                  <a:gd name="connsiteX13" fmla="*/ 1407885 w 1407885"/>
                  <a:gd name="connsiteY13" fmla="*/ 0 h 638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407885" h="638628">
                    <a:moveTo>
                      <a:pt x="0" y="638628"/>
                    </a:moveTo>
                    <a:cubicBezTo>
                      <a:pt x="50829" y="587799"/>
                      <a:pt x="71730" y="537028"/>
                      <a:pt x="145143" y="537028"/>
                    </a:cubicBezTo>
                    <a:cubicBezTo>
                      <a:pt x="160442" y="537028"/>
                      <a:pt x="174171" y="546705"/>
                      <a:pt x="188685" y="551543"/>
                    </a:cubicBezTo>
                    <a:cubicBezTo>
                      <a:pt x="237066" y="541867"/>
                      <a:pt x="290293" y="545732"/>
                      <a:pt x="333828" y="522514"/>
                    </a:cubicBezTo>
                    <a:cubicBezTo>
                      <a:pt x="367169" y="504732"/>
                      <a:pt x="381296" y="463670"/>
                      <a:pt x="406400" y="435428"/>
                    </a:cubicBezTo>
                    <a:cubicBezTo>
                      <a:pt x="420037" y="420087"/>
                      <a:pt x="432864" y="403272"/>
                      <a:pt x="449943" y="391886"/>
                    </a:cubicBezTo>
                    <a:cubicBezTo>
                      <a:pt x="469074" y="379132"/>
                      <a:pt x="555583" y="364952"/>
                      <a:pt x="566057" y="362857"/>
                    </a:cubicBezTo>
                    <a:cubicBezTo>
                      <a:pt x="566657" y="362557"/>
                      <a:pt x="681008" y="309882"/>
                      <a:pt x="696685" y="290286"/>
                    </a:cubicBezTo>
                    <a:cubicBezTo>
                      <a:pt x="706243" y="278339"/>
                      <a:pt x="706362" y="261257"/>
                      <a:pt x="711200" y="246743"/>
                    </a:cubicBezTo>
                    <a:cubicBezTo>
                      <a:pt x="716038" y="208038"/>
                      <a:pt x="689862" y="145993"/>
                      <a:pt x="725714" y="130628"/>
                    </a:cubicBezTo>
                    <a:cubicBezTo>
                      <a:pt x="814763" y="92464"/>
                      <a:pt x="919807" y="127657"/>
                      <a:pt x="1016000" y="116114"/>
                    </a:cubicBezTo>
                    <a:cubicBezTo>
                      <a:pt x="1047262" y="112363"/>
                      <a:pt x="1116257" y="71073"/>
                      <a:pt x="1146628" y="58057"/>
                    </a:cubicBezTo>
                    <a:cubicBezTo>
                      <a:pt x="1180394" y="43586"/>
                      <a:pt x="1228672" y="33895"/>
                      <a:pt x="1262743" y="29028"/>
                    </a:cubicBezTo>
                    <a:cubicBezTo>
                      <a:pt x="1405262" y="8668"/>
                      <a:pt x="1361597" y="46288"/>
                      <a:pt x="1407885" y="0"/>
                    </a:cubicBezTo>
                  </a:path>
                </a:pathLst>
              </a:custGeom>
              <a:noFill/>
              <a:ln w="285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任意多边形: 形状 6">
                <a:extLst>
                  <a:ext uri="{FF2B5EF4-FFF2-40B4-BE49-F238E27FC236}">
                    <a16:creationId xmlns:a16="http://schemas.microsoft.com/office/drawing/2014/main" id="{27264799-E1EE-4331-9584-CA7C2FE73F2B}"/>
                  </a:ext>
                </a:extLst>
              </p:cNvPr>
              <p:cNvSpPr/>
              <p:nvPr/>
            </p:nvSpPr>
            <p:spPr>
              <a:xfrm>
                <a:off x="4120229" y="4684060"/>
                <a:ext cx="769257" cy="714544"/>
              </a:xfrm>
              <a:custGeom>
                <a:avLst/>
                <a:gdLst>
                  <a:gd name="connsiteX0" fmla="*/ 638628 w 769257"/>
                  <a:gd name="connsiteY0" fmla="*/ 714544 h 714544"/>
                  <a:gd name="connsiteX1" fmla="*/ 609600 w 769257"/>
                  <a:gd name="connsiteY1" fmla="*/ 598429 h 714544"/>
                  <a:gd name="connsiteX2" fmla="*/ 580571 w 769257"/>
                  <a:gd name="connsiteY2" fmla="*/ 554887 h 714544"/>
                  <a:gd name="connsiteX3" fmla="*/ 537028 w 769257"/>
                  <a:gd name="connsiteY3" fmla="*/ 511344 h 714544"/>
                  <a:gd name="connsiteX4" fmla="*/ 522514 w 769257"/>
                  <a:gd name="connsiteY4" fmla="*/ 438772 h 714544"/>
                  <a:gd name="connsiteX5" fmla="*/ 566057 w 769257"/>
                  <a:gd name="connsiteY5" fmla="*/ 337172 h 714544"/>
                  <a:gd name="connsiteX6" fmla="*/ 696685 w 769257"/>
                  <a:gd name="connsiteY6" fmla="*/ 279115 h 714544"/>
                  <a:gd name="connsiteX7" fmla="*/ 740228 w 769257"/>
                  <a:gd name="connsiteY7" fmla="*/ 264601 h 714544"/>
                  <a:gd name="connsiteX8" fmla="*/ 769257 w 769257"/>
                  <a:gd name="connsiteY8" fmla="*/ 221058 h 714544"/>
                  <a:gd name="connsiteX9" fmla="*/ 682171 w 769257"/>
                  <a:gd name="connsiteY9" fmla="*/ 163001 h 714544"/>
                  <a:gd name="connsiteX10" fmla="*/ 595085 w 769257"/>
                  <a:gd name="connsiteY10" fmla="*/ 133972 h 714544"/>
                  <a:gd name="connsiteX11" fmla="*/ 551543 w 769257"/>
                  <a:gd name="connsiteY11" fmla="*/ 119458 h 714544"/>
                  <a:gd name="connsiteX12" fmla="*/ 377371 w 769257"/>
                  <a:gd name="connsiteY12" fmla="*/ 104944 h 714544"/>
                  <a:gd name="connsiteX13" fmla="*/ 246743 w 769257"/>
                  <a:gd name="connsiteY13" fmla="*/ 46887 h 714544"/>
                  <a:gd name="connsiteX14" fmla="*/ 203200 w 769257"/>
                  <a:gd name="connsiteY14" fmla="*/ 32372 h 714544"/>
                  <a:gd name="connsiteX15" fmla="*/ 159657 w 769257"/>
                  <a:gd name="connsiteY15" fmla="*/ 3344 h 714544"/>
                  <a:gd name="connsiteX16" fmla="*/ 0 w 769257"/>
                  <a:gd name="connsiteY16" fmla="*/ 3344 h 71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69257" h="714544">
                    <a:moveTo>
                      <a:pt x="638628" y="714544"/>
                    </a:moveTo>
                    <a:cubicBezTo>
                      <a:pt x="633108" y="686944"/>
                      <a:pt x="624476" y="628182"/>
                      <a:pt x="609600" y="598429"/>
                    </a:cubicBezTo>
                    <a:cubicBezTo>
                      <a:pt x="601799" y="582827"/>
                      <a:pt x="591738" y="568288"/>
                      <a:pt x="580571" y="554887"/>
                    </a:cubicBezTo>
                    <a:cubicBezTo>
                      <a:pt x="567430" y="539118"/>
                      <a:pt x="551542" y="525858"/>
                      <a:pt x="537028" y="511344"/>
                    </a:cubicBezTo>
                    <a:cubicBezTo>
                      <a:pt x="532190" y="487153"/>
                      <a:pt x="522514" y="463442"/>
                      <a:pt x="522514" y="438772"/>
                    </a:cubicBezTo>
                    <a:cubicBezTo>
                      <a:pt x="522514" y="405461"/>
                      <a:pt x="542355" y="360874"/>
                      <a:pt x="566057" y="337172"/>
                    </a:cubicBezTo>
                    <a:cubicBezTo>
                      <a:pt x="600557" y="302673"/>
                      <a:pt x="653573" y="293486"/>
                      <a:pt x="696685" y="279115"/>
                    </a:cubicBezTo>
                    <a:lnTo>
                      <a:pt x="740228" y="264601"/>
                    </a:lnTo>
                    <a:cubicBezTo>
                      <a:pt x="749904" y="250087"/>
                      <a:pt x="769257" y="238502"/>
                      <a:pt x="769257" y="221058"/>
                    </a:cubicBezTo>
                    <a:cubicBezTo>
                      <a:pt x="769257" y="169667"/>
                      <a:pt x="711302" y="171740"/>
                      <a:pt x="682171" y="163001"/>
                    </a:cubicBezTo>
                    <a:cubicBezTo>
                      <a:pt x="652863" y="154208"/>
                      <a:pt x="624114" y="143648"/>
                      <a:pt x="595085" y="133972"/>
                    </a:cubicBezTo>
                    <a:cubicBezTo>
                      <a:pt x="580571" y="129134"/>
                      <a:pt x="566789" y="120728"/>
                      <a:pt x="551543" y="119458"/>
                    </a:cubicBezTo>
                    <a:lnTo>
                      <a:pt x="377371" y="104944"/>
                    </a:lnTo>
                    <a:cubicBezTo>
                      <a:pt x="152702" y="30053"/>
                      <a:pt x="384744" y="115888"/>
                      <a:pt x="246743" y="46887"/>
                    </a:cubicBezTo>
                    <a:cubicBezTo>
                      <a:pt x="233059" y="40045"/>
                      <a:pt x="216884" y="39214"/>
                      <a:pt x="203200" y="32372"/>
                    </a:cubicBezTo>
                    <a:cubicBezTo>
                      <a:pt x="187598" y="24571"/>
                      <a:pt x="176926" y="5811"/>
                      <a:pt x="159657" y="3344"/>
                    </a:cubicBezTo>
                    <a:cubicBezTo>
                      <a:pt x="106973" y="-4182"/>
                      <a:pt x="53219" y="3344"/>
                      <a:pt x="0" y="3344"/>
                    </a:cubicBezTo>
                  </a:path>
                </a:pathLst>
              </a:custGeom>
              <a:no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任意多边形: 形状 7">
                <a:extLst>
                  <a:ext uri="{FF2B5EF4-FFF2-40B4-BE49-F238E27FC236}">
                    <a16:creationId xmlns:a16="http://schemas.microsoft.com/office/drawing/2014/main" id="{B25A936A-2996-4C61-BFDC-50DFA6587453}"/>
                  </a:ext>
                </a:extLst>
              </p:cNvPr>
              <p:cNvSpPr/>
              <p:nvPr/>
            </p:nvSpPr>
            <p:spPr>
              <a:xfrm>
                <a:off x="4773372" y="4962208"/>
                <a:ext cx="1567542" cy="517655"/>
              </a:xfrm>
              <a:custGeom>
                <a:avLst/>
                <a:gdLst>
                  <a:gd name="connsiteX0" fmla="*/ 0 w 1567542"/>
                  <a:gd name="connsiteY0" fmla="*/ 407367 h 517655"/>
                  <a:gd name="connsiteX1" fmla="*/ 232228 w 1567542"/>
                  <a:gd name="connsiteY1" fmla="*/ 508967 h 517655"/>
                  <a:gd name="connsiteX2" fmla="*/ 391885 w 1567542"/>
                  <a:gd name="connsiteY2" fmla="*/ 465424 h 517655"/>
                  <a:gd name="connsiteX3" fmla="*/ 493485 w 1567542"/>
                  <a:gd name="connsiteY3" fmla="*/ 436396 h 517655"/>
                  <a:gd name="connsiteX4" fmla="*/ 725714 w 1567542"/>
                  <a:gd name="connsiteY4" fmla="*/ 421881 h 517655"/>
                  <a:gd name="connsiteX5" fmla="*/ 798285 w 1567542"/>
                  <a:gd name="connsiteY5" fmla="*/ 407367 h 517655"/>
                  <a:gd name="connsiteX6" fmla="*/ 841828 w 1567542"/>
                  <a:gd name="connsiteY6" fmla="*/ 392853 h 517655"/>
                  <a:gd name="connsiteX7" fmla="*/ 943428 w 1567542"/>
                  <a:gd name="connsiteY7" fmla="*/ 378339 h 517655"/>
                  <a:gd name="connsiteX8" fmla="*/ 1001485 w 1567542"/>
                  <a:gd name="connsiteY8" fmla="*/ 349310 h 517655"/>
                  <a:gd name="connsiteX9" fmla="*/ 1103085 w 1567542"/>
                  <a:gd name="connsiteY9" fmla="*/ 320281 h 517655"/>
                  <a:gd name="connsiteX10" fmla="*/ 1204685 w 1567542"/>
                  <a:gd name="connsiteY10" fmla="*/ 247710 h 517655"/>
                  <a:gd name="connsiteX11" fmla="*/ 1306285 w 1567542"/>
                  <a:gd name="connsiteY11" fmla="*/ 117081 h 517655"/>
                  <a:gd name="connsiteX12" fmla="*/ 1393371 w 1567542"/>
                  <a:gd name="connsiteY12" fmla="*/ 29996 h 517655"/>
                  <a:gd name="connsiteX13" fmla="*/ 1567542 w 1567542"/>
                  <a:gd name="connsiteY13" fmla="*/ 967 h 517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67542" h="517655">
                    <a:moveTo>
                      <a:pt x="0" y="407367"/>
                    </a:moveTo>
                    <a:cubicBezTo>
                      <a:pt x="77409" y="441234"/>
                      <a:pt x="150257" y="488474"/>
                      <a:pt x="232228" y="508967"/>
                    </a:cubicBezTo>
                    <a:cubicBezTo>
                      <a:pt x="336705" y="535086"/>
                      <a:pt x="328833" y="496950"/>
                      <a:pt x="391885" y="465424"/>
                    </a:cubicBezTo>
                    <a:cubicBezTo>
                      <a:pt x="407357" y="457688"/>
                      <a:pt x="481860" y="437559"/>
                      <a:pt x="493485" y="436396"/>
                    </a:cubicBezTo>
                    <a:cubicBezTo>
                      <a:pt x="570661" y="428678"/>
                      <a:pt x="648304" y="426719"/>
                      <a:pt x="725714" y="421881"/>
                    </a:cubicBezTo>
                    <a:cubicBezTo>
                      <a:pt x="749904" y="417043"/>
                      <a:pt x="774352" y="413350"/>
                      <a:pt x="798285" y="407367"/>
                    </a:cubicBezTo>
                    <a:cubicBezTo>
                      <a:pt x="813128" y="403656"/>
                      <a:pt x="826826" y="395853"/>
                      <a:pt x="841828" y="392853"/>
                    </a:cubicBezTo>
                    <a:cubicBezTo>
                      <a:pt x="875374" y="386144"/>
                      <a:pt x="909561" y="383177"/>
                      <a:pt x="943428" y="378339"/>
                    </a:cubicBezTo>
                    <a:cubicBezTo>
                      <a:pt x="962780" y="368663"/>
                      <a:pt x="981226" y="356907"/>
                      <a:pt x="1001485" y="349310"/>
                    </a:cubicBezTo>
                    <a:cubicBezTo>
                      <a:pt x="1038703" y="335353"/>
                      <a:pt x="1067985" y="337831"/>
                      <a:pt x="1103085" y="320281"/>
                    </a:cubicBezTo>
                    <a:cubicBezTo>
                      <a:pt x="1121468" y="311090"/>
                      <a:pt x="1195477" y="255603"/>
                      <a:pt x="1204685" y="247710"/>
                    </a:cubicBezTo>
                    <a:cubicBezTo>
                      <a:pt x="1347698" y="125127"/>
                      <a:pt x="1109706" y="313658"/>
                      <a:pt x="1306285" y="117081"/>
                    </a:cubicBezTo>
                    <a:cubicBezTo>
                      <a:pt x="1335314" y="88053"/>
                      <a:pt x="1354425" y="42978"/>
                      <a:pt x="1393371" y="29996"/>
                    </a:cubicBezTo>
                    <a:cubicBezTo>
                      <a:pt x="1507996" y="-8213"/>
                      <a:pt x="1449858" y="967"/>
                      <a:pt x="1567542" y="967"/>
                    </a:cubicBezTo>
                  </a:path>
                </a:pathLst>
              </a:custGeom>
              <a:noFill/>
              <a:ln w="28575">
                <a:solidFill>
                  <a:schemeClr val="accent6">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a:extLst>
                  <a:ext uri="{FF2B5EF4-FFF2-40B4-BE49-F238E27FC236}">
                    <a16:creationId xmlns:a16="http://schemas.microsoft.com/office/drawing/2014/main" id="{36B3DE9A-769B-4938-9773-0885C136DB69}"/>
                  </a:ext>
                </a:extLst>
              </p:cNvPr>
              <p:cNvSpPr/>
              <p:nvPr/>
            </p:nvSpPr>
            <p:spPr>
              <a:xfrm>
                <a:off x="3815429" y="5369575"/>
                <a:ext cx="943428" cy="595105"/>
              </a:xfrm>
              <a:custGeom>
                <a:avLst/>
                <a:gdLst>
                  <a:gd name="connsiteX0" fmla="*/ 943428 w 943428"/>
                  <a:gd name="connsiteY0" fmla="*/ 0 h 595105"/>
                  <a:gd name="connsiteX1" fmla="*/ 740228 w 943428"/>
                  <a:gd name="connsiteY1" fmla="*/ 43543 h 595105"/>
                  <a:gd name="connsiteX2" fmla="*/ 682171 w 943428"/>
                  <a:gd name="connsiteY2" fmla="*/ 72572 h 595105"/>
                  <a:gd name="connsiteX3" fmla="*/ 653143 w 943428"/>
                  <a:gd name="connsiteY3" fmla="*/ 130629 h 595105"/>
                  <a:gd name="connsiteX4" fmla="*/ 609600 w 943428"/>
                  <a:gd name="connsiteY4" fmla="*/ 217714 h 595105"/>
                  <a:gd name="connsiteX5" fmla="*/ 508000 w 943428"/>
                  <a:gd name="connsiteY5" fmla="*/ 290286 h 595105"/>
                  <a:gd name="connsiteX6" fmla="*/ 420914 w 943428"/>
                  <a:gd name="connsiteY6" fmla="*/ 377372 h 595105"/>
                  <a:gd name="connsiteX7" fmla="*/ 391885 w 943428"/>
                  <a:gd name="connsiteY7" fmla="*/ 420914 h 595105"/>
                  <a:gd name="connsiteX8" fmla="*/ 290285 w 943428"/>
                  <a:gd name="connsiteY8" fmla="*/ 464457 h 595105"/>
                  <a:gd name="connsiteX9" fmla="*/ 203200 w 943428"/>
                  <a:gd name="connsiteY9" fmla="*/ 522514 h 595105"/>
                  <a:gd name="connsiteX10" fmla="*/ 116114 w 943428"/>
                  <a:gd name="connsiteY10" fmla="*/ 551543 h 595105"/>
                  <a:gd name="connsiteX11" fmla="*/ 72571 w 943428"/>
                  <a:gd name="connsiteY11" fmla="*/ 580572 h 595105"/>
                  <a:gd name="connsiteX12" fmla="*/ 0 w 943428"/>
                  <a:gd name="connsiteY12" fmla="*/ 595086 h 595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3428" h="595105">
                    <a:moveTo>
                      <a:pt x="943428" y="0"/>
                    </a:moveTo>
                    <a:cubicBezTo>
                      <a:pt x="875695" y="14514"/>
                      <a:pt x="806972" y="25003"/>
                      <a:pt x="740228" y="43543"/>
                    </a:cubicBezTo>
                    <a:cubicBezTo>
                      <a:pt x="719381" y="49334"/>
                      <a:pt x="697470" y="57272"/>
                      <a:pt x="682171" y="72572"/>
                    </a:cubicBezTo>
                    <a:cubicBezTo>
                      <a:pt x="666872" y="87871"/>
                      <a:pt x="661666" y="110742"/>
                      <a:pt x="653143" y="130629"/>
                    </a:cubicBezTo>
                    <a:cubicBezTo>
                      <a:pt x="635437" y="171944"/>
                      <a:pt x="644464" y="182850"/>
                      <a:pt x="609600" y="217714"/>
                    </a:cubicBezTo>
                    <a:cubicBezTo>
                      <a:pt x="523027" y="304287"/>
                      <a:pt x="582171" y="224356"/>
                      <a:pt x="508000" y="290286"/>
                    </a:cubicBezTo>
                    <a:cubicBezTo>
                      <a:pt x="477317" y="317560"/>
                      <a:pt x="443687" y="343214"/>
                      <a:pt x="420914" y="377372"/>
                    </a:cubicBezTo>
                    <a:cubicBezTo>
                      <a:pt x="411238" y="391886"/>
                      <a:pt x="405286" y="409747"/>
                      <a:pt x="391885" y="420914"/>
                    </a:cubicBezTo>
                    <a:cubicBezTo>
                      <a:pt x="367969" y="440844"/>
                      <a:pt x="320537" y="454373"/>
                      <a:pt x="290285" y="464457"/>
                    </a:cubicBezTo>
                    <a:cubicBezTo>
                      <a:pt x="261257" y="483809"/>
                      <a:pt x="236297" y="511481"/>
                      <a:pt x="203200" y="522514"/>
                    </a:cubicBezTo>
                    <a:lnTo>
                      <a:pt x="116114" y="551543"/>
                    </a:lnTo>
                    <a:cubicBezTo>
                      <a:pt x="101600" y="561219"/>
                      <a:pt x="88605" y="573700"/>
                      <a:pt x="72571" y="580572"/>
                    </a:cubicBezTo>
                    <a:cubicBezTo>
                      <a:pt x="35967" y="596259"/>
                      <a:pt x="28120" y="595086"/>
                      <a:pt x="0" y="595086"/>
                    </a:cubicBezTo>
                  </a:path>
                </a:pathLst>
              </a:custGeom>
              <a:noFill/>
              <a:ln w="28575">
                <a:solidFill>
                  <a:srgbClr val="FD8F36"/>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1" name="组合 10">
            <a:extLst>
              <a:ext uri="{FF2B5EF4-FFF2-40B4-BE49-F238E27FC236}">
                <a16:creationId xmlns:a16="http://schemas.microsoft.com/office/drawing/2014/main" id="{F0A8F9B1-6753-48D3-A8BC-683AA1A18092}"/>
              </a:ext>
            </a:extLst>
          </p:cNvPr>
          <p:cNvGrpSpPr/>
          <p:nvPr/>
        </p:nvGrpSpPr>
        <p:grpSpPr>
          <a:xfrm>
            <a:off x="7601298" y="4508512"/>
            <a:ext cx="3499751" cy="1687200"/>
            <a:chOff x="7004398" y="4508512"/>
            <a:chExt cx="3499751" cy="1687200"/>
          </a:xfrm>
        </p:grpSpPr>
        <p:sp>
          <p:nvSpPr>
            <p:cNvPr id="25" name="流程图: 数据 24">
              <a:extLst>
                <a:ext uri="{FF2B5EF4-FFF2-40B4-BE49-F238E27FC236}">
                  <a16:creationId xmlns:a16="http://schemas.microsoft.com/office/drawing/2014/main" id="{0364E8FA-BA86-4887-BFAE-51A99E0CA116}"/>
                </a:ext>
              </a:extLst>
            </p:cNvPr>
            <p:cNvSpPr/>
            <p:nvPr/>
          </p:nvSpPr>
          <p:spPr>
            <a:xfrm>
              <a:off x="7004398" y="4508512"/>
              <a:ext cx="3499751" cy="1687200"/>
            </a:xfrm>
            <a:prstGeom prst="flowChartInputOutput">
              <a:avLst/>
            </a:prstGeom>
            <a:blipFill dpi="0" rotWithShape="1">
              <a:blip r:embed="rId4" cstate="email">
                <a:extLst>
                  <a:ext uri="{28A0092B-C50C-407E-A947-70E740481C1C}">
                    <a14:useLocalDpi xmlns:a14="http://schemas.microsoft.com/office/drawing/2010/main" val="0"/>
                  </a:ext>
                </a:extLst>
              </a:blip>
              <a:srcRect/>
              <a:stretch>
                <a:fillRect/>
              </a:stretch>
            </a:bli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a:extLst>
                <a:ext uri="{FF2B5EF4-FFF2-40B4-BE49-F238E27FC236}">
                  <a16:creationId xmlns:a16="http://schemas.microsoft.com/office/drawing/2014/main" id="{0A711058-4C7E-4E3F-A196-249BE4C17303}"/>
                </a:ext>
              </a:extLst>
            </p:cNvPr>
            <p:cNvSpPr/>
            <p:nvPr/>
          </p:nvSpPr>
          <p:spPr>
            <a:xfrm>
              <a:off x="7547429" y="5283200"/>
              <a:ext cx="841828" cy="551543"/>
            </a:xfrm>
            <a:custGeom>
              <a:avLst/>
              <a:gdLst>
                <a:gd name="connsiteX0" fmla="*/ 0 w 2351314"/>
                <a:gd name="connsiteY0" fmla="*/ 551543 h 551543"/>
                <a:gd name="connsiteX1" fmla="*/ 130628 w 2351314"/>
                <a:gd name="connsiteY1" fmla="*/ 333829 h 551543"/>
                <a:gd name="connsiteX2" fmla="*/ 188685 w 2351314"/>
                <a:gd name="connsiteY2" fmla="*/ 304800 h 551543"/>
                <a:gd name="connsiteX3" fmla="*/ 275771 w 2351314"/>
                <a:gd name="connsiteY3" fmla="*/ 275771 h 551543"/>
                <a:gd name="connsiteX4" fmla="*/ 624114 w 2351314"/>
                <a:gd name="connsiteY4" fmla="*/ 304800 h 551543"/>
                <a:gd name="connsiteX5" fmla="*/ 696685 w 2351314"/>
                <a:gd name="connsiteY5" fmla="*/ 319314 h 551543"/>
                <a:gd name="connsiteX6" fmla="*/ 827314 w 2351314"/>
                <a:gd name="connsiteY6" fmla="*/ 261257 h 551543"/>
                <a:gd name="connsiteX7" fmla="*/ 856342 w 2351314"/>
                <a:gd name="connsiteY7" fmla="*/ 217714 h 551543"/>
                <a:gd name="connsiteX8" fmla="*/ 899885 w 2351314"/>
                <a:gd name="connsiteY8" fmla="*/ 174171 h 551543"/>
                <a:gd name="connsiteX9" fmla="*/ 972457 w 2351314"/>
                <a:gd name="connsiteY9" fmla="*/ 116114 h 551543"/>
                <a:gd name="connsiteX10" fmla="*/ 1045028 w 2351314"/>
                <a:gd name="connsiteY10" fmla="*/ 87086 h 551543"/>
                <a:gd name="connsiteX11" fmla="*/ 1103085 w 2351314"/>
                <a:gd name="connsiteY11" fmla="*/ 58057 h 551543"/>
                <a:gd name="connsiteX12" fmla="*/ 1219200 w 2351314"/>
                <a:gd name="connsiteY12" fmla="*/ 29029 h 551543"/>
                <a:gd name="connsiteX13" fmla="*/ 1335314 w 2351314"/>
                <a:gd name="connsiteY13" fmla="*/ 0 h 551543"/>
                <a:gd name="connsiteX14" fmla="*/ 1640114 w 2351314"/>
                <a:gd name="connsiteY14" fmla="*/ 29029 h 551543"/>
                <a:gd name="connsiteX15" fmla="*/ 1683657 w 2351314"/>
                <a:gd name="connsiteY15" fmla="*/ 43543 h 551543"/>
                <a:gd name="connsiteX16" fmla="*/ 1886857 w 2351314"/>
                <a:gd name="connsiteY16" fmla="*/ 72571 h 551543"/>
                <a:gd name="connsiteX17" fmla="*/ 2032000 w 2351314"/>
                <a:gd name="connsiteY17" fmla="*/ 101600 h 551543"/>
                <a:gd name="connsiteX18" fmla="*/ 2133600 w 2351314"/>
                <a:gd name="connsiteY18" fmla="*/ 116114 h 551543"/>
                <a:gd name="connsiteX19" fmla="*/ 2351314 w 2351314"/>
                <a:gd name="connsiteY19" fmla="*/ 116114 h 551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1314" h="551543">
                  <a:moveTo>
                    <a:pt x="0" y="551543"/>
                  </a:moveTo>
                  <a:cubicBezTo>
                    <a:pt x="15510" y="442974"/>
                    <a:pt x="1116" y="398586"/>
                    <a:pt x="130628" y="333829"/>
                  </a:cubicBezTo>
                  <a:cubicBezTo>
                    <a:pt x="149980" y="324153"/>
                    <a:pt x="168596" y="312836"/>
                    <a:pt x="188685" y="304800"/>
                  </a:cubicBezTo>
                  <a:cubicBezTo>
                    <a:pt x="217095" y="293436"/>
                    <a:pt x="275771" y="275771"/>
                    <a:pt x="275771" y="275771"/>
                  </a:cubicBezTo>
                  <a:cubicBezTo>
                    <a:pt x="367493" y="282323"/>
                    <a:pt x="525949" y="291712"/>
                    <a:pt x="624114" y="304800"/>
                  </a:cubicBezTo>
                  <a:cubicBezTo>
                    <a:pt x="648567" y="308060"/>
                    <a:pt x="672495" y="314476"/>
                    <a:pt x="696685" y="319314"/>
                  </a:cubicBezTo>
                  <a:cubicBezTo>
                    <a:pt x="755254" y="304672"/>
                    <a:pt x="775618" y="305568"/>
                    <a:pt x="827314" y="261257"/>
                  </a:cubicBezTo>
                  <a:cubicBezTo>
                    <a:pt x="840558" y="249905"/>
                    <a:pt x="845175" y="231115"/>
                    <a:pt x="856342" y="217714"/>
                  </a:cubicBezTo>
                  <a:cubicBezTo>
                    <a:pt x="869483" y="201945"/>
                    <a:pt x="884437" y="187688"/>
                    <a:pt x="899885" y="174171"/>
                  </a:cubicBezTo>
                  <a:cubicBezTo>
                    <a:pt x="923199" y="153771"/>
                    <a:pt x="945893" y="132052"/>
                    <a:pt x="972457" y="116114"/>
                  </a:cubicBezTo>
                  <a:cubicBezTo>
                    <a:pt x="994798" y="102710"/>
                    <a:pt x="1021220" y="97667"/>
                    <a:pt x="1045028" y="87086"/>
                  </a:cubicBezTo>
                  <a:cubicBezTo>
                    <a:pt x="1064800" y="78299"/>
                    <a:pt x="1083198" y="66580"/>
                    <a:pt x="1103085" y="58057"/>
                  </a:cubicBezTo>
                  <a:cubicBezTo>
                    <a:pt x="1146245" y="39560"/>
                    <a:pt x="1169981" y="40387"/>
                    <a:pt x="1219200" y="29029"/>
                  </a:cubicBezTo>
                  <a:cubicBezTo>
                    <a:pt x="1258074" y="20058"/>
                    <a:pt x="1335314" y="0"/>
                    <a:pt x="1335314" y="0"/>
                  </a:cubicBezTo>
                  <a:cubicBezTo>
                    <a:pt x="1436914" y="9676"/>
                    <a:pt x="1538842" y="16370"/>
                    <a:pt x="1640114" y="29029"/>
                  </a:cubicBezTo>
                  <a:cubicBezTo>
                    <a:pt x="1655295" y="30927"/>
                    <a:pt x="1668722" y="40224"/>
                    <a:pt x="1683657" y="43543"/>
                  </a:cubicBezTo>
                  <a:cubicBezTo>
                    <a:pt x="1737470" y="55501"/>
                    <a:pt x="1836637" y="66294"/>
                    <a:pt x="1886857" y="72571"/>
                  </a:cubicBezTo>
                  <a:cubicBezTo>
                    <a:pt x="1963817" y="91812"/>
                    <a:pt x="1939469" y="87365"/>
                    <a:pt x="2032000" y="101600"/>
                  </a:cubicBezTo>
                  <a:cubicBezTo>
                    <a:pt x="2065813" y="106802"/>
                    <a:pt x="2099425" y="114561"/>
                    <a:pt x="2133600" y="116114"/>
                  </a:cubicBezTo>
                  <a:cubicBezTo>
                    <a:pt x="2206096" y="119409"/>
                    <a:pt x="2278743" y="116114"/>
                    <a:pt x="2351314" y="116114"/>
                  </a:cubicBezTo>
                </a:path>
              </a:pathLst>
            </a:custGeom>
            <a:noFill/>
            <a:ln w="28575">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任意多边形: 形状 26">
              <a:extLst>
                <a:ext uri="{FF2B5EF4-FFF2-40B4-BE49-F238E27FC236}">
                  <a16:creationId xmlns:a16="http://schemas.microsoft.com/office/drawing/2014/main" id="{DBC36195-F1CB-4DEA-91F4-47CBC3E11B88}"/>
                </a:ext>
              </a:extLst>
            </p:cNvPr>
            <p:cNvSpPr/>
            <p:nvPr/>
          </p:nvSpPr>
          <p:spPr>
            <a:xfrm rot="10800000">
              <a:off x="9165771" y="4745461"/>
              <a:ext cx="841828" cy="551543"/>
            </a:xfrm>
            <a:custGeom>
              <a:avLst/>
              <a:gdLst>
                <a:gd name="connsiteX0" fmla="*/ 0 w 2351314"/>
                <a:gd name="connsiteY0" fmla="*/ 551543 h 551543"/>
                <a:gd name="connsiteX1" fmla="*/ 130628 w 2351314"/>
                <a:gd name="connsiteY1" fmla="*/ 333829 h 551543"/>
                <a:gd name="connsiteX2" fmla="*/ 188685 w 2351314"/>
                <a:gd name="connsiteY2" fmla="*/ 304800 h 551543"/>
                <a:gd name="connsiteX3" fmla="*/ 275771 w 2351314"/>
                <a:gd name="connsiteY3" fmla="*/ 275771 h 551543"/>
                <a:gd name="connsiteX4" fmla="*/ 624114 w 2351314"/>
                <a:gd name="connsiteY4" fmla="*/ 304800 h 551543"/>
                <a:gd name="connsiteX5" fmla="*/ 696685 w 2351314"/>
                <a:gd name="connsiteY5" fmla="*/ 319314 h 551543"/>
                <a:gd name="connsiteX6" fmla="*/ 827314 w 2351314"/>
                <a:gd name="connsiteY6" fmla="*/ 261257 h 551543"/>
                <a:gd name="connsiteX7" fmla="*/ 856342 w 2351314"/>
                <a:gd name="connsiteY7" fmla="*/ 217714 h 551543"/>
                <a:gd name="connsiteX8" fmla="*/ 899885 w 2351314"/>
                <a:gd name="connsiteY8" fmla="*/ 174171 h 551543"/>
                <a:gd name="connsiteX9" fmla="*/ 972457 w 2351314"/>
                <a:gd name="connsiteY9" fmla="*/ 116114 h 551543"/>
                <a:gd name="connsiteX10" fmla="*/ 1045028 w 2351314"/>
                <a:gd name="connsiteY10" fmla="*/ 87086 h 551543"/>
                <a:gd name="connsiteX11" fmla="*/ 1103085 w 2351314"/>
                <a:gd name="connsiteY11" fmla="*/ 58057 h 551543"/>
                <a:gd name="connsiteX12" fmla="*/ 1219200 w 2351314"/>
                <a:gd name="connsiteY12" fmla="*/ 29029 h 551543"/>
                <a:gd name="connsiteX13" fmla="*/ 1335314 w 2351314"/>
                <a:gd name="connsiteY13" fmla="*/ 0 h 551543"/>
                <a:gd name="connsiteX14" fmla="*/ 1640114 w 2351314"/>
                <a:gd name="connsiteY14" fmla="*/ 29029 h 551543"/>
                <a:gd name="connsiteX15" fmla="*/ 1683657 w 2351314"/>
                <a:gd name="connsiteY15" fmla="*/ 43543 h 551543"/>
                <a:gd name="connsiteX16" fmla="*/ 1886857 w 2351314"/>
                <a:gd name="connsiteY16" fmla="*/ 72571 h 551543"/>
                <a:gd name="connsiteX17" fmla="*/ 2032000 w 2351314"/>
                <a:gd name="connsiteY17" fmla="*/ 101600 h 551543"/>
                <a:gd name="connsiteX18" fmla="*/ 2133600 w 2351314"/>
                <a:gd name="connsiteY18" fmla="*/ 116114 h 551543"/>
                <a:gd name="connsiteX19" fmla="*/ 2351314 w 2351314"/>
                <a:gd name="connsiteY19" fmla="*/ 116114 h 551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1314" h="551543">
                  <a:moveTo>
                    <a:pt x="0" y="551543"/>
                  </a:moveTo>
                  <a:cubicBezTo>
                    <a:pt x="15510" y="442974"/>
                    <a:pt x="1116" y="398586"/>
                    <a:pt x="130628" y="333829"/>
                  </a:cubicBezTo>
                  <a:cubicBezTo>
                    <a:pt x="149980" y="324153"/>
                    <a:pt x="168596" y="312836"/>
                    <a:pt x="188685" y="304800"/>
                  </a:cubicBezTo>
                  <a:cubicBezTo>
                    <a:pt x="217095" y="293436"/>
                    <a:pt x="275771" y="275771"/>
                    <a:pt x="275771" y="275771"/>
                  </a:cubicBezTo>
                  <a:cubicBezTo>
                    <a:pt x="367493" y="282323"/>
                    <a:pt x="525949" y="291712"/>
                    <a:pt x="624114" y="304800"/>
                  </a:cubicBezTo>
                  <a:cubicBezTo>
                    <a:pt x="648567" y="308060"/>
                    <a:pt x="672495" y="314476"/>
                    <a:pt x="696685" y="319314"/>
                  </a:cubicBezTo>
                  <a:cubicBezTo>
                    <a:pt x="755254" y="304672"/>
                    <a:pt x="775618" y="305568"/>
                    <a:pt x="827314" y="261257"/>
                  </a:cubicBezTo>
                  <a:cubicBezTo>
                    <a:pt x="840558" y="249905"/>
                    <a:pt x="845175" y="231115"/>
                    <a:pt x="856342" y="217714"/>
                  </a:cubicBezTo>
                  <a:cubicBezTo>
                    <a:pt x="869483" y="201945"/>
                    <a:pt x="884437" y="187688"/>
                    <a:pt x="899885" y="174171"/>
                  </a:cubicBezTo>
                  <a:cubicBezTo>
                    <a:pt x="923199" y="153771"/>
                    <a:pt x="945893" y="132052"/>
                    <a:pt x="972457" y="116114"/>
                  </a:cubicBezTo>
                  <a:cubicBezTo>
                    <a:pt x="994798" y="102710"/>
                    <a:pt x="1021220" y="97667"/>
                    <a:pt x="1045028" y="87086"/>
                  </a:cubicBezTo>
                  <a:cubicBezTo>
                    <a:pt x="1064800" y="78299"/>
                    <a:pt x="1083198" y="66580"/>
                    <a:pt x="1103085" y="58057"/>
                  </a:cubicBezTo>
                  <a:cubicBezTo>
                    <a:pt x="1146245" y="39560"/>
                    <a:pt x="1169981" y="40387"/>
                    <a:pt x="1219200" y="29029"/>
                  </a:cubicBezTo>
                  <a:cubicBezTo>
                    <a:pt x="1258074" y="20058"/>
                    <a:pt x="1335314" y="0"/>
                    <a:pt x="1335314" y="0"/>
                  </a:cubicBezTo>
                  <a:cubicBezTo>
                    <a:pt x="1436914" y="9676"/>
                    <a:pt x="1538842" y="16370"/>
                    <a:pt x="1640114" y="29029"/>
                  </a:cubicBezTo>
                  <a:cubicBezTo>
                    <a:pt x="1655295" y="30927"/>
                    <a:pt x="1668722" y="40224"/>
                    <a:pt x="1683657" y="43543"/>
                  </a:cubicBezTo>
                  <a:cubicBezTo>
                    <a:pt x="1737470" y="55501"/>
                    <a:pt x="1836637" y="66294"/>
                    <a:pt x="1886857" y="72571"/>
                  </a:cubicBezTo>
                  <a:cubicBezTo>
                    <a:pt x="1963817" y="91812"/>
                    <a:pt x="1939469" y="87365"/>
                    <a:pt x="2032000" y="101600"/>
                  </a:cubicBezTo>
                  <a:cubicBezTo>
                    <a:pt x="2065813" y="106802"/>
                    <a:pt x="2099425" y="114561"/>
                    <a:pt x="2133600" y="116114"/>
                  </a:cubicBezTo>
                  <a:cubicBezTo>
                    <a:pt x="2206096" y="119409"/>
                    <a:pt x="2278743" y="116114"/>
                    <a:pt x="2351314" y="116114"/>
                  </a:cubicBezTo>
                </a:path>
              </a:pathLst>
            </a:custGeom>
            <a:noFill/>
            <a:ln w="28575">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194" name="Picture 2" descr="Pin Location Icon, Location Icons, Icons Converter, Icons Fitness PNG and  Vector with Transparent Background for Free Download">
              <a:extLst>
                <a:ext uri="{FF2B5EF4-FFF2-40B4-BE49-F238E27FC236}">
                  <a16:creationId xmlns:a16="http://schemas.microsoft.com/office/drawing/2014/main" id="{9577CA4B-0B6A-4A3B-A52A-A78E4E75B019}"/>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23799" y="4826453"/>
              <a:ext cx="505931" cy="50593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Pin Location Icon, Location Icons, Icons Converter, Icons Fitness PNG and  Vector with Transparent Background for Free Download">
              <a:extLst>
                <a:ext uri="{FF2B5EF4-FFF2-40B4-BE49-F238E27FC236}">
                  <a16:creationId xmlns:a16="http://schemas.microsoft.com/office/drawing/2014/main" id="{FE517D01-BFDD-48F7-8AD6-3D438B1AD526}"/>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99087" y="5192907"/>
              <a:ext cx="505931" cy="50593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Pin Location Icon, Location Icons, Icons Converter, Icons Fitness PNG and  Vector with Transparent Background for Free Download">
              <a:extLst>
                <a:ext uri="{FF2B5EF4-FFF2-40B4-BE49-F238E27FC236}">
                  <a16:creationId xmlns:a16="http://schemas.microsoft.com/office/drawing/2014/main" id="{89D2AC00-77C8-4A9F-B41F-574A7A7492A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539603" y="4716209"/>
              <a:ext cx="505931" cy="505931"/>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Pin Location Icon, Location Icons, Icons Converter, Icons Fitness PNG and  Vector with Transparent Background for Free Download">
              <a:extLst>
                <a:ext uri="{FF2B5EF4-FFF2-40B4-BE49-F238E27FC236}">
                  <a16:creationId xmlns:a16="http://schemas.microsoft.com/office/drawing/2014/main" id="{1BD8C3D3-7DC3-4805-84D8-3935B4C71464}"/>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12661" y="5165562"/>
              <a:ext cx="505931" cy="505931"/>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28" name="直接连接符 27">
            <a:extLst>
              <a:ext uri="{FF2B5EF4-FFF2-40B4-BE49-F238E27FC236}">
                <a16:creationId xmlns:a16="http://schemas.microsoft.com/office/drawing/2014/main" id="{F9CB8BA3-A7E5-4C60-AD16-8A06C0061904}"/>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E9D408C6-04E5-4E5F-AECB-3EFF0C1CBB5F}"/>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36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xEl>
                                              <p:pRg st="3" end="3"/>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3">
                                            <p:txEl>
                                              <p:pRg st="0" end="0"/>
                                            </p:txEl>
                                          </p:spTgt>
                                        </p:tgtEl>
                                        <p:attrNameLst>
                                          <p:attrName>style.visibility</p:attrName>
                                        </p:attrNameLst>
                                      </p:cBhvr>
                                      <p:to>
                                        <p:strVal val="visible"/>
                                      </p:to>
                                    </p:set>
                                  </p:childTnLst>
                                </p:cTn>
                              </p:par>
                            </p:childTnLst>
                          </p:cTn>
                        </p:par>
                        <p:par>
                          <p:cTn id="18" fill="hold">
                            <p:stCondLst>
                              <p:cond delay="0"/>
                            </p:stCondLst>
                            <p:childTnLst>
                              <p:par>
                                <p:cTn id="19" presetID="1" presetClass="entr" presetSubtype="0"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4">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9240" y="495734"/>
            <a:ext cx="2574744" cy="486287"/>
          </a:xfrm>
        </p:spPr>
        <p:txBody>
          <a:bodyPr/>
          <a:lstStyle/>
          <a:p>
            <a:pPr>
              <a:lnSpc>
                <a:spcPct val="80000"/>
              </a:lnSpc>
            </a:pPr>
            <a:r>
              <a:rPr lang="af-ZA" altLang="zh-CN" dirty="0"/>
              <a:t>Background</a:t>
            </a:r>
            <a:endParaRPr lang="zh-CN" altLang="en-US" dirty="0"/>
          </a:p>
        </p:txBody>
      </p:sp>
      <p:sp>
        <p:nvSpPr>
          <p:cNvPr id="15" name="矩形 14">
            <a:extLst>
              <a:ext uri="{FF2B5EF4-FFF2-40B4-BE49-F238E27FC236}">
                <a16:creationId xmlns:a16="http://schemas.microsoft.com/office/drawing/2014/main" id="{27F2C18F-1BBC-4CC7-BEA0-527738C9AEFC}"/>
              </a:ext>
            </a:extLst>
          </p:cNvPr>
          <p:cNvSpPr/>
          <p:nvPr/>
        </p:nvSpPr>
        <p:spPr>
          <a:xfrm>
            <a:off x="2259307" y="1037421"/>
            <a:ext cx="7733867" cy="400110"/>
          </a:xfrm>
          <a:prstGeom prst="rect">
            <a:avLst/>
          </a:prstGeom>
        </p:spPr>
        <p:txBody>
          <a:bodyPr wrap="square">
            <a:spAutoFit/>
          </a:bodyPr>
          <a:lstStyle/>
          <a:p>
            <a:endParaRPr lang="en-US" altLang="zh-CN" sz="2000" dirty="0">
              <a:solidFill>
                <a:srgbClr val="002060"/>
              </a:solidFill>
              <a:ea typeface="Arial Unicode MS" panose="020B0604020202020204" pitchFamily="34" charset="-122"/>
              <a:cs typeface="Times New Roman" panose="02020603050405020304" pitchFamily="18" charset="0"/>
            </a:endParaRPr>
          </a:p>
        </p:txBody>
      </p:sp>
      <p:sp>
        <p:nvSpPr>
          <p:cNvPr id="2" name="灯片编号占位符 1"/>
          <p:cNvSpPr>
            <a:spLocks noGrp="1"/>
          </p:cNvSpPr>
          <p:nvPr>
            <p:ph type="sldNum" sz="quarter" idx="10"/>
          </p:nvPr>
        </p:nvSpPr>
        <p:spPr/>
        <p:txBody>
          <a:bodyPr/>
          <a:lstStyle/>
          <a:p>
            <a:fld id="{3A7104C2-2265-4AB9-B90C-4162FA6B94AE}" type="slidenum">
              <a:rPr lang="zh-CN" altLang="en-US" smtClean="0"/>
              <a:pPr/>
              <a:t>7</a:t>
            </a:fld>
            <a:endParaRPr lang="zh-CN" altLang="en-US" dirty="0"/>
          </a:p>
        </p:txBody>
      </p:sp>
      <p:sp>
        <p:nvSpPr>
          <p:cNvPr id="173" name="文本框 172">
            <a:extLst>
              <a:ext uri="{FF2B5EF4-FFF2-40B4-BE49-F238E27FC236}">
                <a16:creationId xmlns:a16="http://schemas.microsoft.com/office/drawing/2014/main" id="{FABD69CF-03D6-4C94-B950-6A978B152BE0}"/>
              </a:ext>
            </a:extLst>
          </p:cNvPr>
          <p:cNvSpPr txBox="1"/>
          <p:nvPr/>
        </p:nvSpPr>
        <p:spPr>
          <a:xfrm>
            <a:off x="589240" y="1037421"/>
            <a:ext cx="3058851" cy="461665"/>
          </a:xfrm>
          <a:prstGeom prst="rect">
            <a:avLst/>
          </a:prstGeom>
          <a:noFill/>
        </p:spPr>
        <p:txBody>
          <a:bodyPr wrap="none" rtlCol="0">
            <a:spAutoFit/>
          </a:bodyPr>
          <a:lstStyle/>
          <a:p>
            <a:pPr>
              <a:buSzPct val="50000"/>
            </a:pPr>
            <a:r>
              <a:rPr lang="en-US" altLang="zh-CN" sz="2400" b="1" dirty="0">
                <a:solidFill>
                  <a:srgbClr val="002060"/>
                </a:solidFill>
                <a:ea typeface="Arial Unicode MS" panose="020B0604020202020204" pitchFamily="34" charset="-122"/>
                <a:cs typeface="Times New Roman" panose="02020603050405020304" pitchFamily="18" charset="0"/>
              </a:rPr>
              <a:t>Literature Overview</a:t>
            </a:r>
            <a:endParaRPr lang="en-US" altLang="zh-CN" sz="2400" dirty="0">
              <a:solidFill>
                <a:srgbClr val="002060"/>
              </a:solidFill>
              <a:ea typeface="Arial Unicode MS" panose="020B0604020202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8E13358B-38C9-45CA-BED1-631417D0FDD2}"/>
              </a:ext>
            </a:extLst>
          </p:cNvPr>
          <p:cNvSpPr txBox="1"/>
          <p:nvPr/>
        </p:nvSpPr>
        <p:spPr>
          <a:xfrm>
            <a:off x="765346" y="1695450"/>
            <a:ext cx="11191876" cy="2846933"/>
          </a:xfrm>
          <a:prstGeom prst="rect">
            <a:avLst/>
          </a:prstGeom>
          <a:noFill/>
        </p:spPr>
        <p:txBody>
          <a:bodyPr wrap="square" rtlCol="0">
            <a:spAutoFit/>
          </a:bodyPr>
          <a:lstStyle/>
          <a:p>
            <a:pPr marL="285750" indent="-285750">
              <a:buFont typeface="Wingdings" panose="05000000000000000000" pitchFamily="2" charset="2"/>
              <a:buChar char="p"/>
            </a:pPr>
            <a:r>
              <a:rPr lang="en-US" altLang="zh-CN" sz="2400" b="1" dirty="0"/>
              <a:t>Physical laws of human mobility</a:t>
            </a:r>
            <a:r>
              <a:rPr lang="en-US" altLang="zh-CN" sz="2400" dirty="0"/>
              <a:t>:</a:t>
            </a:r>
          </a:p>
          <a:p>
            <a:pPr marL="800100" lvl="1" indent="-342900">
              <a:buFont typeface="Arial" panose="020B0604020202020204" pitchFamily="34" charset="0"/>
              <a:buChar char="•"/>
            </a:pPr>
            <a:r>
              <a:rPr lang="en-US" altLang="zh-CN" sz="2400" dirty="0"/>
              <a:t>Continuous: smoothing filters, linear interpolation (</a:t>
            </a:r>
            <a:r>
              <a:rPr lang="en-US" altLang="zh-CN" sz="2400" i="1" dirty="0" err="1"/>
              <a:t>Alwan</a:t>
            </a:r>
            <a:r>
              <a:rPr lang="en-US" altLang="zh-CN" sz="2400" i="1" dirty="0"/>
              <a:t> and Roberts 1998</a:t>
            </a:r>
            <a:r>
              <a:rPr lang="en-US" altLang="zh-CN" sz="2400" dirty="0"/>
              <a:t>)</a:t>
            </a:r>
          </a:p>
          <a:p>
            <a:pPr marL="800100" lvl="1" indent="-342900">
              <a:buFont typeface="Arial" panose="020B0604020202020204" pitchFamily="34" charset="0"/>
              <a:buChar char="•"/>
            </a:pPr>
            <a:r>
              <a:rPr lang="en-US" altLang="zh-CN" sz="2400" dirty="0"/>
              <a:t>Periodic: key location detection, historical frequency (</a:t>
            </a:r>
            <a:r>
              <a:rPr lang="en-US" altLang="zh-CN" sz="2400" i="1" dirty="0" err="1"/>
              <a:t>Scheider</a:t>
            </a:r>
            <a:r>
              <a:rPr lang="en-US" altLang="zh-CN" sz="2400" i="1" dirty="0"/>
              <a:t> et al. 2013</a:t>
            </a:r>
            <a:r>
              <a:rPr lang="en-US" altLang="zh-CN" sz="2400" dirty="0"/>
              <a:t>)</a:t>
            </a:r>
          </a:p>
          <a:p>
            <a:pPr marL="800100" lvl="1" indent="-342900">
              <a:buFont typeface="Arial" panose="020B0604020202020204" pitchFamily="34" charset="0"/>
              <a:buChar char="•"/>
            </a:pPr>
            <a:r>
              <a:rPr lang="en-US" altLang="zh-CN" sz="2400" dirty="0"/>
              <a:t>Spatial-temporal correlation: entropy and radius (</a:t>
            </a:r>
            <a:r>
              <a:rPr lang="en-US" altLang="zh-CN" sz="2400" i="1" dirty="0"/>
              <a:t>Li et al. 2019</a:t>
            </a:r>
            <a:r>
              <a:rPr lang="en-US" altLang="zh-CN" sz="2400" dirty="0"/>
              <a:t>)</a:t>
            </a:r>
          </a:p>
          <a:p>
            <a:pPr marL="742950" lvl="1" indent="-285750">
              <a:buFont typeface="Wingdings" panose="05000000000000000000" pitchFamily="2" charset="2"/>
              <a:buChar char="p"/>
            </a:pPr>
            <a:endParaRPr lang="en-US" altLang="zh-CN" sz="1100" dirty="0"/>
          </a:p>
          <a:p>
            <a:pPr marL="285750" indent="-285750">
              <a:buFont typeface="Wingdings" panose="05000000000000000000" pitchFamily="2" charset="2"/>
              <a:buChar char="p"/>
            </a:pPr>
            <a:r>
              <a:rPr lang="en-US" altLang="zh-CN" sz="2400" b="1" dirty="0"/>
              <a:t>Machine learning for trajectory modelling</a:t>
            </a:r>
            <a:r>
              <a:rPr lang="en-US" altLang="zh-CN" sz="2400" dirty="0"/>
              <a:t>:</a:t>
            </a:r>
          </a:p>
          <a:p>
            <a:pPr marL="800100" lvl="1" indent="-342900">
              <a:buFont typeface="Arial" panose="020B0604020202020204" pitchFamily="34" charset="0"/>
              <a:buChar char="•"/>
            </a:pPr>
            <a:r>
              <a:rPr lang="en-US" altLang="zh-CN" sz="2400" dirty="0"/>
              <a:t>Geo-matric based classifier (</a:t>
            </a:r>
            <a:r>
              <a:rPr lang="en-US" altLang="zh-CN" sz="2400" i="1" dirty="0"/>
              <a:t>Li et al. 2019</a:t>
            </a:r>
            <a:r>
              <a:rPr lang="en-US" altLang="zh-CN" sz="2400" dirty="0"/>
              <a:t>)</a:t>
            </a:r>
          </a:p>
          <a:p>
            <a:pPr marL="800100" lvl="1" indent="-342900">
              <a:buFont typeface="Arial" panose="020B0604020202020204" pitchFamily="34" charset="0"/>
              <a:buChar char="•"/>
            </a:pPr>
            <a:r>
              <a:rPr lang="en-US" altLang="zh-CN" sz="2400" dirty="0"/>
              <a:t>RNN based next location prediction (</a:t>
            </a:r>
            <a:r>
              <a:rPr lang="en-US" altLang="zh-CN" sz="2400" i="1" dirty="0"/>
              <a:t>Feng et al. 2018</a:t>
            </a:r>
            <a:r>
              <a:rPr lang="en-US" altLang="zh-CN" sz="2400" dirty="0"/>
              <a:t>)</a:t>
            </a:r>
            <a:endParaRPr lang="zh-CN" altLang="en-US" sz="2400" dirty="0"/>
          </a:p>
        </p:txBody>
      </p:sp>
      <p:sp>
        <p:nvSpPr>
          <p:cNvPr id="8" name="矩形 7">
            <a:extLst>
              <a:ext uri="{FF2B5EF4-FFF2-40B4-BE49-F238E27FC236}">
                <a16:creationId xmlns:a16="http://schemas.microsoft.com/office/drawing/2014/main" id="{AFE81FBD-A488-4219-BC65-AEA3BD0E24F9}"/>
              </a:ext>
            </a:extLst>
          </p:cNvPr>
          <p:cNvSpPr/>
          <p:nvPr/>
        </p:nvSpPr>
        <p:spPr>
          <a:xfrm>
            <a:off x="1133475" y="4895552"/>
            <a:ext cx="10074104" cy="676573"/>
          </a:xfrm>
          <a:prstGeom prst="rect">
            <a:avLst/>
          </a:prstGeom>
          <a:solidFill>
            <a:srgbClr val="002060">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9" name="文本框 8">
            <a:extLst>
              <a:ext uri="{FF2B5EF4-FFF2-40B4-BE49-F238E27FC236}">
                <a16:creationId xmlns:a16="http://schemas.microsoft.com/office/drawing/2014/main" id="{3131A554-D98C-4D50-AABC-EC61E29FD29A}"/>
              </a:ext>
            </a:extLst>
          </p:cNvPr>
          <p:cNvSpPr txBox="1"/>
          <p:nvPr/>
        </p:nvSpPr>
        <p:spPr>
          <a:xfrm>
            <a:off x="1425404" y="5001174"/>
            <a:ext cx="9934575" cy="461665"/>
          </a:xfrm>
          <a:prstGeom prst="rect">
            <a:avLst/>
          </a:prstGeom>
          <a:noFill/>
        </p:spPr>
        <p:txBody>
          <a:bodyPr wrap="square" rtlCol="0">
            <a:spAutoFit/>
          </a:bodyPr>
          <a:lstStyle/>
          <a:p>
            <a:r>
              <a:rPr lang="en-US" altLang="zh-CN" sz="2400" dirty="0">
                <a:solidFill>
                  <a:schemeClr val="bg1"/>
                </a:solidFill>
              </a:rPr>
              <a:t>Either fail to utilize long-term history or unable to handle the sparsity.</a:t>
            </a:r>
            <a:endParaRPr lang="zh-CN" altLang="en-US" sz="2400" dirty="0">
              <a:solidFill>
                <a:schemeClr val="bg1"/>
              </a:solidFill>
            </a:endParaRPr>
          </a:p>
        </p:txBody>
      </p:sp>
      <p:cxnSp>
        <p:nvCxnSpPr>
          <p:cNvPr id="16" name="直接连接符 15">
            <a:extLst>
              <a:ext uri="{FF2B5EF4-FFF2-40B4-BE49-F238E27FC236}">
                <a16:creationId xmlns:a16="http://schemas.microsoft.com/office/drawing/2014/main" id="{849D51A4-E347-4D7A-B9CD-F88E835C1BC3}"/>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DC7683D-6197-4D8F-AD5D-EF71AB8696D6}"/>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2690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 grpId="0"/>
      <p:bldP spid="8" grpId="0" animBg="1"/>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7B3367E5-EC41-4C70-8D51-CF13E313CA4D}"/>
              </a:ext>
            </a:extLst>
          </p:cNvPr>
          <p:cNvPicPr>
            <a:picLocks noChangeAspect="1"/>
          </p:cNvPicPr>
          <p:nvPr/>
        </p:nvPicPr>
        <p:blipFill rotWithShape="1">
          <a:blip r:embed="rId3">
            <a:extLst>
              <a:ext uri="{28A0092B-C50C-407E-A947-70E740481C1C}">
                <a14:useLocalDpi xmlns:a14="http://schemas.microsoft.com/office/drawing/2010/main" val="0"/>
              </a:ext>
            </a:extLst>
          </a:blip>
          <a:srcRect b="64442"/>
          <a:stretch/>
        </p:blipFill>
        <p:spPr>
          <a:xfrm>
            <a:off x="165030" y="5979003"/>
            <a:ext cx="7589702" cy="535608"/>
          </a:xfrm>
          <a:prstGeom prst="rect">
            <a:avLst/>
          </a:prstGeom>
        </p:spPr>
      </p:pic>
      <p:pic>
        <p:nvPicPr>
          <p:cNvPr id="4" name="图片 3">
            <a:extLst>
              <a:ext uri="{FF2B5EF4-FFF2-40B4-BE49-F238E27FC236}">
                <a16:creationId xmlns:a16="http://schemas.microsoft.com/office/drawing/2014/main" id="{A6D098D7-8163-49B1-90B1-B8E1D8B2377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030" y="1144100"/>
            <a:ext cx="7313132" cy="4935120"/>
          </a:xfrm>
          <a:prstGeom prst="rect">
            <a:avLst/>
          </a:prstGeom>
        </p:spPr>
      </p:pic>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9240" y="495734"/>
            <a:ext cx="1822935" cy="486287"/>
          </a:xfrm>
        </p:spPr>
        <p:txBody>
          <a:bodyPr/>
          <a:lstStyle/>
          <a:p>
            <a:pPr>
              <a:lnSpc>
                <a:spcPct val="80000"/>
              </a:lnSpc>
            </a:pPr>
            <a:r>
              <a:rPr lang="af-ZA" altLang="zh-CN" dirty="0"/>
              <a:t>Solution</a:t>
            </a:r>
            <a:endParaRPr lang="zh-CN" altLang="en-US" dirty="0"/>
          </a:p>
        </p:txBody>
      </p:sp>
      <p:sp>
        <p:nvSpPr>
          <p:cNvPr id="15" name="矩形 14">
            <a:extLst>
              <a:ext uri="{FF2B5EF4-FFF2-40B4-BE49-F238E27FC236}">
                <a16:creationId xmlns:a16="http://schemas.microsoft.com/office/drawing/2014/main" id="{27F2C18F-1BBC-4CC7-BEA0-527738C9AEFC}"/>
              </a:ext>
            </a:extLst>
          </p:cNvPr>
          <p:cNvSpPr/>
          <p:nvPr/>
        </p:nvSpPr>
        <p:spPr>
          <a:xfrm>
            <a:off x="887707" y="1144101"/>
            <a:ext cx="7733867" cy="400110"/>
          </a:xfrm>
          <a:prstGeom prst="rect">
            <a:avLst/>
          </a:prstGeom>
        </p:spPr>
        <p:txBody>
          <a:bodyPr wrap="square">
            <a:spAutoFit/>
          </a:bodyPr>
          <a:lstStyle/>
          <a:p>
            <a:endParaRPr lang="en-US" altLang="zh-CN" sz="2000" dirty="0">
              <a:solidFill>
                <a:srgbClr val="002060"/>
              </a:solidFill>
              <a:ea typeface="Arial Unicode MS" panose="020B0604020202020204" pitchFamily="34" charset="-122"/>
              <a:cs typeface="Times New Roman" panose="02020603050405020304" pitchFamily="18" charset="0"/>
            </a:endParaRPr>
          </a:p>
        </p:txBody>
      </p:sp>
      <p:sp>
        <p:nvSpPr>
          <p:cNvPr id="2" name="灯片编号占位符 1"/>
          <p:cNvSpPr>
            <a:spLocks noGrp="1"/>
          </p:cNvSpPr>
          <p:nvPr>
            <p:ph type="sldNum" sz="quarter" idx="10"/>
          </p:nvPr>
        </p:nvSpPr>
        <p:spPr/>
        <p:txBody>
          <a:bodyPr/>
          <a:lstStyle/>
          <a:p>
            <a:fld id="{3A7104C2-2265-4AB9-B90C-4162FA6B94AE}" type="slidenum">
              <a:rPr lang="zh-CN" altLang="en-US" smtClean="0"/>
              <a:pPr/>
              <a:t>8</a:t>
            </a:fld>
            <a:endParaRPr lang="zh-CN" altLang="en-US" dirty="0"/>
          </a:p>
        </p:txBody>
      </p:sp>
      <p:sp>
        <p:nvSpPr>
          <p:cNvPr id="13" name="文本框 12"/>
          <p:cNvSpPr txBox="1"/>
          <p:nvPr/>
        </p:nvSpPr>
        <p:spPr>
          <a:xfrm>
            <a:off x="7813705" y="1816203"/>
            <a:ext cx="4483069" cy="2793842"/>
          </a:xfrm>
          <a:prstGeom prst="rect">
            <a:avLst/>
          </a:prstGeom>
          <a:noFill/>
        </p:spPr>
        <p:txBody>
          <a:bodyPr wrap="square" rtlCol="0">
            <a:spAutoFit/>
          </a:bodyPr>
          <a:lstStyle/>
          <a:p>
            <a:pPr>
              <a:lnSpc>
                <a:spcPct val="150000"/>
              </a:lnSpc>
            </a:pPr>
            <a:r>
              <a:rPr lang="en-US" altLang="zh-CN" sz="2400" b="1" i="1" dirty="0"/>
              <a:t>Steps:</a:t>
            </a:r>
          </a:p>
          <a:p>
            <a:pPr marL="342900" indent="-342900">
              <a:lnSpc>
                <a:spcPct val="150000"/>
              </a:lnSpc>
              <a:buFont typeface="Arial" panose="020B0604020202020204" pitchFamily="34" charset="0"/>
              <a:buChar char="•"/>
            </a:pPr>
            <a:r>
              <a:rPr lang="en-US" altLang="zh-CN" sz="2400" i="1" dirty="0"/>
              <a:t>1.Mobility representation</a:t>
            </a:r>
          </a:p>
          <a:p>
            <a:pPr marL="342900" indent="-342900">
              <a:lnSpc>
                <a:spcPct val="150000"/>
              </a:lnSpc>
              <a:buFont typeface="Arial" panose="020B0604020202020204" pitchFamily="34" charset="0"/>
              <a:buChar char="•"/>
            </a:pPr>
            <a:r>
              <a:rPr lang="en-US" altLang="zh-CN" sz="2400" i="1" dirty="0"/>
              <a:t>2. Current constrain learning</a:t>
            </a:r>
          </a:p>
          <a:p>
            <a:pPr marL="342900" indent="-342900">
              <a:lnSpc>
                <a:spcPct val="150000"/>
              </a:lnSpc>
              <a:buFont typeface="Arial" panose="020B0604020202020204" pitchFamily="34" charset="0"/>
              <a:buChar char="•"/>
            </a:pPr>
            <a:r>
              <a:rPr lang="en-US" altLang="zh-CN" sz="2400" i="1" dirty="0"/>
              <a:t>3. Historical pattern learning</a:t>
            </a:r>
          </a:p>
          <a:p>
            <a:pPr marL="342900" indent="-342900">
              <a:lnSpc>
                <a:spcPct val="150000"/>
              </a:lnSpc>
              <a:buFont typeface="Arial" panose="020B0604020202020204" pitchFamily="34" charset="0"/>
              <a:buChar char="•"/>
            </a:pPr>
            <a:r>
              <a:rPr lang="en-US" altLang="zh-CN" sz="2400" i="1" dirty="0"/>
              <a:t>4. Fusing and reconstruction</a:t>
            </a:r>
            <a:endParaRPr lang="zh-CN" altLang="en-US" sz="2400" i="1" dirty="0"/>
          </a:p>
        </p:txBody>
      </p:sp>
      <p:sp>
        <p:nvSpPr>
          <p:cNvPr id="10" name="矩形 9">
            <a:extLst>
              <a:ext uri="{FF2B5EF4-FFF2-40B4-BE49-F238E27FC236}">
                <a16:creationId xmlns:a16="http://schemas.microsoft.com/office/drawing/2014/main" id="{7D175531-5A4A-41EF-86E2-B65D72ADCF2B}"/>
              </a:ext>
            </a:extLst>
          </p:cNvPr>
          <p:cNvSpPr/>
          <p:nvPr/>
        </p:nvSpPr>
        <p:spPr>
          <a:xfrm>
            <a:off x="165030" y="1144101"/>
            <a:ext cx="7424672" cy="1744242"/>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51BF0F1-03FF-4429-89E6-B131570C1A06}"/>
              </a:ext>
            </a:extLst>
          </p:cNvPr>
          <p:cNvSpPr/>
          <p:nvPr/>
        </p:nvSpPr>
        <p:spPr>
          <a:xfrm>
            <a:off x="165030" y="2888342"/>
            <a:ext cx="3550627" cy="3240851"/>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9D08BD37-1015-4AE1-A229-76CA71EEDE7B}"/>
              </a:ext>
            </a:extLst>
          </p:cNvPr>
          <p:cNvSpPr/>
          <p:nvPr/>
        </p:nvSpPr>
        <p:spPr>
          <a:xfrm>
            <a:off x="3715657" y="2888341"/>
            <a:ext cx="3874045" cy="1896721"/>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536B8E27-76F7-4B6E-A201-EAE9F5EFD83A}"/>
              </a:ext>
            </a:extLst>
          </p:cNvPr>
          <p:cNvSpPr/>
          <p:nvPr/>
        </p:nvSpPr>
        <p:spPr>
          <a:xfrm>
            <a:off x="3715657" y="4712493"/>
            <a:ext cx="3874045" cy="1425164"/>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DB5063A1-13BC-4109-BB15-109FC901EF56}"/>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B9AA394A-7BBB-4F88-91CE-16B3A9A98525}"/>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650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xEl>
                                              <p:pRg st="3" end="3"/>
                                            </p:txEl>
                                          </p:spTgt>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xEl>
                                              <p:pRg st="1" end="1"/>
                                            </p:txEl>
                                          </p:spTgt>
                                        </p:tgtEl>
                                        <p:attrNameLst>
                                          <p:attrName>style.visibility</p:attrName>
                                        </p:attrNameLst>
                                      </p:cBhvr>
                                      <p:to>
                                        <p:strVal val="visible"/>
                                      </p:to>
                                    </p:set>
                                  </p:childTnLst>
                                </p:cTn>
                              </p:par>
                              <p:par>
                                <p:cTn id="19" presetID="1" presetClass="exit"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xEl>
                                              <p:pRg st="4" end="4"/>
                                            </p:txEl>
                                          </p:spTgt>
                                        </p:tgtEl>
                                        <p:attrNameLst>
                                          <p:attrName>style.visibility</p:attrName>
                                        </p:attrNameLst>
                                      </p:cBhvr>
                                      <p:to>
                                        <p:strVal val="visible"/>
                                      </p:to>
                                    </p:set>
                                  </p:childTnLst>
                                </p:cTn>
                              </p:par>
                              <p:par>
                                <p:cTn id="25" presetID="1" presetClass="exit"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2" grpId="0" animBg="1"/>
      <p:bldP spid="23" grpId="0" animBg="1"/>
      <p:bldP spid="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9240" y="495734"/>
            <a:ext cx="1822935" cy="486287"/>
          </a:xfrm>
        </p:spPr>
        <p:txBody>
          <a:bodyPr/>
          <a:lstStyle/>
          <a:p>
            <a:pPr>
              <a:lnSpc>
                <a:spcPct val="80000"/>
              </a:lnSpc>
            </a:pPr>
            <a:r>
              <a:rPr lang="af-ZA" altLang="zh-CN" dirty="0"/>
              <a:t>Solution</a:t>
            </a:r>
            <a:endParaRPr lang="zh-CN" altLang="en-US" dirty="0"/>
          </a:p>
        </p:txBody>
      </p:sp>
      <p:sp>
        <p:nvSpPr>
          <p:cNvPr id="2" name="灯片编号占位符 1"/>
          <p:cNvSpPr>
            <a:spLocks noGrp="1"/>
          </p:cNvSpPr>
          <p:nvPr>
            <p:ph type="sldNum" sz="quarter" idx="10"/>
          </p:nvPr>
        </p:nvSpPr>
        <p:spPr>
          <a:xfrm>
            <a:off x="11207579" y="6210952"/>
            <a:ext cx="749643" cy="378081"/>
          </a:xfrm>
        </p:spPr>
        <p:txBody>
          <a:bodyPr/>
          <a:lstStyle/>
          <a:p>
            <a:fld id="{3A7104C2-2265-4AB9-B90C-4162FA6B94AE}" type="slidenum">
              <a:rPr lang="zh-CN" altLang="en-US" smtClean="0"/>
              <a:pPr/>
              <a:t>9</a:t>
            </a:fld>
            <a:endParaRPr lang="zh-CN" altLang="en-US" dirty="0"/>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2014" y="2007129"/>
            <a:ext cx="6765479" cy="1502203"/>
          </a:xfrm>
          <a:prstGeom prst="rect">
            <a:avLst/>
          </a:prstGeom>
        </p:spPr>
      </p:pic>
      <p:sp>
        <p:nvSpPr>
          <p:cNvPr id="4" name="矩形 3"/>
          <p:cNvSpPr/>
          <p:nvPr/>
        </p:nvSpPr>
        <p:spPr>
          <a:xfrm>
            <a:off x="613445" y="977608"/>
            <a:ext cx="3996607" cy="523220"/>
          </a:xfrm>
          <a:prstGeom prst="rect">
            <a:avLst/>
          </a:prstGeom>
        </p:spPr>
        <p:txBody>
          <a:bodyPr wrap="none">
            <a:spAutoFit/>
          </a:bodyPr>
          <a:lstStyle/>
          <a:p>
            <a:r>
              <a:rPr lang="en-US" altLang="zh-CN" sz="2800" b="1" dirty="0">
                <a:solidFill>
                  <a:srgbClr val="002060"/>
                </a:solidFill>
                <a:ea typeface="Arial Unicode MS" panose="020B0604020202020204" pitchFamily="34" charset="-122"/>
                <a:cs typeface="Times New Roman" panose="02020603050405020304" pitchFamily="18" charset="0"/>
              </a:rPr>
              <a:t>1. Mobility Embedding</a:t>
            </a:r>
            <a:endParaRPr lang="zh-CN" altLang="en-US" sz="2800" b="1" dirty="0">
              <a:solidFill>
                <a:srgbClr val="002060"/>
              </a:solidFill>
              <a:ea typeface="Arial Unicode MS" panose="020B0604020202020204" pitchFamily="34" charset="-122"/>
              <a:cs typeface="Times New Roman" panose="02020603050405020304" pitchFamily="18" charset="0"/>
            </a:endParaRPr>
          </a:p>
        </p:txBody>
      </p:sp>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11910" y="3415666"/>
            <a:ext cx="6546147" cy="1028789"/>
          </a:xfrm>
          <a:prstGeom prst="rect">
            <a:avLst/>
          </a:prstGeom>
        </p:spPr>
      </p:pic>
      <p:cxnSp>
        <p:nvCxnSpPr>
          <p:cNvPr id="22" name="直接箭头连接符 21"/>
          <p:cNvCxnSpPr>
            <a:cxnSpLocks/>
            <a:endCxn id="23" idx="0"/>
          </p:cNvCxnSpPr>
          <p:nvPr/>
        </p:nvCxnSpPr>
        <p:spPr>
          <a:xfrm flipH="1">
            <a:off x="4535107" y="4193964"/>
            <a:ext cx="666242" cy="60018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3418844" y="4794144"/>
            <a:ext cx="2232526" cy="1200329"/>
          </a:xfrm>
          <a:prstGeom prst="rect">
            <a:avLst/>
          </a:prstGeom>
          <a:noFill/>
        </p:spPr>
        <p:txBody>
          <a:bodyPr wrap="square" rtlCol="0">
            <a:spAutoFit/>
          </a:bodyPr>
          <a:lstStyle/>
          <a:p>
            <a:r>
              <a:rPr lang="en-US" altLang="zh-CN" sz="2400" i="1" dirty="0"/>
              <a:t>Location</a:t>
            </a:r>
          </a:p>
          <a:p>
            <a:r>
              <a:rPr lang="en-US" altLang="zh-CN" sz="2400" i="1" dirty="0"/>
              <a:t>Embedding</a:t>
            </a:r>
          </a:p>
          <a:p>
            <a:r>
              <a:rPr lang="en-US" altLang="zh-CN" sz="2400" i="1" dirty="0"/>
              <a:t>(Including null.)</a:t>
            </a:r>
            <a:endParaRPr lang="zh-CN" altLang="en-US" sz="2400" i="1" dirty="0"/>
          </a:p>
        </p:txBody>
      </p:sp>
      <p:cxnSp>
        <p:nvCxnSpPr>
          <p:cNvPr id="24" name="直接箭头连接符 23"/>
          <p:cNvCxnSpPr/>
          <p:nvPr/>
        </p:nvCxnSpPr>
        <p:spPr>
          <a:xfrm flipH="1">
            <a:off x="6684983" y="4272709"/>
            <a:ext cx="11576" cy="56715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5" name="文本框 24"/>
          <p:cNvSpPr txBox="1"/>
          <p:nvPr/>
        </p:nvSpPr>
        <p:spPr>
          <a:xfrm>
            <a:off x="5947670" y="4776774"/>
            <a:ext cx="1782502" cy="830997"/>
          </a:xfrm>
          <a:prstGeom prst="rect">
            <a:avLst/>
          </a:prstGeom>
          <a:noFill/>
        </p:spPr>
        <p:txBody>
          <a:bodyPr wrap="square" rtlCol="0">
            <a:spAutoFit/>
          </a:bodyPr>
          <a:lstStyle/>
          <a:p>
            <a:r>
              <a:rPr lang="en-US" altLang="zh-CN" sz="2400" i="1" dirty="0"/>
              <a:t>Time slot</a:t>
            </a:r>
          </a:p>
          <a:p>
            <a:r>
              <a:rPr lang="en-US" altLang="zh-CN" sz="2400" i="1" dirty="0"/>
              <a:t>Embedding</a:t>
            </a:r>
            <a:endParaRPr lang="zh-CN" altLang="en-US" sz="2400" i="1" dirty="0"/>
          </a:p>
        </p:txBody>
      </p:sp>
      <p:sp>
        <p:nvSpPr>
          <p:cNvPr id="27" name="文本框 26"/>
          <p:cNvSpPr txBox="1"/>
          <p:nvPr/>
        </p:nvSpPr>
        <p:spPr>
          <a:xfrm>
            <a:off x="8404554" y="4776773"/>
            <a:ext cx="2973058" cy="830997"/>
          </a:xfrm>
          <a:prstGeom prst="rect">
            <a:avLst/>
          </a:prstGeom>
          <a:noFill/>
        </p:spPr>
        <p:txBody>
          <a:bodyPr wrap="square" rtlCol="0">
            <a:spAutoFit/>
          </a:bodyPr>
          <a:lstStyle/>
          <a:p>
            <a:r>
              <a:rPr lang="en-US" altLang="zh-CN" sz="2400" i="1" dirty="0"/>
              <a:t>Weekday/weekend</a:t>
            </a:r>
          </a:p>
          <a:p>
            <a:r>
              <a:rPr lang="en-US" altLang="zh-CN" sz="2400" i="1" dirty="0"/>
              <a:t>Embedding</a:t>
            </a:r>
            <a:endParaRPr lang="zh-CN" altLang="en-US" sz="2400" i="1" dirty="0"/>
          </a:p>
        </p:txBody>
      </p:sp>
      <p:cxnSp>
        <p:nvCxnSpPr>
          <p:cNvPr id="28" name="直接箭头连接符 27"/>
          <p:cNvCxnSpPr/>
          <p:nvPr/>
        </p:nvCxnSpPr>
        <p:spPr>
          <a:xfrm>
            <a:off x="8840403" y="4239684"/>
            <a:ext cx="1122621" cy="613289"/>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55826" y="649311"/>
            <a:ext cx="5397918" cy="1143929"/>
          </a:xfrm>
          <a:prstGeom prst="rect">
            <a:avLst/>
          </a:prstGeom>
        </p:spPr>
      </p:pic>
      <p:cxnSp>
        <p:nvCxnSpPr>
          <p:cNvPr id="34" name="直接箭头连接符 33"/>
          <p:cNvCxnSpPr>
            <a:cxnSpLocks/>
          </p:cNvCxnSpPr>
          <p:nvPr/>
        </p:nvCxnSpPr>
        <p:spPr>
          <a:xfrm flipV="1">
            <a:off x="7266361" y="1562781"/>
            <a:ext cx="0" cy="44434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9867493" y="819872"/>
            <a:ext cx="3077902" cy="830997"/>
          </a:xfrm>
          <a:prstGeom prst="rect">
            <a:avLst/>
          </a:prstGeom>
          <a:noFill/>
        </p:spPr>
        <p:txBody>
          <a:bodyPr wrap="square" rtlCol="0">
            <a:spAutoFit/>
          </a:bodyPr>
          <a:lstStyle/>
          <a:p>
            <a:r>
              <a:rPr lang="en-US" altLang="zh-CN" sz="2400" b="1" i="1" dirty="0">
                <a:solidFill>
                  <a:srgbClr val="C00000"/>
                </a:solidFill>
              </a:rPr>
              <a:t>Fixed position embedding</a:t>
            </a:r>
            <a:endParaRPr lang="zh-CN" altLang="en-US" sz="2400" b="1" i="1" dirty="0">
              <a:solidFill>
                <a:srgbClr val="C00000"/>
              </a:solidFill>
            </a:endParaRPr>
          </a:p>
        </p:txBody>
      </p:sp>
      <p:sp>
        <p:nvSpPr>
          <p:cNvPr id="36" name="文本框 35"/>
          <p:cNvSpPr txBox="1"/>
          <p:nvPr/>
        </p:nvSpPr>
        <p:spPr>
          <a:xfrm>
            <a:off x="9953744" y="2055668"/>
            <a:ext cx="2346671" cy="1200329"/>
          </a:xfrm>
          <a:prstGeom prst="rect">
            <a:avLst/>
          </a:prstGeom>
          <a:noFill/>
        </p:spPr>
        <p:txBody>
          <a:bodyPr wrap="square" rtlCol="0">
            <a:spAutoFit/>
          </a:bodyPr>
          <a:lstStyle/>
          <a:p>
            <a:r>
              <a:rPr lang="en-US" altLang="zh-CN" sz="2400" b="1" i="1" dirty="0">
                <a:solidFill>
                  <a:srgbClr val="C00000"/>
                </a:solidFill>
              </a:rPr>
              <a:t>Trainable mobility embedding</a:t>
            </a:r>
            <a:endParaRPr lang="zh-CN" altLang="en-US" sz="2400" b="1" i="1" dirty="0">
              <a:solidFill>
                <a:srgbClr val="C00000"/>
              </a:solidFill>
            </a:endParaRPr>
          </a:p>
        </p:txBody>
      </p:sp>
      <p:sp>
        <p:nvSpPr>
          <p:cNvPr id="37" name="左大括号 36"/>
          <p:cNvSpPr/>
          <p:nvPr/>
        </p:nvSpPr>
        <p:spPr>
          <a:xfrm rot="16200000">
            <a:off x="8114775" y="4109132"/>
            <a:ext cx="283074" cy="3239062"/>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文本框 37"/>
          <p:cNvSpPr txBox="1"/>
          <p:nvPr/>
        </p:nvSpPr>
        <p:spPr>
          <a:xfrm>
            <a:off x="7057901" y="6002622"/>
            <a:ext cx="3273118" cy="461665"/>
          </a:xfrm>
          <a:prstGeom prst="rect">
            <a:avLst/>
          </a:prstGeom>
          <a:noFill/>
        </p:spPr>
        <p:txBody>
          <a:bodyPr wrap="square" rtlCol="0">
            <a:spAutoFit/>
          </a:bodyPr>
          <a:lstStyle/>
          <a:p>
            <a:r>
              <a:rPr lang="en-US" altLang="zh-CN" sz="2400" b="1" i="1" dirty="0">
                <a:solidFill>
                  <a:srgbClr val="1A77C4"/>
                </a:solidFill>
              </a:rPr>
              <a:t>Temporal context</a:t>
            </a:r>
            <a:endParaRPr lang="zh-CN" altLang="en-US" sz="2400" b="1" i="1" dirty="0">
              <a:solidFill>
                <a:srgbClr val="1A77C4"/>
              </a:solidFill>
            </a:endParaRPr>
          </a:p>
        </p:txBody>
      </p:sp>
      <p:cxnSp>
        <p:nvCxnSpPr>
          <p:cNvPr id="26" name="直接连接符 25">
            <a:extLst>
              <a:ext uri="{FF2B5EF4-FFF2-40B4-BE49-F238E27FC236}">
                <a16:creationId xmlns:a16="http://schemas.microsoft.com/office/drawing/2014/main" id="{72905427-325D-4C51-874C-2C20B4C28E2D}"/>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6D076AE7-9D72-47D1-A772-D43B324B3488}"/>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6750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7" grpId="0"/>
      <p:bldP spid="35" grpId="0"/>
      <p:bldP spid="37" grpId="0" animBg="1"/>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9240" y="495734"/>
            <a:ext cx="1822935" cy="486287"/>
          </a:xfrm>
        </p:spPr>
        <p:txBody>
          <a:bodyPr/>
          <a:lstStyle/>
          <a:p>
            <a:pPr>
              <a:lnSpc>
                <a:spcPct val="80000"/>
              </a:lnSpc>
            </a:pPr>
            <a:r>
              <a:rPr lang="af-ZA" altLang="zh-CN" dirty="0"/>
              <a:t>Solution</a:t>
            </a:r>
            <a:endParaRPr lang="zh-CN" altLang="en-US" dirty="0"/>
          </a:p>
        </p:txBody>
      </p:sp>
      <p:sp>
        <p:nvSpPr>
          <p:cNvPr id="2" name="灯片编号占位符 1"/>
          <p:cNvSpPr>
            <a:spLocks noGrp="1"/>
          </p:cNvSpPr>
          <p:nvPr>
            <p:ph type="sldNum" sz="quarter" idx="10"/>
          </p:nvPr>
        </p:nvSpPr>
        <p:spPr>
          <a:xfrm>
            <a:off x="11207579" y="6210952"/>
            <a:ext cx="749643" cy="378081"/>
          </a:xfrm>
        </p:spPr>
        <p:txBody>
          <a:bodyPr/>
          <a:lstStyle/>
          <a:p>
            <a:fld id="{3A7104C2-2265-4AB9-B90C-4162FA6B94AE}" type="slidenum">
              <a:rPr lang="zh-CN" altLang="en-US" smtClean="0"/>
              <a:pPr/>
              <a:t>10</a:t>
            </a:fld>
            <a:endParaRPr lang="zh-CN" altLang="en-US" dirty="0"/>
          </a:p>
        </p:txBody>
      </p:sp>
      <p:sp>
        <p:nvSpPr>
          <p:cNvPr id="4" name="矩形 3"/>
          <p:cNvSpPr/>
          <p:nvPr/>
        </p:nvSpPr>
        <p:spPr>
          <a:xfrm>
            <a:off x="589240" y="982021"/>
            <a:ext cx="3740126" cy="523220"/>
          </a:xfrm>
          <a:prstGeom prst="rect">
            <a:avLst/>
          </a:prstGeom>
        </p:spPr>
        <p:txBody>
          <a:bodyPr wrap="none">
            <a:spAutoFit/>
          </a:bodyPr>
          <a:lstStyle/>
          <a:p>
            <a:r>
              <a:rPr lang="en-US" altLang="zh-CN" sz="2800" b="1" dirty="0">
                <a:solidFill>
                  <a:srgbClr val="002060"/>
                </a:solidFill>
                <a:ea typeface="Arial Unicode MS" panose="020B0604020202020204" pitchFamily="34" charset="-122"/>
                <a:cs typeface="Times New Roman" panose="02020603050405020304" pitchFamily="18" charset="0"/>
              </a:rPr>
              <a:t>2. Current Processor</a:t>
            </a:r>
            <a:endParaRPr lang="zh-CN" altLang="en-US" sz="2800" b="1" dirty="0">
              <a:solidFill>
                <a:srgbClr val="002060"/>
              </a:solidFill>
              <a:ea typeface="Arial Unicode MS" panose="020B0604020202020204" pitchFamily="34" charset="-122"/>
              <a:cs typeface="Times New Roman" panose="02020603050405020304" pitchFamily="18" charset="0"/>
            </a:endParaRPr>
          </a:p>
        </p:txBody>
      </p:sp>
      <p:pic>
        <p:nvPicPr>
          <p:cNvPr id="6" name="图片 5">
            <a:extLst>
              <a:ext uri="{FF2B5EF4-FFF2-40B4-BE49-F238E27FC236}">
                <a16:creationId xmlns:a16="http://schemas.microsoft.com/office/drawing/2014/main" id="{1139DBAC-DCC0-4DFF-9597-A91800C912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998" y="3837570"/>
            <a:ext cx="4801270" cy="1476581"/>
          </a:xfrm>
          <a:prstGeom prst="rect">
            <a:avLst/>
          </a:prstGeom>
        </p:spPr>
      </p:pic>
      <p:sp>
        <p:nvSpPr>
          <p:cNvPr id="7" name="椭圆 6">
            <a:extLst>
              <a:ext uri="{FF2B5EF4-FFF2-40B4-BE49-F238E27FC236}">
                <a16:creationId xmlns:a16="http://schemas.microsoft.com/office/drawing/2014/main" id="{EEDDEBDF-1561-4D1D-A973-FD11C5B2459D}"/>
              </a:ext>
            </a:extLst>
          </p:cNvPr>
          <p:cNvSpPr/>
          <p:nvPr/>
        </p:nvSpPr>
        <p:spPr>
          <a:xfrm>
            <a:off x="1061871" y="5519632"/>
            <a:ext cx="159657" cy="159657"/>
          </a:xfrm>
          <a:prstGeom prst="ellipse">
            <a:avLst/>
          </a:prstGeom>
          <a:solidFill>
            <a:schemeClr val="accent6">
              <a:lumMod val="60000"/>
              <a:lumOff val="4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endParaRPr>
          </a:p>
        </p:txBody>
      </p:sp>
      <p:sp>
        <p:nvSpPr>
          <p:cNvPr id="39" name="椭圆 38">
            <a:extLst>
              <a:ext uri="{FF2B5EF4-FFF2-40B4-BE49-F238E27FC236}">
                <a16:creationId xmlns:a16="http://schemas.microsoft.com/office/drawing/2014/main" id="{F9E3102D-3CA2-4D8F-ACED-C4C73B61665E}"/>
              </a:ext>
            </a:extLst>
          </p:cNvPr>
          <p:cNvSpPr/>
          <p:nvPr/>
        </p:nvSpPr>
        <p:spPr>
          <a:xfrm>
            <a:off x="1061871" y="5946327"/>
            <a:ext cx="159657" cy="159657"/>
          </a:xfrm>
          <a:prstGeom prst="ellipse">
            <a:avLst/>
          </a:prstGeom>
          <a:solidFill>
            <a:schemeClr val="accent6">
              <a:lumMod val="60000"/>
              <a:lumOff val="40000"/>
            </a:schemeClr>
          </a:solidFill>
          <a:ln w="28575">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tx1"/>
                </a:solidFill>
              </a:ln>
            </a:endParaRPr>
          </a:p>
        </p:txBody>
      </p:sp>
      <p:sp>
        <p:nvSpPr>
          <p:cNvPr id="9" name="文本框 8">
            <a:extLst>
              <a:ext uri="{FF2B5EF4-FFF2-40B4-BE49-F238E27FC236}">
                <a16:creationId xmlns:a16="http://schemas.microsoft.com/office/drawing/2014/main" id="{F1D3039C-03BB-438A-84AC-0625F90D8FE7}"/>
              </a:ext>
            </a:extLst>
          </p:cNvPr>
          <p:cNvSpPr txBox="1"/>
          <p:nvPr/>
        </p:nvSpPr>
        <p:spPr>
          <a:xfrm>
            <a:off x="1405762" y="5399406"/>
            <a:ext cx="4127767" cy="400110"/>
          </a:xfrm>
          <a:prstGeom prst="rect">
            <a:avLst/>
          </a:prstGeom>
          <a:noFill/>
        </p:spPr>
        <p:txBody>
          <a:bodyPr wrap="square" rtlCol="0">
            <a:spAutoFit/>
          </a:bodyPr>
          <a:lstStyle/>
          <a:p>
            <a:r>
              <a:rPr lang="en-US" altLang="zh-CN" sz="2000" dirty="0"/>
              <a:t>Observed location</a:t>
            </a:r>
            <a:endParaRPr lang="zh-CN" altLang="en-US" sz="2000" dirty="0"/>
          </a:p>
        </p:txBody>
      </p:sp>
      <p:sp>
        <p:nvSpPr>
          <p:cNvPr id="40" name="文本框 39">
            <a:extLst>
              <a:ext uri="{FF2B5EF4-FFF2-40B4-BE49-F238E27FC236}">
                <a16:creationId xmlns:a16="http://schemas.microsoft.com/office/drawing/2014/main" id="{D1E5C312-4D88-421B-B3C9-244CDE1B988E}"/>
              </a:ext>
            </a:extLst>
          </p:cNvPr>
          <p:cNvSpPr txBox="1"/>
          <p:nvPr/>
        </p:nvSpPr>
        <p:spPr>
          <a:xfrm>
            <a:off x="1405524" y="5826100"/>
            <a:ext cx="4127767" cy="400110"/>
          </a:xfrm>
          <a:prstGeom prst="rect">
            <a:avLst/>
          </a:prstGeom>
          <a:noFill/>
        </p:spPr>
        <p:txBody>
          <a:bodyPr wrap="square" rtlCol="0">
            <a:spAutoFit/>
          </a:bodyPr>
          <a:lstStyle/>
          <a:p>
            <a:r>
              <a:rPr lang="en-US" altLang="zh-CN" sz="2000" dirty="0"/>
              <a:t>Missing location</a:t>
            </a:r>
            <a:endParaRPr lang="zh-CN" altLang="en-US" sz="2000" dirty="0"/>
          </a:p>
        </p:txBody>
      </p:sp>
      <p:pic>
        <p:nvPicPr>
          <p:cNvPr id="14" name="图片 13">
            <a:extLst>
              <a:ext uri="{FF2B5EF4-FFF2-40B4-BE49-F238E27FC236}">
                <a16:creationId xmlns:a16="http://schemas.microsoft.com/office/drawing/2014/main" id="{04402634-E742-4FAD-8331-76C1EBAA794D}"/>
              </a:ext>
            </a:extLst>
          </p:cNvPr>
          <p:cNvPicPr>
            <a:picLocks noChangeAspect="1"/>
          </p:cNvPicPr>
          <p:nvPr/>
        </p:nvPicPr>
        <p:blipFill rotWithShape="1">
          <a:blip r:embed="rId4">
            <a:extLst>
              <a:ext uri="{28A0092B-C50C-407E-A947-70E740481C1C}">
                <a14:useLocalDpi xmlns:a14="http://schemas.microsoft.com/office/drawing/2010/main" val="0"/>
              </a:ext>
            </a:extLst>
          </a:blip>
          <a:srcRect l="13020" r="215" b="80638"/>
          <a:stretch/>
        </p:blipFill>
        <p:spPr>
          <a:xfrm>
            <a:off x="5610895" y="2224999"/>
            <a:ext cx="5991865" cy="1409750"/>
          </a:xfrm>
          <a:prstGeom prst="rect">
            <a:avLst/>
          </a:prstGeom>
        </p:spPr>
      </p:pic>
      <p:pic>
        <p:nvPicPr>
          <p:cNvPr id="41" name="图片 40">
            <a:extLst>
              <a:ext uri="{FF2B5EF4-FFF2-40B4-BE49-F238E27FC236}">
                <a16:creationId xmlns:a16="http://schemas.microsoft.com/office/drawing/2014/main" id="{82124399-1BD9-4DD4-AF73-4E273EC37FFD}"/>
              </a:ext>
            </a:extLst>
          </p:cNvPr>
          <p:cNvPicPr>
            <a:picLocks noChangeAspect="1"/>
          </p:cNvPicPr>
          <p:nvPr/>
        </p:nvPicPr>
        <p:blipFill rotWithShape="1">
          <a:blip r:embed="rId4">
            <a:extLst>
              <a:ext uri="{28A0092B-C50C-407E-A947-70E740481C1C}">
                <a14:useLocalDpi xmlns:a14="http://schemas.microsoft.com/office/drawing/2010/main" val="0"/>
              </a:ext>
            </a:extLst>
          </a:blip>
          <a:srcRect l="12744" t="41391" r="491" b="45326"/>
          <a:stretch/>
        </p:blipFill>
        <p:spPr>
          <a:xfrm>
            <a:off x="5590535" y="3653511"/>
            <a:ext cx="5991865" cy="967089"/>
          </a:xfrm>
          <a:prstGeom prst="rect">
            <a:avLst/>
          </a:prstGeom>
        </p:spPr>
      </p:pic>
      <p:pic>
        <p:nvPicPr>
          <p:cNvPr id="42" name="图片 41">
            <a:extLst>
              <a:ext uri="{FF2B5EF4-FFF2-40B4-BE49-F238E27FC236}">
                <a16:creationId xmlns:a16="http://schemas.microsoft.com/office/drawing/2014/main" id="{02132F02-55B5-4989-BFC5-86D1C3670AF5}"/>
              </a:ext>
            </a:extLst>
          </p:cNvPr>
          <p:cNvPicPr>
            <a:picLocks noChangeAspect="1"/>
          </p:cNvPicPr>
          <p:nvPr/>
        </p:nvPicPr>
        <p:blipFill rotWithShape="1">
          <a:blip r:embed="rId4">
            <a:extLst>
              <a:ext uri="{28A0092B-C50C-407E-A947-70E740481C1C}">
                <a14:useLocalDpi xmlns:a14="http://schemas.microsoft.com/office/drawing/2010/main" val="0"/>
              </a:ext>
            </a:extLst>
          </a:blip>
          <a:srcRect l="12115" t="72434" r="1120" b="20380"/>
          <a:stretch/>
        </p:blipFill>
        <p:spPr>
          <a:xfrm>
            <a:off x="5533529" y="4946225"/>
            <a:ext cx="5991865" cy="523220"/>
          </a:xfrm>
          <a:prstGeom prst="rect">
            <a:avLst/>
          </a:prstGeom>
        </p:spPr>
      </p:pic>
      <p:pic>
        <p:nvPicPr>
          <p:cNvPr id="43" name="图片 42">
            <a:extLst>
              <a:ext uri="{FF2B5EF4-FFF2-40B4-BE49-F238E27FC236}">
                <a16:creationId xmlns:a16="http://schemas.microsoft.com/office/drawing/2014/main" id="{7EF3B78E-0D76-49F5-8F37-9149146D93C9}"/>
              </a:ext>
            </a:extLst>
          </p:cNvPr>
          <p:cNvPicPr>
            <a:picLocks noChangeAspect="1"/>
          </p:cNvPicPr>
          <p:nvPr/>
        </p:nvPicPr>
        <p:blipFill rotWithShape="1">
          <a:blip r:embed="rId4">
            <a:extLst>
              <a:ext uri="{28A0092B-C50C-407E-A947-70E740481C1C}">
                <a14:useLocalDpi xmlns:a14="http://schemas.microsoft.com/office/drawing/2010/main" val="0"/>
              </a:ext>
            </a:extLst>
          </a:blip>
          <a:srcRect l="20658" t="93399" r="1456" b="-585"/>
          <a:stretch/>
        </p:blipFill>
        <p:spPr>
          <a:xfrm>
            <a:off x="6146646" y="5420701"/>
            <a:ext cx="5378748" cy="523220"/>
          </a:xfrm>
          <a:prstGeom prst="rect">
            <a:avLst/>
          </a:prstGeom>
        </p:spPr>
      </p:pic>
      <p:cxnSp>
        <p:nvCxnSpPr>
          <p:cNvPr id="29" name="直接箭头连接符 28">
            <a:extLst>
              <a:ext uri="{FF2B5EF4-FFF2-40B4-BE49-F238E27FC236}">
                <a16:creationId xmlns:a16="http://schemas.microsoft.com/office/drawing/2014/main" id="{9769F07F-AB6F-41DD-8461-B5DF4C8BA7D6}"/>
              </a:ext>
            </a:extLst>
          </p:cNvPr>
          <p:cNvCxnSpPr>
            <a:cxnSpLocks/>
          </p:cNvCxnSpPr>
          <p:nvPr/>
        </p:nvCxnSpPr>
        <p:spPr>
          <a:xfrm flipH="1">
            <a:off x="4624123" y="2568510"/>
            <a:ext cx="1277402" cy="2107663"/>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78EF6D60-9363-4637-82C6-777EB7830503}"/>
              </a:ext>
            </a:extLst>
          </p:cNvPr>
          <p:cNvCxnSpPr>
            <a:cxnSpLocks/>
          </p:cNvCxnSpPr>
          <p:nvPr/>
        </p:nvCxnSpPr>
        <p:spPr>
          <a:xfrm flipH="1">
            <a:off x="4058172" y="4023328"/>
            <a:ext cx="2469008" cy="52848"/>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ACAE702E-7717-4FED-B8AD-CB3C9207AF28}"/>
              </a:ext>
            </a:extLst>
          </p:cNvPr>
          <p:cNvSpPr txBox="1"/>
          <p:nvPr/>
        </p:nvSpPr>
        <p:spPr>
          <a:xfrm>
            <a:off x="5848350" y="4528954"/>
            <a:ext cx="2562225" cy="369332"/>
          </a:xfrm>
          <a:prstGeom prst="rect">
            <a:avLst/>
          </a:prstGeom>
          <a:noFill/>
        </p:spPr>
        <p:txBody>
          <a:bodyPr wrap="square" rtlCol="0">
            <a:spAutoFit/>
          </a:bodyPr>
          <a:lstStyle/>
          <a:p>
            <a:pPr marL="285750" indent="-285750">
              <a:buFont typeface="Wingdings" panose="05000000000000000000" pitchFamily="2" charset="2"/>
              <a:buChar char="ü"/>
            </a:pPr>
            <a:r>
              <a:rPr lang="en-US" altLang="zh-CN" dirty="0"/>
              <a:t>Multi-head:</a:t>
            </a:r>
            <a:endParaRPr lang="zh-CN" altLang="en-US" dirty="0"/>
          </a:p>
        </p:txBody>
      </p:sp>
      <p:sp>
        <p:nvSpPr>
          <p:cNvPr id="47" name="文本框 46">
            <a:extLst>
              <a:ext uri="{FF2B5EF4-FFF2-40B4-BE49-F238E27FC236}">
                <a16:creationId xmlns:a16="http://schemas.microsoft.com/office/drawing/2014/main" id="{12E37761-A8F3-420B-945C-08B4A6947D1D}"/>
              </a:ext>
            </a:extLst>
          </p:cNvPr>
          <p:cNvSpPr txBox="1"/>
          <p:nvPr/>
        </p:nvSpPr>
        <p:spPr>
          <a:xfrm>
            <a:off x="5514479" y="1755679"/>
            <a:ext cx="5306065" cy="461665"/>
          </a:xfrm>
          <a:prstGeom prst="rect">
            <a:avLst/>
          </a:prstGeom>
          <a:noFill/>
        </p:spPr>
        <p:txBody>
          <a:bodyPr wrap="square" rtlCol="0">
            <a:spAutoFit/>
          </a:bodyPr>
          <a:lstStyle/>
          <a:p>
            <a:pPr marL="342900" indent="-342900">
              <a:buFont typeface="Wingdings" panose="05000000000000000000" pitchFamily="2" charset="2"/>
              <a:buChar char="ü"/>
            </a:pPr>
            <a:r>
              <a:rPr lang="en-US" altLang="zh-CN" sz="2400" dirty="0"/>
              <a:t>Intra-trajectory attention:</a:t>
            </a:r>
            <a:endParaRPr lang="zh-CN" altLang="en-US" sz="2400" dirty="0"/>
          </a:p>
        </p:txBody>
      </p:sp>
      <p:pic>
        <p:nvPicPr>
          <p:cNvPr id="54" name="图片 53">
            <a:extLst>
              <a:ext uri="{FF2B5EF4-FFF2-40B4-BE49-F238E27FC236}">
                <a16:creationId xmlns:a16="http://schemas.microsoft.com/office/drawing/2014/main" id="{4CA98902-60EB-4193-A1B8-8EDBC5F9F6E8}"/>
              </a:ext>
            </a:extLst>
          </p:cNvPr>
          <p:cNvPicPr>
            <a:picLocks noChangeAspect="1"/>
          </p:cNvPicPr>
          <p:nvPr/>
        </p:nvPicPr>
        <p:blipFill rotWithShape="1">
          <a:blip r:embed="rId5">
            <a:extLst>
              <a:ext uri="{28A0092B-C50C-407E-A947-70E740481C1C}">
                <a14:useLocalDpi xmlns:a14="http://schemas.microsoft.com/office/drawing/2010/main" val="0"/>
              </a:ext>
            </a:extLst>
          </a:blip>
          <a:srcRect l="50310" t="29694" r="1556" b="22023"/>
          <a:stretch/>
        </p:blipFill>
        <p:spPr>
          <a:xfrm>
            <a:off x="1405524" y="1505241"/>
            <a:ext cx="3218599" cy="2178695"/>
          </a:xfrm>
          <a:prstGeom prst="rect">
            <a:avLst/>
          </a:prstGeom>
        </p:spPr>
      </p:pic>
      <p:cxnSp>
        <p:nvCxnSpPr>
          <p:cNvPr id="57" name="直接连接符 56">
            <a:extLst>
              <a:ext uri="{FF2B5EF4-FFF2-40B4-BE49-F238E27FC236}">
                <a16:creationId xmlns:a16="http://schemas.microsoft.com/office/drawing/2014/main" id="{03AFFBA0-51F8-4DCD-9F9B-A9B8A281E138}"/>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04206FD2-2AA7-492F-8CF0-B4C0D397E733}"/>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608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92CB3462-57A4-4D61-BDE3-B14D3B0167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3711" y="2130299"/>
            <a:ext cx="4523968" cy="2910248"/>
          </a:xfrm>
          <a:prstGeom prst="rect">
            <a:avLst/>
          </a:prstGeom>
        </p:spPr>
      </p:pic>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9240" y="495734"/>
            <a:ext cx="1822935" cy="486287"/>
          </a:xfrm>
        </p:spPr>
        <p:txBody>
          <a:bodyPr/>
          <a:lstStyle/>
          <a:p>
            <a:pPr>
              <a:lnSpc>
                <a:spcPct val="80000"/>
              </a:lnSpc>
            </a:pPr>
            <a:r>
              <a:rPr lang="af-ZA" altLang="zh-CN" dirty="0"/>
              <a:t>Solution</a:t>
            </a:r>
            <a:endParaRPr lang="zh-CN" altLang="en-US" dirty="0"/>
          </a:p>
        </p:txBody>
      </p:sp>
      <p:sp>
        <p:nvSpPr>
          <p:cNvPr id="2" name="灯片编号占位符 1"/>
          <p:cNvSpPr>
            <a:spLocks noGrp="1"/>
          </p:cNvSpPr>
          <p:nvPr>
            <p:ph type="sldNum" sz="quarter" idx="10"/>
          </p:nvPr>
        </p:nvSpPr>
        <p:spPr>
          <a:xfrm>
            <a:off x="11207579" y="6210952"/>
            <a:ext cx="749643" cy="378081"/>
          </a:xfrm>
        </p:spPr>
        <p:txBody>
          <a:bodyPr/>
          <a:lstStyle/>
          <a:p>
            <a:fld id="{3A7104C2-2265-4AB9-B90C-4162FA6B94AE}" type="slidenum">
              <a:rPr lang="zh-CN" altLang="en-US" smtClean="0"/>
              <a:pPr/>
              <a:t>11</a:t>
            </a:fld>
            <a:endParaRPr lang="zh-CN" altLang="en-US" dirty="0"/>
          </a:p>
        </p:txBody>
      </p:sp>
      <p:sp>
        <p:nvSpPr>
          <p:cNvPr id="4" name="矩形 3"/>
          <p:cNvSpPr/>
          <p:nvPr/>
        </p:nvSpPr>
        <p:spPr>
          <a:xfrm>
            <a:off x="589240" y="982021"/>
            <a:ext cx="3459601" cy="523220"/>
          </a:xfrm>
          <a:prstGeom prst="rect">
            <a:avLst/>
          </a:prstGeom>
        </p:spPr>
        <p:txBody>
          <a:bodyPr wrap="none">
            <a:spAutoFit/>
          </a:bodyPr>
          <a:lstStyle/>
          <a:p>
            <a:r>
              <a:rPr lang="en-US" altLang="zh-CN" sz="2800" b="1" dirty="0">
                <a:solidFill>
                  <a:srgbClr val="002060"/>
                </a:solidFill>
                <a:ea typeface="Arial Unicode MS" panose="020B0604020202020204" pitchFamily="34" charset="-122"/>
                <a:cs typeface="Times New Roman" panose="02020603050405020304" pitchFamily="18" charset="0"/>
              </a:rPr>
              <a:t>3. History Encoder </a:t>
            </a:r>
            <a:endParaRPr lang="zh-CN" altLang="en-US" sz="2800" b="1" dirty="0">
              <a:solidFill>
                <a:srgbClr val="002060"/>
              </a:solidFill>
              <a:ea typeface="Arial Unicode MS" panose="020B0604020202020204" pitchFamily="34" charset="-122"/>
              <a:cs typeface="Times New Roman" panose="02020603050405020304" pitchFamily="18" charset="0"/>
            </a:endParaRPr>
          </a:p>
        </p:txBody>
      </p:sp>
      <p:pic>
        <p:nvPicPr>
          <p:cNvPr id="5" name="图片 4"/>
          <p:cNvPicPr>
            <a:picLocks noChangeAspect="1"/>
          </p:cNvPicPr>
          <p:nvPr/>
        </p:nvPicPr>
        <p:blipFill rotWithShape="1">
          <a:blip r:embed="rId4">
            <a:extLst>
              <a:ext uri="{28A0092B-C50C-407E-A947-70E740481C1C}">
                <a14:useLocalDpi xmlns:a14="http://schemas.microsoft.com/office/drawing/2010/main" val="0"/>
              </a:ext>
            </a:extLst>
          </a:blip>
          <a:srcRect r="46641" b="22091"/>
          <a:stretch/>
        </p:blipFill>
        <p:spPr>
          <a:xfrm>
            <a:off x="2213302" y="1713323"/>
            <a:ext cx="4245555" cy="3342464"/>
          </a:xfrm>
          <a:prstGeom prst="rect">
            <a:avLst/>
          </a:prstGeom>
        </p:spPr>
      </p:pic>
      <p:sp>
        <p:nvSpPr>
          <p:cNvPr id="7" name="矩形 6"/>
          <p:cNvSpPr/>
          <p:nvPr/>
        </p:nvSpPr>
        <p:spPr>
          <a:xfrm>
            <a:off x="3775300" y="2663107"/>
            <a:ext cx="365760" cy="239268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656346" y="3259282"/>
            <a:ext cx="2640162" cy="1200329"/>
          </a:xfrm>
          <a:prstGeom prst="rect">
            <a:avLst/>
          </a:prstGeom>
          <a:noFill/>
        </p:spPr>
        <p:txBody>
          <a:bodyPr wrap="square" rtlCol="0">
            <a:spAutoFit/>
          </a:bodyPr>
          <a:lstStyle/>
          <a:p>
            <a:r>
              <a:rPr lang="en-US" altLang="zh-CN" sz="2400" i="1" dirty="0">
                <a:solidFill>
                  <a:srgbClr val="C00000"/>
                </a:solidFill>
              </a:rPr>
              <a:t>Most frequently visited location in each time slot</a:t>
            </a:r>
            <a:endParaRPr lang="zh-CN" altLang="en-US" sz="2400" i="1" dirty="0">
              <a:solidFill>
                <a:srgbClr val="C00000"/>
              </a:solidFill>
            </a:endParaRPr>
          </a:p>
        </p:txBody>
      </p:sp>
      <p:sp>
        <p:nvSpPr>
          <p:cNvPr id="29" name="矩形 28"/>
          <p:cNvSpPr/>
          <p:nvPr/>
        </p:nvSpPr>
        <p:spPr>
          <a:xfrm>
            <a:off x="4400140" y="2647867"/>
            <a:ext cx="365760" cy="239268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10121230" y="3258272"/>
            <a:ext cx="2640162" cy="830997"/>
          </a:xfrm>
          <a:prstGeom prst="rect">
            <a:avLst/>
          </a:prstGeom>
          <a:noFill/>
        </p:spPr>
        <p:txBody>
          <a:bodyPr wrap="square" rtlCol="0">
            <a:spAutoFit/>
          </a:bodyPr>
          <a:lstStyle/>
          <a:p>
            <a:r>
              <a:rPr lang="en-US" altLang="zh-CN" sz="2400" i="1" dirty="0">
                <a:solidFill>
                  <a:srgbClr val="C00000"/>
                </a:solidFill>
              </a:rPr>
              <a:t>Attentional smooth</a:t>
            </a:r>
            <a:endParaRPr lang="zh-CN" altLang="en-US" sz="2400" i="1" dirty="0">
              <a:solidFill>
                <a:srgbClr val="C00000"/>
              </a:solidFill>
            </a:endParaRPr>
          </a:p>
        </p:txBody>
      </p:sp>
      <p:sp>
        <p:nvSpPr>
          <p:cNvPr id="14" name="任意多边形 13"/>
          <p:cNvSpPr/>
          <p:nvPr/>
        </p:nvSpPr>
        <p:spPr>
          <a:xfrm>
            <a:off x="5638800" y="2011680"/>
            <a:ext cx="1676400" cy="1791063"/>
          </a:xfrm>
          <a:custGeom>
            <a:avLst/>
            <a:gdLst>
              <a:gd name="connsiteX0" fmla="*/ 0 w 1676400"/>
              <a:gd name="connsiteY0" fmla="*/ 0 h 2743200"/>
              <a:gd name="connsiteX1" fmla="*/ 594360 w 1676400"/>
              <a:gd name="connsiteY1" fmla="*/ 655320 h 2743200"/>
              <a:gd name="connsiteX2" fmla="*/ 685800 w 1676400"/>
              <a:gd name="connsiteY2" fmla="*/ 1584960 h 2743200"/>
              <a:gd name="connsiteX3" fmla="*/ 716280 w 1676400"/>
              <a:gd name="connsiteY3" fmla="*/ 2407920 h 2743200"/>
              <a:gd name="connsiteX4" fmla="*/ 1676400 w 1676400"/>
              <a:gd name="connsiteY4" fmla="*/ 2743200 h 274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76400" h="2743200">
                <a:moveTo>
                  <a:pt x="0" y="0"/>
                </a:moveTo>
                <a:cubicBezTo>
                  <a:pt x="240030" y="195580"/>
                  <a:pt x="480060" y="391160"/>
                  <a:pt x="594360" y="655320"/>
                </a:cubicBezTo>
                <a:cubicBezTo>
                  <a:pt x="708660" y="919480"/>
                  <a:pt x="665480" y="1292860"/>
                  <a:pt x="685800" y="1584960"/>
                </a:cubicBezTo>
                <a:cubicBezTo>
                  <a:pt x="706120" y="1877060"/>
                  <a:pt x="551180" y="2214880"/>
                  <a:pt x="716280" y="2407920"/>
                </a:cubicBezTo>
                <a:cubicBezTo>
                  <a:pt x="881380" y="2600960"/>
                  <a:pt x="1278890" y="2672080"/>
                  <a:pt x="1676400" y="2743200"/>
                </a:cubicBezTo>
              </a:path>
            </a:pathLst>
          </a:custGeom>
          <a:noFill/>
          <a:ln w="28575">
            <a:solidFill>
              <a:srgbClr val="C00000"/>
            </a:solidFill>
            <a:headEnd type="none" w="lg" len="lg"/>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56B0E988-0F02-45D2-9829-E3A1B4062191}"/>
              </a:ext>
            </a:extLst>
          </p:cNvPr>
          <p:cNvSpPr txBox="1"/>
          <p:nvPr/>
        </p:nvSpPr>
        <p:spPr>
          <a:xfrm>
            <a:off x="1407886" y="5263869"/>
            <a:ext cx="5291894" cy="461665"/>
          </a:xfrm>
          <a:prstGeom prst="rect">
            <a:avLst/>
          </a:prstGeom>
          <a:noFill/>
        </p:spPr>
        <p:txBody>
          <a:bodyPr wrap="square" rtlCol="0">
            <a:spAutoFit/>
          </a:bodyPr>
          <a:lstStyle/>
          <a:p>
            <a:r>
              <a:rPr lang="en-US" altLang="zh-CN" sz="2400" dirty="0"/>
              <a:t>(1) Multiple historical trajectories </a:t>
            </a:r>
            <a:endParaRPr lang="zh-CN" altLang="en-US" sz="2400" dirty="0"/>
          </a:p>
        </p:txBody>
      </p:sp>
      <p:sp>
        <p:nvSpPr>
          <p:cNvPr id="13" name="文本框 12">
            <a:extLst>
              <a:ext uri="{FF2B5EF4-FFF2-40B4-BE49-F238E27FC236}">
                <a16:creationId xmlns:a16="http://schemas.microsoft.com/office/drawing/2014/main" id="{B6E7FBCF-17C2-4597-AECD-CD2682AC40BE}"/>
              </a:ext>
            </a:extLst>
          </p:cNvPr>
          <p:cNvSpPr txBox="1"/>
          <p:nvPr/>
        </p:nvSpPr>
        <p:spPr>
          <a:xfrm>
            <a:off x="6458857" y="5263869"/>
            <a:ext cx="5251598" cy="461665"/>
          </a:xfrm>
          <a:prstGeom prst="rect">
            <a:avLst/>
          </a:prstGeom>
          <a:noFill/>
        </p:spPr>
        <p:txBody>
          <a:bodyPr wrap="square" rtlCol="0">
            <a:spAutoFit/>
          </a:bodyPr>
          <a:lstStyle/>
          <a:p>
            <a:r>
              <a:rPr lang="en-US" altLang="zh-CN" sz="2400" dirty="0"/>
              <a:t>(2) Historical intra-trajectory attention</a:t>
            </a:r>
            <a:endParaRPr lang="zh-CN" altLang="en-US" sz="2400" dirty="0"/>
          </a:p>
        </p:txBody>
      </p:sp>
      <p:sp>
        <p:nvSpPr>
          <p:cNvPr id="6" name="文本框 5">
            <a:extLst>
              <a:ext uri="{FF2B5EF4-FFF2-40B4-BE49-F238E27FC236}">
                <a16:creationId xmlns:a16="http://schemas.microsoft.com/office/drawing/2014/main" id="{88AABC84-954B-4879-ABC9-9E0FC20F1178}"/>
              </a:ext>
            </a:extLst>
          </p:cNvPr>
          <p:cNvSpPr txBox="1"/>
          <p:nvPr/>
        </p:nvSpPr>
        <p:spPr>
          <a:xfrm>
            <a:off x="6477425" y="1008156"/>
            <a:ext cx="4963886" cy="830997"/>
          </a:xfrm>
          <a:prstGeom prst="rect">
            <a:avLst/>
          </a:prstGeom>
          <a:noFill/>
        </p:spPr>
        <p:txBody>
          <a:bodyPr wrap="square" rtlCol="0">
            <a:spAutoFit/>
          </a:bodyPr>
          <a:lstStyle/>
          <a:p>
            <a:pPr marL="342900" indent="-342900">
              <a:buAutoNum type="arabicPeriod"/>
            </a:pPr>
            <a:r>
              <a:rPr lang="en-US" altLang="zh-CN" sz="2400" i="1" dirty="0">
                <a:solidFill>
                  <a:schemeClr val="accent1"/>
                </a:solidFill>
              </a:rPr>
              <a:t>Insufficient History information</a:t>
            </a:r>
          </a:p>
          <a:p>
            <a:pPr marL="342900" indent="-342900">
              <a:buAutoNum type="arabicPeriod"/>
            </a:pPr>
            <a:r>
              <a:rPr lang="en-US" altLang="zh-CN" sz="2400" i="1" dirty="0">
                <a:solidFill>
                  <a:schemeClr val="accent1"/>
                </a:solidFill>
              </a:rPr>
              <a:t>Still spares after aggregation </a:t>
            </a:r>
            <a:endParaRPr lang="zh-CN" altLang="en-US" sz="2400" i="1" dirty="0">
              <a:solidFill>
                <a:schemeClr val="accent1"/>
              </a:solidFill>
            </a:endParaRPr>
          </a:p>
        </p:txBody>
      </p:sp>
      <p:cxnSp>
        <p:nvCxnSpPr>
          <p:cNvPr id="15" name="直接连接符 14">
            <a:extLst>
              <a:ext uri="{FF2B5EF4-FFF2-40B4-BE49-F238E27FC236}">
                <a16:creationId xmlns:a16="http://schemas.microsoft.com/office/drawing/2014/main" id="{F9FED2D9-F9E6-4B6B-89E3-2A4AD2E14EE7}"/>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4761DC8A-2C79-410D-810F-848FB80A42EB}"/>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620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6" grpId="0"/>
      <p:bldP spid="29" grpId="0" animBg="1"/>
      <p:bldP spid="30" grpId="0"/>
      <p:bldP spid="14" grpId="0" animBg="1"/>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9240" y="495734"/>
            <a:ext cx="1822935" cy="486287"/>
          </a:xfrm>
        </p:spPr>
        <p:txBody>
          <a:bodyPr/>
          <a:lstStyle/>
          <a:p>
            <a:pPr>
              <a:lnSpc>
                <a:spcPct val="80000"/>
              </a:lnSpc>
            </a:pPr>
            <a:r>
              <a:rPr lang="af-ZA" altLang="zh-CN" dirty="0"/>
              <a:t>Solution</a:t>
            </a:r>
            <a:endParaRPr lang="zh-CN" altLang="en-US" dirty="0"/>
          </a:p>
        </p:txBody>
      </p:sp>
      <p:sp>
        <p:nvSpPr>
          <p:cNvPr id="2" name="灯片编号占位符 1"/>
          <p:cNvSpPr>
            <a:spLocks noGrp="1"/>
          </p:cNvSpPr>
          <p:nvPr>
            <p:ph type="sldNum" sz="quarter" idx="10"/>
          </p:nvPr>
        </p:nvSpPr>
        <p:spPr>
          <a:xfrm>
            <a:off x="11207579" y="6210952"/>
            <a:ext cx="749643" cy="378081"/>
          </a:xfrm>
        </p:spPr>
        <p:txBody>
          <a:bodyPr/>
          <a:lstStyle/>
          <a:p>
            <a:fld id="{3A7104C2-2265-4AB9-B90C-4162FA6B94AE}" type="slidenum">
              <a:rPr lang="zh-CN" altLang="en-US" smtClean="0"/>
              <a:pPr/>
              <a:t>12</a:t>
            </a:fld>
            <a:endParaRPr lang="zh-CN" altLang="en-US" dirty="0"/>
          </a:p>
        </p:txBody>
      </p:sp>
      <p:sp>
        <p:nvSpPr>
          <p:cNvPr id="4" name="矩形 3"/>
          <p:cNvSpPr/>
          <p:nvPr/>
        </p:nvSpPr>
        <p:spPr>
          <a:xfrm>
            <a:off x="589240" y="982021"/>
            <a:ext cx="5478808" cy="523220"/>
          </a:xfrm>
          <a:prstGeom prst="rect">
            <a:avLst/>
          </a:prstGeom>
        </p:spPr>
        <p:txBody>
          <a:bodyPr wrap="none">
            <a:spAutoFit/>
          </a:bodyPr>
          <a:lstStyle/>
          <a:p>
            <a:r>
              <a:rPr lang="en-US" altLang="zh-CN" sz="2800" b="1" dirty="0">
                <a:solidFill>
                  <a:srgbClr val="002060"/>
                </a:solidFill>
                <a:ea typeface="Arial Unicode MS" panose="020B0604020202020204" pitchFamily="34" charset="-122"/>
                <a:cs typeface="Times New Roman" panose="02020603050405020304" pitchFamily="18" charset="0"/>
              </a:rPr>
              <a:t>4. Trajectory recovery module  </a:t>
            </a:r>
            <a:endParaRPr lang="zh-CN" altLang="en-US" sz="2800" b="1" dirty="0">
              <a:solidFill>
                <a:srgbClr val="002060"/>
              </a:solidFill>
              <a:ea typeface="Arial Unicode MS" panose="020B0604020202020204" pitchFamily="34" charset="-122"/>
              <a:cs typeface="Times New Roman" panose="02020603050405020304" pitchFamily="18" charset="0"/>
            </a:endParaRPr>
          </a:p>
        </p:txBody>
      </p:sp>
      <p:pic>
        <p:nvPicPr>
          <p:cNvPr id="22" name="图片 21">
            <a:extLst>
              <a:ext uri="{FF2B5EF4-FFF2-40B4-BE49-F238E27FC236}">
                <a16:creationId xmlns:a16="http://schemas.microsoft.com/office/drawing/2014/main" id="{A6BAFDA2-31DA-47C1-8A25-0A628758F565}"/>
              </a:ext>
            </a:extLst>
          </p:cNvPr>
          <p:cNvPicPr>
            <a:picLocks noChangeAspect="1"/>
          </p:cNvPicPr>
          <p:nvPr/>
        </p:nvPicPr>
        <p:blipFill rotWithShape="1">
          <a:blip r:embed="rId3">
            <a:extLst>
              <a:ext uri="{28A0092B-C50C-407E-A947-70E740481C1C}">
                <a14:useLocalDpi xmlns:a14="http://schemas.microsoft.com/office/drawing/2010/main" val="0"/>
              </a:ext>
            </a:extLst>
          </a:blip>
          <a:srcRect l="1" r="-1376" b="63604"/>
          <a:stretch/>
        </p:blipFill>
        <p:spPr>
          <a:xfrm>
            <a:off x="1225742" y="1787507"/>
            <a:ext cx="8378569" cy="2029945"/>
          </a:xfrm>
          <a:prstGeom prst="rect">
            <a:avLst/>
          </a:prstGeom>
        </p:spPr>
      </p:pic>
      <p:sp>
        <p:nvSpPr>
          <p:cNvPr id="3" name="任意多边形: 形状 2">
            <a:extLst>
              <a:ext uri="{FF2B5EF4-FFF2-40B4-BE49-F238E27FC236}">
                <a16:creationId xmlns:a16="http://schemas.microsoft.com/office/drawing/2014/main" id="{F5AF8F1F-296B-4485-8969-D1BA205C79E9}"/>
              </a:ext>
            </a:extLst>
          </p:cNvPr>
          <p:cNvSpPr/>
          <p:nvPr/>
        </p:nvSpPr>
        <p:spPr>
          <a:xfrm>
            <a:off x="1707242" y="3976569"/>
            <a:ext cx="3048000" cy="204021"/>
          </a:xfrm>
          <a:custGeom>
            <a:avLst/>
            <a:gdLst>
              <a:gd name="connsiteX0" fmla="*/ 0 w 3048000"/>
              <a:gd name="connsiteY0" fmla="*/ 189507 h 204021"/>
              <a:gd name="connsiteX1" fmla="*/ 101600 w 3048000"/>
              <a:gd name="connsiteY1" fmla="*/ 174993 h 204021"/>
              <a:gd name="connsiteX2" fmla="*/ 566058 w 3048000"/>
              <a:gd name="connsiteY2" fmla="*/ 821 h 204021"/>
              <a:gd name="connsiteX3" fmla="*/ 1059543 w 3048000"/>
              <a:gd name="connsiteY3" fmla="*/ 204021 h 204021"/>
              <a:gd name="connsiteX4" fmla="*/ 2002972 w 3048000"/>
              <a:gd name="connsiteY4" fmla="*/ 821 h 204021"/>
              <a:gd name="connsiteX5" fmla="*/ 3048000 w 3048000"/>
              <a:gd name="connsiteY5" fmla="*/ 145964 h 204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8000" h="204021">
                <a:moveTo>
                  <a:pt x="0" y="189507"/>
                </a:moveTo>
                <a:cubicBezTo>
                  <a:pt x="3628" y="197974"/>
                  <a:pt x="7257" y="206441"/>
                  <a:pt x="101600" y="174993"/>
                </a:cubicBezTo>
                <a:cubicBezTo>
                  <a:pt x="195943" y="143545"/>
                  <a:pt x="406401" y="-4017"/>
                  <a:pt x="566058" y="821"/>
                </a:cubicBezTo>
                <a:cubicBezTo>
                  <a:pt x="725715" y="5659"/>
                  <a:pt x="820057" y="204021"/>
                  <a:pt x="1059543" y="204021"/>
                </a:cubicBezTo>
                <a:cubicBezTo>
                  <a:pt x="1299029" y="204021"/>
                  <a:pt x="1671563" y="10497"/>
                  <a:pt x="2002972" y="821"/>
                </a:cubicBezTo>
                <a:cubicBezTo>
                  <a:pt x="2334381" y="-8855"/>
                  <a:pt x="2691190" y="68554"/>
                  <a:pt x="3048000" y="145964"/>
                </a:cubicBezTo>
              </a:path>
            </a:pathLst>
          </a:custGeom>
          <a:ln w="28575">
            <a:solidFill>
              <a:srgbClr val="A9D18E"/>
            </a:solidFill>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id="{751C5A87-99B3-4570-A496-4BB365F3F48B}"/>
              </a:ext>
            </a:extLst>
          </p:cNvPr>
          <p:cNvGrpSpPr/>
          <p:nvPr/>
        </p:nvGrpSpPr>
        <p:grpSpPr>
          <a:xfrm>
            <a:off x="6148614" y="3919316"/>
            <a:ext cx="3033486" cy="720011"/>
            <a:chOff x="6148614" y="3919316"/>
            <a:chExt cx="3033486" cy="720011"/>
          </a:xfrm>
        </p:grpSpPr>
        <p:sp>
          <p:nvSpPr>
            <p:cNvPr id="8" name="任意多边形: 形状 7">
              <a:extLst>
                <a:ext uri="{FF2B5EF4-FFF2-40B4-BE49-F238E27FC236}">
                  <a16:creationId xmlns:a16="http://schemas.microsoft.com/office/drawing/2014/main" id="{A1147246-8231-4635-B4FD-BBABAE2A95CC}"/>
                </a:ext>
              </a:extLst>
            </p:cNvPr>
            <p:cNvSpPr/>
            <p:nvPr/>
          </p:nvSpPr>
          <p:spPr>
            <a:xfrm>
              <a:off x="6148614" y="3919316"/>
              <a:ext cx="3033486" cy="275789"/>
            </a:xfrm>
            <a:custGeom>
              <a:avLst/>
              <a:gdLst>
                <a:gd name="connsiteX0" fmla="*/ 0 w 3033486"/>
                <a:gd name="connsiteY0" fmla="*/ 275789 h 275789"/>
                <a:gd name="connsiteX1" fmla="*/ 943428 w 3033486"/>
                <a:gd name="connsiteY1" fmla="*/ 17 h 275789"/>
                <a:gd name="connsiteX2" fmla="*/ 2061028 w 3033486"/>
                <a:gd name="connsiteY2" fmla="*/ 261274 h 275789"/>
                <a:gd name="connsiteX3" fmla="*/ 3033486 w 3033486"/>
                <a:gd name="connsiteY3" fmla="*/ 58074 h 275789"/>
              </a:gdLst>
              <a:ahLst/>
              <a:cxnLst>
                <a:cxn ang="0">
                  <a:pos x="connsiteX0" y="connsiteY0"/>
                </a:cxn>
                <a:cxn ang="0">
                  <a:pos x="connsiteX1" y="connsiteY1"/>
                </a:cxn>
                <a:cxn ang="0">
                  <a:pos x="connsiteX2" y="connsiteY2"/>
                </a:cxn>
                <a:cxn ang="0">
                  <a:pos x="connsiteX3" y="connsiteY3"/>
                </a:cxn>
              </a:cxnLst>
              <a:rect l="l" t="t" r="r" b="b"/>
              <a:pathLst>
                <a:path w="3033486" h="275789">
                  <a:moveTo>
                    <a:pt x="0" y="275789"/>
                  </a:moveTo>
                  <a:cubicBezTo>
                    <a:pt x="299961" y="139112"/>
                    <a:pt x="599923" y="2436"/>
                    <a:pt x="943428" y="17"/>
                  </a:cubicBezTo>
                  <a:cubicBezTo>
                    <a:pt x="1286933" y="-2402"/>
                    <a:pt x="1712685" y="251598"/>
                    <a:pt x="2061028" y="261274"/>
                  </a:cubicBezTo>
                  <a:cubicBezTo>
                    <a:pt x="2409371" y="270950"/>
                    <a:pt x="2721428" y="164512"/>
                    <a:pt x="3033486" y="58074"/>
                  </a:cubicBezTo>
                </a:path>
              </a:pathLst>
            </a:cu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7405C95D-8AE1-404A-AB1A-C49631B7899C}"/>
                </a:ext>
              </a:extLst>
            </p:cNvPr>
            <p:cNvSpPr txBox="1"/>
            <p:nvPr/>
          </p:nvSpPr>
          <p:spPr>
            <a:xfrm>
              <a:off x="6395357" y="4177662"/>
              <a:ext cx="2786743" cy="461665"/>
            </a:xfrm>
            <a:prstGeom prst="rect">
              <a:avLst/>
            </a:prstGeom>
            <a:noFill/>
          </p:spPr>
          <p:txBody>
            <a:bodyPr wrap="square" rtlCol="0">
              <a:spAutoFit/>
            </a:bodyPr>
            <a:lstStyle/>
            <a:p>
              <a:r>
                <a:rPr lang="en-US" altLang="zh-CN" sz="2400" dirty="0"/>
                <a:t>Current trajectory </a:t>
              </a:r>
              <a:endParaRPr lang="zh-CN" altLang="en-US" sz="2400" dirty="0"/>
            </a:p>
          </p:txBody>
        </p:sp>
        <p:sp>
          <p:nvSpPr>
            <p:cNvPr id="11" name="椭圆 10">
              <a:extLst>
                <a:ext uri="{FF2B5EF4-FFF2-40B4-BE49-F238E27FC236}">
                  <a16:creationId xmlns:a16="http://schemas.microsoft.com/office/drawing/2014/main" id="{1D328C25-583B-46E5-87B1-353B73D232A7}"/>
                </a:ext>
              </a:extLst>
            </p:cNvPr>
            <p:cNvSpPr/>
            <p:nvPr/>
          </p:nvSpPr>
          <p:spPr>
            <a:xfrm flipV="1">
              <a:off x="6262914" y="4039648"/>
              <a:ext cx="132443" cy="134540"/>
            </a:xfrm>
            <a:prstGeom prst="ellipse">
              <a:avLst/>
            </a:prstGeom>
            <a:solidFill>
              <a:srgbClr val="7030A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a:extLst>
              <a:ext uri="{FF2B5EF4-FFF2-40B4-BE49-F238E27FC236}">
                <a16:creationId xmlns:a16="http://schemas.microsoft.com/office/drawing/2014/main" id="{E889BD19-857C-4A62-A1BB-97859D1BA6EB}"/>
              </a:ext>
            </a:extLst>
          </p:cNvPr>
          <p:cNvGrpSpPr/>
          <p:nvPr/>
        </p:nvGrpSpPr>
        <p:grpSpPr>
          <a:xfrm>
            <a:off x="1707242" y="3905108"/>
            <a:ext cx="2786743" cy="737147"/>
            <a:chOff x="1707242" y="3905108"/>
            <a:chExt cx="2786743" cy="737147"/>
          </a:xfrm>
        </p:grpSpPr>
        <p:sp>
          <p:nvSpPr>
            <p:cNvPr id="27" name="文本框 26">
              <a:extLst>
                <a:ext uri="{FF2B5EF4-FFF2-40B4-BE49-F238E27FC236}">
                  <a16:creationId xmlns:a16="http://schemas.microsoft.com/office/drawing/2014/main" id="{B1471591-D520-4D8C-A175-5C5AF2D60181}"/>
                </a:ext>
              </a:extLst>
            </p:cNvPr>
            <p:cNvSpPr txBox="1"/>
            <p:nvPr/>
          </p:nvSpPr>
          <p:spPr>
            <a:xfrm>
              <a:off x="1707242" y="4180590"/>
              <a:ext cx="2786743" cy="461665"/>
            </a:xfrm>
            <a:prstGeom prst="rect">
              <a:avLst/>
            </a:prstGeom>
            <a:noFill/>
          </p:spPr>
          <p:txBody>
            <a:bodyPr wrap="square" rtlCol="0">
              <a:spAutoFit/>
            </a:bodyPr>
            <a:lstStyle/>
            <a:p>
              <a:r>
                <a:rPr lang="en-US" altLang="zh-CN" sz="2400" dirty="0"/>
                <a:t>Historical trajectory </a:t>
              </a:r>
              <a:endParaRPr lang="zh-CN" altLang="en-US" sz="2400" dirty="0"/>
            </a:p>
          </p:txBody>
        </p:sp>
        <p:sp>
          <p:nvSpPr>
            <p:cNvPr id="30" name="椭圆 29">
              <a:extLst>
                <a:ext uri="{FF2B5EF4-FFF2-40B4-BE49-F238E27FC236}">
                  <a16:creationId xmlns:a16="http://schemas.microsoft.com/office/drawing/2014/main" id="{88007440-E5E8-4708-8DA2-93594B90CC2B}"/>
                </a:ext>
              </a:extLst>
            </p:cNvPr>
            <p:cNvSpPr/>
            <p:nvPr/>
          </p:nvSpPr>
          <p:spPr>
            <a:xfrm flipV="1">
              <a:off x="4361542" y="3972378"/>
              <a:ext cx="132443" cy="134540"/>
            </a:xfrm>
            <a:prstGeom prst="ellipse">
              <a:avLst/>
            </a:prstGeom>
            <a:solidFill>
              <a:srgbClr val="FFCF4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9236EF8E-2705-4E71-9DF2-B077BD6CEA54}"/>
                </a:ext>
              </a:extLst>
            </p:cNvPr>
            <p:cNvSpPr/>
            <p:nvPr/>
          </p:nvSpPr>
          <p:spPr>
            <a:xfrm flipV="1">
              <a:off x="4034063" y="3944040"/>
              <a:ext cx="132443" cy="134540"/>
            </a:xfrm>
            <a:prstGeom prst="ellipse">
              <a:avLst/>
            </a:prstGeom>
            <a:solidFill>
              <a:srgbClr val="FFCF4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74C64426-6281-44C1-865A-52598D1CE874}"/>
                </a:ext>
              </a:extLst>
            </p:cNvPr>
            <p:cNvSpPr/>
            <p:nvPr/>
          </p:nvSpPr>
          <p:spPr>
            <a:xfrm flipV="1">
              <a:off x="3731894" y="3905108"/>
              <a:ext cx="132443" cy="134540"/>
            </a:xfrm>
            <a:prstGeom prst="ellipse">
              <a:avLst/>
            </a:prstGeom>
            <a:solidFill>
              <a:srgbClr val="FFCF4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37D7177F-C63E-426A-90FB-1D620BB7BF39}"/>
                </a:ext>
              </a:extLst>
            </p:cNvPr>
            <p:cNvSpPr/>
            <p:nvPr/>
          </p:nvSpPr>
          <p:spPr>
            <a:xfrm flipV="1">
              <a:off x="3379105" y="3944040"/>
              <a:ext cx="132443" cy="134540"/>
            </a:xfrm>
            <a:prstGeom prst="ellipse">
              <a:avLst/>
            </a:prstGeom>
            <a:solidFill>
              <a:srgbClr val="FFCF4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a:extLst>
              <a:ext uri="{FF2B5EF4-FFF2-40B4-BE49-F238E27FC236}">
                <a16:creationId xmlns:a16="http://schemas.microsoft.com/office/drawing/2014/main" id="{8C484CD4-9994-4697-AAC6-9FC38EAF005A}"/>
              </a:ext>
            </a:extLst>
          </p:cNvPr>
          <p:cNvGrpSpPr/>
          <p:nvPr/>
        </p:nvGrpSpPr>
        <p:grpSpPr>
          <a:xfrm>
            <a:off x="2184530" y="4715927"/>
            <a:ext cx="3883518" cy="1783873"/>
            <a:chOff x="4825499" y="4405297"/>
            <a:chExt cx="4296846" cy="1932472"/>
          </a:xfrm>
        </p:grpSpPr>
        <p:pic>
          <p:nvPicPr>
            <p:cNvPr id="37" name="Picture 2" descr="https://pic1.zhimg.com/80/v2-54fe529ded98721f35277a5bfa79febc_hd.jpg">
              <a:extLst>
                <a:ext uri="{FF2B5EF4-FFF2-40B4-BE49-F238E27FC236}">
                  <a16:creationId xmlns:a16="http://schemas.microsoft.com/office/drawing/2014/main" id="{5673BE16-1E87-49B1-8C33-4E20C95E40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25499" y="4498181"/>
              <a:ext cx="4296846" cy="183958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B37C208C-ACBF-4AC7-81E1-5C62850AE662}"/>
                    </a:ext>
                  </a:extLst>
                </p:cNvPr>
                <p:cNvSpPr txBox="1"/>
                <p:nvPr/>
              </p:nvSpPr>
              <p:spPr>
                <a:xfrm>
                  <a:off x="5050953" y="4713076"/>
                  <a:ext cx="31598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r>
                              <a:rPr lang="zh-CN" altLang="en-US" sz="2000" i="1">
                                <a:latin typeface="Cambria Math" panose="02040503050406030204" pitchFamily="18" charset="0"/>
                              </a:rPr>
                              <m:t>𝜏</m:t>
                            </m:r>
                          </m:e>
                          <m:sup>
                            <m:r>
                              <a:rPr lang="en-US" altLang="zh-CN" sz="2000" b="0" i="1" smtClean="0">
                                <a:latin typeface="Cambria Math" panose="02040503050406030204" pitchFamily="18" charset="0"/>
                              </a:rPr>
                              <m:t>1</m:t>
                            </m:r>
                          </m:sup>
                        </m:sSup>
                      </m:oMath>
                    </m:oMathPara>
                  </a14:m>
                  <a:endParaRPr lang="zh-CN" altLang="en-US" sz="2000" dirty="0"/>
                </a:p>
              </p:txBody>
            </p:sp>
          </mc:Choice>
          <mc:Fallback xmlns="">
            <p:sp>
              <p:nvSpPr>
                <p:cNvPr id="38" name="文本框 37">
                  <a:extLst>
                    <a:ext uri="{FF2B5EF4-FFF2-40B4-BE49-F238E27FC236}">
                      <a16:creationId xmlns:a16="http://schemas.microsoft.com/office/drawing/2014/main" id="{B37C208C-ACBF-4AC7-81E1-5C62850AE662}"/>
                    </a:ext>
                  </a:extLst>
                </p:cNvPr>
                <p:cNvSpPr txBox="1">
                  <a:spLocks noRot="1" noChangeAspect="1" noMove="1" noResize="1" noEditPoints="1" noAdjustHandles="1" noChangeArrowheads="1" noChangeShapeType="1" noTextEdit="1"/>
                </p:cNvSpPr>
                <p:nvPr/>
              </p:nvSpPr>
              <p:spPr>
                <a:xfrm>
                  <a:off x="5050953" y="4713076"/>
                  <a:ext cx="315984" cy="307777"/>
                </a:xfrm>
                <a:prstGeom prst="rect">
                  <a:avLst/>
                </a:prstGeom>
                <a:blipFill>
                  <a:blip r:embed="rId5"/>
                  <a:stretch>
                    <a:fillRect l="-17021" r="-8511"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43CF19DA-2A2C-4581-8D6C-F638E3935DF5}"/>
                    </a:ext>
                  </a:extLst>
                </p:cNvPr>
                <p:cNvSpPr txBox="1"/>
                <p:nvPr/>
              </p:nvSpPr>
              <p:spPr>
                <a:xfrm>
                  <a:off x="6069830" y="4405298"/>
                  <a:ext cx="32149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r>
                              <a:rPr lang="zh-CN" altLang="en-US" sz="2000" i="1">
                                <a:latin typeface="Cambria Math" panose="02040503050406030204" pitchFamily="18" charset="0"/>
                              </a:rPr>
                              <m:t>𝜏</m:t>
                            </m:r>
                          </m:e>
                          <m:sup>
                            <m:r>
                              <a:rPr lang="en-US" altLang="zh-CN" sz="2000" b="0" i="1" smtClean="0">
                                <a:latin typeface="Cambria Math" panose="02040503050406030204" pitchFamily="18" charset="0"/>
                              </a:rPr>
                              <m:t>2</m:t>
                            </m:r>
                          </m:sup>
                        </m:sSup>
                      </m:oMath>
                    </m:oMathPara>
                  </a14:m>
                  <a:endParaRPr lang="zh-CN" altLang="en-US" sz="2000" dirty="0"/>
                </a:p>
              </p:txBody>
            </p:sp>
          </mc:Choice>
          <mc:Fallback xmlns="">
            <p:sp>
              <p:nvSpPr>
                <p:cNvPr id="53" name="文本框 52">
                  <a:extLst>
                    <a:ext uri="{FF2B5EF4-FFF2-40B4-BE49-F238E27FC236}">
                      <a16:creationId xmlns:a16="http://schemas.microsoft.com/office/drawing/2014/main" id="{43CF19DA-2A2C-4581-8D6C-F638E3935DF5}"/>
                    </a:ext>
                  </a:extLst>
                </p:cNvPr>
                <p:cNvSpPr txBox="1">
                  <a:spLocks noRot="1" noChangeAspect="1" noMove="1" noResize="1" noEditPoints="1" noAdjustHandles="1" noChangeArrowheads="1" noChangeShapeType="1" noTextEdit="1"/>
                </p:cNvSpPr>
                <p:nvPr/>
              </p:nvSpPr>
              <p:spPr>
                <a:xfrm>
                  <a:off x="6069830" y="4405298"/>
                  <a:ext cx="321498" cy="307777"/>
                </a:xfrm>
                <a:prstGeom prst="rect">
                  <a:avLst/>
                </a:prstGeom>
                <a:blipFill>
                  <a:blip r:embed="rId6"/>
                  <a:stretch>
                    <a:fillRect l="-16667" r="-8333"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4B04A851-EDAB-4853-84C7-905B6EE0F676}"/>
                    </a:ext>
                  </a:extLst>
                </p:cNvPr>
                <p:cNvSpPr txBox="1"/>
                <p:nvPr/>
              </p:nvSpPr>
              <p:spPr>
                <a:xfrm>
                  <a:off x="6610103" y="4405298"/>
                  <a:ext cx="32149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r>
                              <a:rPr lang="zh-CN" altLang="en-US" sz="2000" i="1">
                                <a:latin typeface="Cambria Math" panose="02040503050406030204" pitchFamily="18" charset="0"/>
                              </a:rPr>
                              <m:t>𝜏</m:t>
                            </m:r>
                          </m:e>
                          <m:sup>
                            <m:r>
                              <a:rPr lang="en-US" altLang="zh-CN" sz="2000" b="0" i="1" smtClean="0">
                                <a:latin typeface="Cambria Math" panose="02040503050406030204" pitchFamily="18" charset="0"/>
                              </a:rPr>
                              <m:t>3</m:t>
                            </m:r>
                          </m:sup>
                        </m:sSup>
                      </m:oMath>
                    </m:oMathPara>
                  </a14:m>
                  <a:endParaRPr lang="zh-CN" altLang="en-US" sz="2000" dirty="0"/>
                </a:p>
              </p:txBody>
            </p:sp>
          </mc:Choice>
          <mc:Fallback xmlns="">
            <p:sp>
              <p:nvSpPr>
                <p:cNvPr id="54" name="文本框 53">
                  <a:extLst>
                    <a:ext uri="{FF2B5EF4-FFF2-40B4-BE49-F238E27FC236}">
                      <a16:creationId xmlns:a16="http://schemas.microsoft.com/office/drawing/2014/main" id="{4B04A851-EDAB-4853-84C7-905B6EE0F676}"/>
                    </a:ext>
                  </a:extLst>
                </p:cNvPr>
                <p:cNvSpPr txBox="1">
                  <a:spLocks noRot="1" noChangeAspect="1" noMove="1" noResize="1" noEditPoints="1" noAdjustHandles="1" noChangeArrowheads="1" noChangeShapeType="1" noTextEdit="1"/>
                </p:cNvSpPr>
                <p:nvPr/>
              </p:nvSpPr>
              <p:spPr>
                <a:xfrm>
                  <a:off x="6610103" y="4405298"/>
                  <a:ext cx="321498" cy="307777"/>
                </a:xfrm>
                <a:prstGeom prst="rect">
                  <a:avLst/>
                </a:prstGeom>
                <a:blipFill>
                  <a:blip r:embed="rId7"/>
                  <a:stretch>
                    <a:fillRect l="-14583" r="-10417"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57570A60-6F50-4DBA-A34E-0057E430C74C}"/>
                    </a:ext>
                  </a:extLst>
                </p:cNvPr>
                <p:cNvSpPr txBox="1"/>
                <p:nvPr/>
              </p:nvSpPr>
              <p:spPr>
                <a:xfrm>
                  <a:off x="7108543" y="4405298"/>
                  <a:ext cx="32149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r>
                              <a:rPr lang="zh-CN" altLang="en-US" sz="2000" i="1">
                                <a:latin typeface="Cambria Math" panose="02040503050406030204" pitchFamily="18" charset="0"/>
                              </a:rPr>
                              <m:t>𝜏</m:t>
                            </m:r>
                          </m:e>
                          <m:sup>
                            <m:r>
                              <a:rPr lang="en-US" altLang="zh-CN" sz="2000" b="0" i="1" smtClean="0">
                                <a:latin typeface="Cambria Math" panose="02040503050406030204" pitchFamily="18" charset="0"/>
                              </a:rPr>
                              <m:t>4</m:t>
                            </m:r>
                          </m:sup>
                        </m:sSup>
                      </m:oMath>
                    </m:oMathPara>
                  </a14:m>
                  <a:endParaRPr lang="zh-CN" altLang="en-US" sz="2000" dirty="0"/>
                </a:p>
              </p:txBody>
            </p:sp>
          </mc:Choice>
          <mc:Fallback xmlns="">
            <p:sp>
              <p:nvSpPr>
                <p:cNvPr id="55" name="文本框 54">
                  <a:extLst>
                    <a:ext uri="{FF2B5EF4-FFF2-40B4-BE49-F238E27FC236}">
                      <a16:creationId xmlns:a16="http://schemas.microsoft.com/office/drawing/2014/main" id="{57570A60-6F50-4DBA-A34E-0057E430C74C}"/>
                    </a:ext>
                  </a:extLst>
                </p:cNvPr>
                <p:cNvSpPr txBox="1">
                  <a:spLocks noRot="1" noChangeAspect="1" noMove="1" noResize="1" noEditPoints="1" noAdjustHandles="1" noChangeArrowheads="1" noChangeShapeType="1" noTextEdit="1"/>
                </p:cNvSpPr>
                <p:nvPr/>
              </p:nvSpPr>
              <p:spPr>
                <a:xfrm>
                  <a:off x="7108543" y="4405298"/>
                  <a:ext cx="321498" cy="307777"/>
                </a:xfrm>
                <a:prstGeom prst="rect">
                  <a:avLst/>
                </a:prstGeom>
                <a:blipFill>
                  <a:blip r:embed="rId8"/>
                  <a:stretch>
                    <a:fillRect l="-16667" r="-8333" b="-106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文本框 55">
                  <a:extLst>
                    <a:ext uri="{FF2B5EF4-FFF2-40B4-BE49-F238E27FC236}">
                      <a16:creationId xmlns:a16="http://schemas.microsoft.com/office/drawing/2014/main" id="{2ED1BAE9-BAC6-42C2-8D5E-7B2D01289FA3}"/>
                    </a:ext>
                  </a:extLst>
                </p:cNvPr>
                <p:cNvSpPr txBox="1"/>
                <p:nvPr/>
              </p:nvSpPr>
              <p:spPr>
                <a:xfrm>
                  <a:off x="7648816" y="4405297"/>
                  <a:ext cx="321498" cy="3113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altLang="zh-CN" sz="2000" i="1" smtClean="0">
                                <a:latin typeface="Cambria Math" panose="02040503050406030204" pitchFamily="18" charset="0"/>
                              </a:rPr>
                            </m:ctrlPr>
                          </m:sSupPr>
                          <m:e>
                            <m:r>
                              <a:rPr lang="zh-CN" altLang="en-US" sz="2000" i="1">
                                <a:latin typeface="Cambria Math" panose="02040503050406030204" pitchFamily="18" charset="0"/>
                              </a:rPr>
                              <m:t>𝜏</m:t>
                            </m:r>
                          </m:e>
                          <m:sup>
                            <m:r>
                              <a:rPr lang="en-US" altLang="zh-CN" sz="2000" b="0" i="1" smtClean="0">
                                <a:latin typeface="Cambria Math" panose="02040503050406030204" pitchFamily="18" charset="0"/>
                              </a:rPr>
                              <m:t>5</m:t>
                            </m:r>
                          </m:sup>
                        </m:sSup>
                      </m:oMath>
                    </m:oMathPara>
                  </a14:m>
                  <a:endParaRPr lang="zh-CN" altLang="en-US" sz="2000" dirty="0"/>
                </a:p>
              </p:txBody>
            </p:sp>
          </mc:Choice>
          <mc:Fallback xmlns="">
            <p:sp>
              <p:nvSpPr>
                <p:cNvPr id="56" name="文本框 55">
                  <a:extLst>
                    <a:ext uri="{FF2B5EF4-FFF2-40B4-BE49-F238E27FC236}">
                      <a16:creationId xmlns:a16="http://schemas.microsoft.com/office/drawing/2014/main" id="{2ED1BAE9-BAC6-42C2-8D5E-7B2D01289FA3}"/>
                    </a:ext>
                  </a:extLst>
                </p:cNvPr>
                <p:cNvSpPr txBox="1">
                  <a:spLocks noRot="1" noChangeAspect="1" noMove="1" noResize="1" noEditPoints="1" noAdjustHandles="1" noChangeArrowheads="1" noChangeShapeType="1" noTextEdit="1"/>
                </p:cNvSpPr>
                <p:nvPr/>
              </p:nvSpPr>
              <p:spPr>
                <a:xfrm>
                  <a:off x="7648816" y="4405297"/>
                  <a:ext cx="321498" cy="311304"/>
                </a:xfrm>
                <a:prstGeom prst="rect">
                  <a:avLst/>
                </a:prstGeom>
                <a:blipFill>
                  <a:blip r:embed="rId9"/>
                  <a:stretch>
                    <a:fillRect l="-14583" r="-10417" b="-8333"/>
                  </a:stretch>
                </a:blipFill>
              </p:spPr>
              <p:txBody>
                <a:bodyPr/>
                <a:lstStyle/>
                <a:p>
                  <a:r>
                    <a:rPr lang="zh-CN" altLang="en-US">
                      <a:noFill/>
                    </a:rPr>
                    <a:t> </a:t>
                  </a:r>
                </a:p>
              </p:txBody>
            </p:sp>
          </mc:Fallback>
        </mc:AlternateContent>
      </p:grpSp>
      <p:sp>
        <p:nvSpPr>
          <p:cNvPr id="12" name="矩形 11">
            <a:extLst>
              <a:ext uri="{FF2B5EF4-FFF2-40B4-BE49-F238E27FC236}">
                <a16:creationId xmlns:a16="http://schemas.microsoft.com/office/drawing/2014/main" id="{ED8A67C8-64EE-4F89-83D9-580D244B2078}"/>
              </a:ext>
            </a:extLst>
          </p:cNvPr>
          <p:cNvSpPr/>
          <p:nvPr/>
        </p:nvSpPr>
        <p:spPr>
          <a:xfrm>
            <a:off x="5243517" y="6032048"/>
            <a:ext cx="758372" cy="461665"/>
          </a:xfrm>
          <a:prstGeom prst="rect">
            <a:avLst/>
          </a:prstGeom>
          <a:solidFill>
            <a:schemeClr val="bg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a:extLst>
              <a:ext uri="{FF2B5EF4-FFF2-40B4-BE49-F238E27FC236}">
                <a16:creationId xmlns:a16="http://schemas.microsoft.com/office/drawing/2014/main" id="{AAB209D3-51C2-469B-99BE-BD490AA73CFF}"/>
              </a:ext>
            </a:extLst>
          </p:cNvPr>
          <p:cNvSpPr txBox="1"/>
          <p:nvPr/>
        </p:nvSpPr>
        <p:spPr>
          <a:xfrm>
            <a:off x="6331857" y="5080821"/>
            <a:ext cx="5383156" cy="1200329"/>
          </a:xfrm>
          <a:prstGeom prst="rect">
            <a:avLst/>
          </a:prstGeom>
          <a:noFill/>
        </p:spPr>
        <p:txBody>
          <a:bodyPr wrap="square" rtlCol="0">
            <a:spAutoFit/>
          </a:bodyPr>
          <a:lstStyle/>
          <a:p>
            <a:r>
              <a:rPr lang="en-US" altLang="zh-CN" sz="2400" i="1" dirty="0">
                <a:solidFill>
                  <a:schemeClr val="accent1"/>
                </a:solidFill>
              </a:rPr>
              <a:t>Fuse history and current observed location based on spatial-temporal similarity.</a:t>
            </a:r>
            <a:endParaRPr lang="zh-CN" altLang="en-US" sz="2400" i="1" dirty="0">
              <a:solidFill>
                <a:schemeClr val="accent1"/>
              </a:solidFill>
            </a:endParaRPr>
          </a:p>
        </p:txBody>
      </p:sp>
      <p:sp>
        <p:nvSpPr>
          <p:cNvPr id="62" name="椭圆 61">
            <a:extLst>
              <a:ext uri="{FF2B5EF4-FFF2-40B4-BE49-F238E27FC236}">
                <a16:creationId xmlns:a16="http://schemas.microsoft.com/office/drawing/2014/main" id="{68129586-2640-4104-A8E4-22899FF98278}"/>
              </a:ext>
            </a:extLst>
          </p:cNvPr>
          <p:cNvSpPr/>
          <p:nvPr/>
        </p:nvSpPr>
        <p:spPr>
          <a:xfrm flipV="1">
            <a:off x="2242247" y="5625395"/>
            <a:ext cx="132443" cy="134540"/>
          </a:xfrm>
          <a:prstGeom prst="ellipse">
            <a:avLst/>
          </a:prstGeom>
          <a:solidFill>
            <a:srgbClr val="7030A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a:extLst>
              <a:ext uri="{FF2B5EF4-FFF2-40B4-BE49-F238E27FC236}">
                <a16:creationId xmlns:a16="http://schemas.microsoft.com/office/drawing/2014/main" id="{FE7CBF57-0052-4802-998B-0F2D6804A1CB}"/>
              </a:ext>
            </a:extLst>
          </p:cNvPr>
          <p:cNvSpPr/>
          <p:nvPr/>
        </p:nvSpPr>
        <p:spPr>
          <a:xfrm flipV="1">
            <a:off x="2515329" y="5625395"/>
            <a:ext cx="132443" cy="134540"/>
          </a:xfrm>
          <a:prstGeom prst="ellipse">
            <a:avLst/>
          </a:prstGeom>
          <a:solidFill>
            <a:srgbClr val="7030A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a:extLst>
              <a:ext uri="{FF2B5EF4-FFF2-40B4-BE49-F238E27FC236}">
                <a16:creationId xmlns:a16="http://schemas.microsoft.com/office/drawing/2014/main" id="{764E2FBD-A893-483B-8A0A-4DDFB6DA8977}"/>
              </a:ext>
            </a:extLst>
          </p:cNvPr>
          <p:cNvSpPr/>
          <p:nvPr/>
        </p:nvSpPr>
        <p:spPr>
          <a:xfrm flipV="1">
            <a:off x="3316875" y="4632389"/>
            <a:ext cx="132443" cy="134540"/>
          </a:xfrm>
          <a:prstGeom prst="ellipse">
            <a:avLst/>
          </a:prstGeom>
          <a:solidFill>
            <a:srgbClr val="FFCF4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a:extLst>
              <a:ext uri="{FF2B5EF4-FFF2-40B4-BE49-F238E27FC236}">
                <a16:creationId xmlns:a16="http://schemas.microsoft.com/office/drawing/2014/main" id="{DAD3C91C-234B-4C7F-8D70-A1B3CB61283F}"/>
              </a:ext>
            </a:extLst>
          </p:cNvPr>
          <p:cNvSpPr/>
          <p:nvPr/>
        </p:nvSpPr>
        <p:spPr>
          <a:xfrm flipV="1">
            <a:off x="3800393" y="4629241"/>
            <a:ext cx="132443" cy="134540"/>
          </a:xfrm>
          <a:prstGeom prst="ellipse">
            <a:avLst/>
          </a:prstGeom>
          <a:solidFill>
            <a:srgbClr val="FFCF4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a:extLst>
              <a:ext uri="{FF2B5EF4-FFF2-40B4-BE49-F238E27FC236}">
                <a16:creationId xmlns:a16="http://schemas.microsoft.com/office/drawing/2014/main" id="{2B55451A-64D4-4709-AB85-A740F54B3298}"/>
              </a:ext>
            </a:extLst>
          </p:cNvPr>
          <p:cNvSpPr/>
          <p:nvPr/>
        </p:nvSpPr>
        <p:spPr>
          <a:xfrm flipV="1">
            <a:off x="4262488" y="4629241"/>
            <a:ext cx="132443" cy="134540"/>
          </a:xfrm>
          <a:prstGeom prst="ellipse">
            <a:avLst/>
          </a:prstGeom>
          <a:solidFill>
            <a:srgbClr val="FFCF4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a:extLst>
              <a:ext uri="{FF2B5EF4-FFF2-40B4-BE49-F238E27FC236}">
                <a16:creationId xmlns:a16="http://schemas.microsoft.com/office/drawing/2014/main" id="{8A3EC4A2-7CC6-4FBE-83FA-C746B6BB672B}"/>
              </a:ext>
            </a:extLst>
          </p:cNvPr>
          <p:cNvSpPr/>
          <p:nvPr/>
        </p:nvSpPr>
        <p:spPr>
          <a:xfrm flipV="1">
            <a:off x="4747421" y="4624258"/>
            <a:ext cx="132443" cy="134540"/>
          </a:xfrm>
          <a:prstGeom prst="ellipse">
            <a:avLst/>
          </a:prstGeom>
          <a:solidFill>
            <a:srgbClr val="FFCF4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8" name="直接连接符 67">
            <a:extLst>
              <a:ext uri="{FF2B5EF4-FFF2-40B4-BE49-F238E27FC236}">
                <a16:creationId xmlns:a16="http://schemas.microsoft.com/office/drawing/2014/main" id="{16D49ABD-F164-4E80-B4FA-C61572D3C44C}"/>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D8E024D1-E1F3-4722-8D2A-1AD1CA36FD20}"/>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417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1" grpId="0"/>
      <p:bldP spid="62" grpId="0" animBg="1"/>
      <p:bldP spid="63" grpId="0" animBg="1"/>
      <p:bldP spid="64" grpId="0" animBg="1"/>
      <p:bldP spid="65" grpId="0" animBg="1"/>
      <p:bldP spid="66" grpId="0" animBg="1"/>
      <p:bldP spid="6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02F14BEC-EDE4-4AFB-A80F-61E898A22F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7804" y="389387"/>
            <a:ext cx="6811161" cy="6036996"/>
          </a:xfrm>
          <a:prstGeom prst="rect">
            <a:avLst/>
          </a:prstGeom>
        </p:spPr>
      </p:pic>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9240" y="495734"/>
            <a:ext cx="1822935" cy="486287"/>
          </a:xfrm>
        </p:spPr>
        <p:txBody>
          <a:bodyPr/>
          <a:lstStyle/>
          <a:p>
            <a:pPr>
              <a:lnSpc>
                <a:spcPct val="80000"/>
              </a:lnSpc>
            </a:pPr>
            <a:r>
              <a:rPr lang="af-ZA" altLang="zh-CN" dirty="0"/>
              <a:t>Solution</a:t>
            </a:r>
            <a:endParaRPr lang="zh-CN" altLang="en-US" dirty="0"/>
          </a:p>
        </p:txBody>
      </p:sp>
      <p:sp>
        <p:nvSpPr>
          <p:cNvPr id="2" name="灯片编号占位符 1"/>
          <p:cNvSpPr>
            <a:spLocks noGrp="1"/>
          </p:cNvSpPr>
          <p:nvPr>
            <p:ph type="sldNum" sz="quarter" idx="10"/>
          </p:nvPr>
        </p:nvSpPr>
        <p:spPr>
          <a:xfrm>
            <a:off x="11207579" y="6210952"/>
            <a:ext cx="749643" cy="378081"/>
          </a:xfrm>
        </p:spPr>
        <p:txBody>
          <a:bodyPr/>
          <a:lstStyle/>
          <a:p>
            <a:fld id="{3A7104C2-2265-4AB9-B90C-4162FA6B94AE}" type="slidenum">
              <a:rPr lang="zh-CN" altLang="en-US" smtClean="0"/>
              <a:pPr/>
              <a:t>13</a:t>
            </a:fld>
            <a:endParaRPr lang="zh-CN" altLang="en-US" dirty="0"/>
          </a:p>
        </p:txBody>
      </p:sp>
      <p:cxnSp>
        <p:nvCxnSpPr>
          <p:cNvPr id="68" name="直接连接符 67">
            <a:extLst>
              <a:ext uri="{FF2B5EF4-FFF2-40B4-BE49-F238E27FC236}">
                <a16:creationId xmlns:a16="http://schemas.microsoft.com/office/drawing/2014/main" id="{16D49ABD-F164-4E80-B4FA-C61572D3C44C}"/>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D8E024D1-E1F3-4722-8D2A-1AD1CA36FD20}"/>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716D21C5-83F0-4F4B-8604-095D04AA57CF}"/>
              </a:ext>
            </a:extLst>
          </p:cNvPr>
          <p:cNvSpPr txBox="1"/>
          <p:nvPr/>
        </p:nvSpPr>
        <p:spPr>
          <a:xfrm>
            <a:off x="353035" y="1788968"/>
            <a:ext cx="5114315" cy="83099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i="1" dirty="0"/>
              <a:t>Challenge1: sparsity</a:t>
            </a:r>
          </a:p>
          <a:p>
            <a:pPr marL="800100" lvl="1" indent="-342900">
              <a:buFont typeface="Arial" panose="020B0604020202020204" pitchFamily="34" charset="0"/>
              <a:buChar char="•"/>
            </a:pPr>
            <a:r>
              <a:rPr lang="en-US" altLang="zh-CN" sz="2400" i="1" dirty="0">
                <a:solidFill>
                  <a:srgbClr val="C00000"/>
                </a:solidFill>
              </a:rPr>
              <a:t>Intra-trajectory attention</a:t>
            </a:r>
          </a:p>
        </p:txBody>
      </p:sp>
      <p:sp>
        <p:nvSpPr>
          <p:cNvPr id="72" name="文本框 71">
            <a:extLst>
              <a:ext uri="{FF2B5EF4-FFF2-40B4-BE49-F238E27FC236}">
                <a16:creationId xmlns:a16="http://schemas.microsoft.com/office/drawing/2014/main" id="{68684962-CFB1-450C-83C2-7CA856989E94}"/>
              </a:ext>
            </a:extLst>
          </p:cNvPr>
          <p:cNvSpPr txBox="1"/>
          <p:nvPr/>
        </p:nvSpPr>
        <p:spPr>
          <a:xfrm>
            <a:off x="353035" y="2739931"/>
            <a:ext cx="5114315" cy="1200329"/>
          </a:xfrm>
          <a:prstGeom prst="rect">
            <a:avLst/>
          </a:prstGeom>
          <a:noFill/>
        </p:spPr>
        <p:txBody>
          <a:bodyPr wrap="square" rtlCol="0">
            <a:spAutoFit/>
          </a:bodyPr>
          <a:lstStyle/>
          <a:p>
            <a:pPr marL="342900" indent="-342900">
              <a:buFont typeface="Arial" panose="020B0604020202020204" pitchFamily="34" charset="0"/>
              <a:buChar char="•"/>
            </a:pPr>
            <a:r>
              <a:rPr lang="en-US" altLang="zh-CN" sz="2400" i="1" dirty="0"/>
              <a:t>Challenge2: Noisy history </a:t>
            </a:r>
          </a:p>
          <a:p>
            <a:pPr marL="800100" lvl="1" indent="-342900">
              <a:buFont typeface="Arial" panose="020B0604020202020204" pitchFamily="34" charset="0"/>
              <a:buChar char="•"/>
            </a:pPr>
            <a:r>
              <a:rPr lang="en-US" altLang="zh-CN" sz="2400" i="1" dirty="0">
                <a:solidFill>
                  <a:srgbClr val="C00000"/>
                </a:solidFill>
              </a:rPr>
              <a:t>Max aggregation and attentional smoothing</a:t>
            </a:r>
          </a:p>
        </p:txBody>
      </p:sp>
      <p:sp>
        <p:nvSpPr>
          <p:cNvPr id="73" name="文本框 72">
            <a:extLst>
              <a:ext uri="{FF2B5EF4-FFF2-40B4-BE49-F238E27FC236}">
                <a16:creationId xmlns:a16="http://schemas.microsoft.com/office/drawing/2014/main" id="{1A2943BB-131F-4109-9DB4-32539232DC48}"/>
              </a:ext>
            </a:extLst>
          </p:cNvPr>
          <p:cNvSpPr txBox="1"/>
          <p:nvPr/>
        </p:nvSpPr>
        <p:spPr>
          <a:xfrm>
            <a:off x="353035" y="4064513"/>
            <a:ext cx="6276365" cy="83099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i="1" dirty="0"/>
              <a:t>Challenge3: Varied history importance</a:t>
            </a:r>
          </a:p>
          <a:p>
            <a:pPr marL="800100" lvl="1" indent="-342900">
              <a:buFont typeface="Arial" panose="020B0604020202020204" pitchFamily="34" charset="0"/>
              <a:buChar char="•"/>
            </a:pPr>
            <a:r>
              <a:rPr lang="en-US" altLang="zh-CN" sz="2400" i="1" dirty="0">
                <a:solidFill>
                  <a:srgbClr val="C00000"/>
                </a:solidFill>
              </a:rPr>
              <a:t>Inter-trajectory attention</a:t>
            </a:r>
          </a:p>
        </p:txBody>
      </p:sp>
    </p:spTree>
    <p:extLst>
      <p:ext uri="{BB962C8B-B14F-4D97-AF65-F5344CB8AC3E}">
        <p14:creationId xmlns:p14="http://schemas.microsoft.com/office/powerpoint/2010/main" val="1813376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FFFB8BC0-B83B-4E7F-8CE3-81AF6AF9E974}"/>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237C044-0447-4E3D-AB72-8C98BE5C3E07}"/>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8115" y="495734"/>
            <a:ext cx="2645276" cy="486287"/>
          </a:xfrm>
        </p:spPr>
        <p:txBody>
          <a:bodyPr/>
          <a:lstStyle/>
          <a:p>
            <a:pPr>
              <a:lnSpc>
                <a:spcPct val="80000"/>
              </a:lnSpc>
            </a:pPr>
            <a:r>
              <a:rPr lang="en-US" altLang="zh-CN" dirty="0"/>
              <a:t>Experiments</a:t>
            </a:r>
            <a:endParaRPr lang="zh-CN" altLang="en-US" dirty="0"/>
          </a:p>
        </p:txBody>
      </p:sp>
      <p:sp>
        <p:nvSpPr>
          <p:cNvPr id="2" name="灯片编号占位符 1"/>
          <p:cNvSpPr>
            <a:spLocks noGrp="1"/>
          </p:cNvSpPr>
          <p:nvPr>
            <p:ph type="sldNum" sz="quarter" idx="12"/>
          </p:nvPr>
        </p:nvSpPr>
        <p:spPr/>
        <p:txBody>
          <a:bodyPr/>
          <a:lstStyle/>
          <a:p>
            <a:fld id="{3A7104C2-2265-4AB9-B90C-4162FA6B94AE}" type="slidenum">
              <a:rPr lang="zh-CN" altLang="en-US" smtClean="0"/>
              <a:pPr/>
              <a:t>14</a:t>
            </a:fld>
            <a:endParaRPr lang="zh-CN" altLang="en-US" dirty="0"/>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260" y="1591910"/>
            <a:ext cx="5868364" cy="1309866"/>
          </a:xfrm>
          <a:prstGeom prst="rect">
            <a:avLst/>
          </a:prstGeom>
        </p:spPr>
      </p:pic>
      <p:sp>
        <p:nvSpPr>
          <p:cNvPr id="15" name="文本框 14"/>
          <p:cNvSpPr txBox="1"/>
          <p:nvPr/>
        </p:nvSpPr>
        <p:spPr>
          <a:xfrm>
            <a:off x="6937422" y="1664381"/>
            <a:ext cx="5901160"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dirty="0"/>
              <a:t>Spatial and temporal granularity</a:t>
            </a:r>
            <a:endParaRPr lang="zh-CN" altLang="en-US" sz="2400" dirty="0"/>
          </a:p>
        </p:txBody>
      </p:sp>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02056" y="2260940"/>
            <a:ext cx="1739085" cy="1480573"/>
          </a:xfrm>
          <a:prstGeom prst="rect">
            <a:avLst/>
          </a:prstGeom>
        </p:spPr>
      </p:pic>
      <p:pic>
        <p:nvPicPr>
          <p:cNvPr id="6" name="图片 5"/>
          <p:cNvPicPr>
            <a:picLocks noChangeAspect="1"/>
          </p:cNvPicPr>
          <p:nvPr/>
        </p:nvPicPr>
        <p:blipFill rotWithShape="1">
          <a:blip r:embed="rId5">
            <a:extLst>
              <a:ext uri="{28A0092B-C50C-407E-A947-70E740481C1C}">
                <a14:useLocalDpi xmlns:a14="http://schemas.microsoft.com/office/drawing/2010/main" val="0"/>
              </a:ext>
            </a:extLst>
          </a:blip>
          <a:srcRect l="1180" t="8895"/>
          <a:stretch/>
        </p:blipFill>
        <p:spPr>
          <a:xfrm>
            <a:off x="9384606" y="2161051"/>
            <a:ext cx="2033286" cy="1707919"/>
          </a:xfrm>
          <a:prstGeom prst="rect">
            <a:avLst/>
          </a:prstGeom>
        </p:spPr>
      </p:pic>
      <p:sp>
        <p:nvSpPr>
          <p:cNvPr id="7" name="文本框 6"/>
          <p:cNvSpPr txBox="1"/>
          <p:nvPr/>
        </p:nvSpPr>
        <p:spPr>
          <a:xfrm>
            <a:off x="11052347" y="3009110"/>
            <a:ext cx="904875" cy="369332"/>
          </a:xfrm>
          <a:prstGeom prst="rect">
            <a:avLst/>
          </a:prstGeom>
          <a:noFill/>
        </p:spPr>
        <p:txBody>
          <a:bodyPr wrap="square" rtlCol="0">
            <a:spAutoFit/>
          </a:bodyPr>
          <a:lstStyle/>
          <a:p>
            <a:r>
              <a:rPr lang="en-US" altLang="zh-CN" i="1" dirty="0"/>
              <a:t>30min</a:t>
            </a:r>
            <a:endParaRPr lang="zh-CN" altLang="en-US" i="1" dirty="0"/>
          </a:p>
        </p:txBody>
      </p:sp>
      <p:sp>
        <p:nvSpPr>
          <p:cNvPr id="21" name="文本框 20"/>
          <p:cNvSpPr txBox="1"/>
          <p:nvPr/>
        </p:nvSpPr>
        <p:spPr>
          <a:xfrm>
            <a:off x="588115" y="3118944"/>
            <a:ext cx="8253377"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dirty="0"/>
              <a:t>Evaluation methodology </a:t>
            </a:r>
          </a:p>
        </p:txBody>
      </p:sp>
      <p:sp>
        <p:nvSpPr>
          <p:cNvPr id="9" name="矩形 8"/>
          <p:cNvSpPr/>
          <p:nvPr/>
        </p:nvSpPr>
        <p:spPr>
          <a:xfrm>
            <a:off x="905058" y="3714795"/>
            <a:ext cx="5753626" cy="2246769"/>
          </a:xfrm>
          <a:prstGeom prst="rect">
            <a:avLst/>
          </a:prstGeom>
        </p:spPr>
        <p:txBody>
          <a:bodyPr wrap="square">
            <a:spAutoFit/>
          </a:bodyPr>
          <a:lstStyle/>
          <a:p>
            <a:pPr marL="342900" indent="-342900">
              <a:buFont typeface="Arial" panose="020B0604020202020204" pitchFamily="34" charset="0"/>
              <a:buChar char="•"/>
            </a:pPr>
            <a:r>
              <a:rPr lang="en-US" altLang="zh-CN" sz="2000" dirty="0"/>
              <a:t>Randomly mask 30 and 10 time intervals of each, the overall remained number is less than 10 (i.e., 20% of one day). </a:t>
            </a:r>
          </a:p>
          <a:p>
            <a:pPr marL="342900" indent="-342900">
              <a:buFont typeface="Arial" panose="020B0604020202020204" pitchFamily="34" charset="0"/>
              <a:buChar char="•"/>
            </a:pPr>
            <a:r>
              <a:rPr lang="en-US" altLang="zh-CN" sz="2000" dirty="0"/>
              <a:t>Sparse trajectories as the input, and masked locations as ground truth</a:t>
            </a:r>
          </a:p>
          <a:p>
            <a:pPr marL="342900" indent="-342900">
              <a:buFont typeface="Arial" panose="020B0604020202020204" pitchFamily="34" charset="0"/>
              <a:buChar char="•"/>
            </a:pPr>
            <a:r>
              <a:rPr lang="en-US" altLang="zh-CN" sz="2000" dirty="0"/>
              <a:t>Sort each user’s trajectory by time,  7:1:2</a:t>
            </a:r>
            <a:r>
              <a:rPr lang="zh-CN" altLang="en-US" sz="2000" dirty="0"/>
              <a:t> </a:t>
            </a:r>
            <a:r>
              <a:rPr lang="en-US" altLang="zh-CN" sz="2000" dirty="0"/>
              <a:t>for train, validation and test</a:t>
            </a:r>
            <a:endParaRPr lang="zh-CN" altLang="en-US" sz="2400" dirty="0"/>
          </a:p>
        </p:txBody>
      </p:sp>
      <p:sp>
        <p:nvSpPr>
          <p:cNvPr id="22" name="文本框 21"/>
          <p:cNvSpPr txBox="1"/>
          <p:nvPr/>
        </p:nvSpPr>
        <p:spPr>
          <a:xfrm>
            <a:off x="6925658" y="4088119"/>
            <a:ext cx="5031564"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dirty="0"/>
              <a:t>Metric</a:t>
            </a:r>
          </a:p>
        </p:txBody>
      </p:sp>
      <p:sp>
        <p:nvSpPr>
          <p:cNvPr id="23" name="矩形 22"/>
          <p:cNvSpPr/>
          <p:nvPr/>
        </p:nvSpPr>
        <p:spPr>
          <a:xfrm>
            <a:off x="7174677" y="4669250"/>
            <a:ext cx="5670427" cy="1323439"/>
          </a:xfrm>
          <a:prstGeom prst="rect">
            <a:avLst/>
          </a:prstGeom>
        </p:spPr>
        <p:txBody>
          <a:bodyPr wrap="square">
            <a:spAutoFit/>
          </a:bodyPr>
          <a:lstStyle/>
          <a:p>
            <a:pPr marL="342900" indent="-342900">
              <a:buFont typeface="Arial" panose="020B0604020202020204" pitchFamily="34" charset="0"/>
              <a:buChar char="•"/>
            </a:pPr>
            <a:r>
              <a:rPr lang="en-US" altLang="zh-CN" sz="2000" b="1" i="1" dirty="0"/>
              <a:t>MAP</a:t>
            </a:r>
            <a:r>
              <a:rPr lang="zh-CN" altLang="en-US" sz="2000" dirty="0"/>
              <a:t>：</a:t>
            </a:r>
            <a:r>
              <a:rPr lang="en-US" altLang="zh-CN" sz="2000" dirty="0"/>
              <a:t>Average precision</a:t>
            </a:r>
          </a:p>
          <a:p>
            <a:pPr marL="342900" indent="-342900">
              <a:buFont typeface="Arial" panose="020B0604020202020204" pitchFamily="34" charset="0"/>
              <a:buChar char="•"/>
            </a:pPr>
            <a:r>
              <a:rPr lang="en-US" altLang="zh-CN" sz="2000" b="1" i="1" dirty="0"/>
              <a:t>Recall:</a:t>
            </a:r>
            <a:r>
              <a:rPr lang="zh-CN" altLang="en-US" sz="2000" b="1" i="1" dirty="0"/>
              <a:t> </a:t>
            </a:r>
            <a:r>
              <a:rPr lang="en-US" altLang="zh-CN" sz="2000" dirty="0"/>
              <a:t>Top1 hit-ration</a:t>
            </a:r>
          </a:p>
          <a:p>
            <a:pPr marL="342900" indent="-342900">
              <a:buFont typeface="Arial" panose="020B0604020202020204" pitchFamily="34" charset="0"/>
              <a:buChar char="•"/>
            </a:pPr>
            <a:r>
              <a:rPr lang="en-US" altLang="zh-CN" sz="2000" b="1" i="1" dirty="0"/>
              <a:t>Distance</a:t>
            </a:r>
            <a:r>
              <a:rPr lang="en-US" altLang="zh-CN" sz="2000" dirty="0"/>
              <a:t>: Average geographical error</a:t>
            </a:r>
          </a:p>
          <a:p>
            <a:pPr marL="342900" indent="-342900">
              <a:buFont typeface="Arial" panose="020B0604020202020204" pitchFamily="34" charset="0"/>
              <a:buChar char="•"/>
            </a:pPr>
            <a:endParaRPr lang="en-US" altLang="zh-CN" sz="2000" dirty="0"/>
          </a:p>
        </p:txBody>
      </p:sp>
      <p:sp>
        <p:nvSpPr>
          <p:cNvPr id="17" name="文本框 16">
            <a:extLst>
              <a:ext uri="{FF2B5EF4-FFF2-40B4-BE49-F238E27FC236}">
                <a16:creationId xmlns:a16="http://schemas.microsoft.com/office/drawing/2014/main" id="{112E096A-BD22-4567-BAA0-ACF29CCAF18B}"/>
              </a:ext>
            </a:extLst>
          </p:cNvPr>
          <p:cNvSpPr txBox="1"/>
          <p:nvPr/>
        </p:nvSpPr>
        <p:spPr>
          <a:xfrm>
            <a:off x="588114" y="1067822"/>
            <a:ext cx="8253377"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dirty="0"/>
              <a:t>Dataset</a:t>
            </a:r>
            <a:r>
              <a:rPr lang="zh-CN" altLang="en-US" sz="2400" dirty="0"/>
              <a:t> </a:t>
            </a:r>
            <a:endParaRPr lang="en-US" altLang="zh-CN" sz="2400" dirty="0"/>
          </a:p>
        </p:txBody>
      </p:sp>
      <p:cxnSp>
        <p:nvCxnSpPr>
          <p:cNvPr id="10" name="直接箭头连接符 9">
            <a:extLst>
              <a:ext uri="{FF2B5EF4-FFF2-40B4-BE49-F238E27FC236}">
                <a16:creationId xmlns:a16="http://schemas.microsoft.com/office/drawing/2014/main" id="{5524DBDD-9331-4BB3-A5FD-7FB2529A22C1}"/>
              </a:ext>
            </a:extLst>
          </p:cNvPr>
          <p:cNvCxnSpPr/>
          <p:nvPr/>
        </p:nvCxnSpPr>
        <p:spPr>
          <a:xfrm flipV="1">
            <a:off x="10528300" y="4695037"/>
            <a:ext cx="0" cy="2706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4FE4F5C0-8308-4753-B447-CC8506E327EB}"/>
              </a:ext>
            </a:extLst>
          </p:cNvPr>
          <p:cNvCxnSpPr/>
          <p:nvPr/>
        </p:nvCxnSpPr>
        <p:spPr>
          <a:xfrm flipV="1">
            <a:off x="10198100" y="5034906"/>
            <a:ext cx="0" cy="27066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E906700F-0C8F-4D9F-9872-55708115AB77}"/>
              </a:ext>
            </a:extLst>
          </p:cNvPr>
          <p:cNvCxnSpPr>
            <a:cxnSpLocks/>
          </p:cNvCxnSpPr>
          <p:nvPr/>
        </p:nvCxnSpPr>
        <p:spPr>
          <a:xfrm>
            <a:off x="11944522" y="5305569"/>
            <a:ext cx="0" cy="317499"/>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9089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p:bldP spid="21" grpId="0"/>
      <p:bldP spid="9" grpId="0"/>
      <p:bldP spid="22" grpId="0"/>
      <p:bldP spid="23" grpId="0"/>
      <p:bldP spid="1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FFFB8BC0-B83B-4E7F-8CE3-81AF6AF9E974}"/>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237C044-0447-4E3D-AB72-8C98BE5C3E07}"/>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8115" y="495734"/>
            <a:ext cx="1664238" cy="486287"/>
          </a:xfrm>
        </p:spPr>
        <p:txBody>
          <a:bodyPr/>
          <a:lstStyle/>
          <a:p>
            <a:pPr>
              <a:lnSpc>
                <a:spcPct val="80000"/>
              </a:lnSpc>
            </a:pPr>
            <a:r>
              <a:rPr lang="en-US" altLang="zh-CN" dirty="0"/>
              <a:t>Results</a:t>
            </a:r>
            <a:endParaRPr lang="zh-CN" altLang="en-US" dirty="0"/>
          </a:p>
        </p:txBody>
      </p:sp>
      <p:sp>
        <p:nvSpPr>
          <p:cNvPr id="2" name="灯片编号占位符 1"/>
          <p:cNvSpPr>
            <a:spLocks noGrp="1"/>
          </p:cNvSpPr>
          <p:nvPr>
            <p:ph type="sldNum" sz="quarter" idx="12"/>
          </p:nvPr>
        </p:nvSpPr>
        <p:spPr/>
        <p:txBody>
          <a:bodyPr/>
          <a:lstStyle/>
          <a:p>
            <a:fld id="{3A7104C2-2265-4AB9-B90C-4162FA6B94AE}" type="slidenum">
              <a:rPr lang="zh-CN" altLang="en-US" smtClean="0"/>
              <a:pPr/>
              <a:t>15</a:t>
            </a:fld>
            <a:endParaRPr lang="zh-CN" altLang="en-US" dirty="0"/>
          </a:p>
        </p:txBody>
      </p:sp>
      <p:sp>
        <p:nvSpPr>
          <p:cNvPr id="12" name="矩形 11"/>
          <p:cNvSpPr/>
          <p:nvPr/>
        </p:nvSpPr>
        <p:spPr>
          <a:xfrm>
            <a:off x="1021080" y="1638595"/>
            <a:ext cx="11399520" cy="1166410"/>
          </a:xfrm>
          <a:prstGeom prst="rect">
            <a:avLst/>
          </a:prstGeom>
        </p:spPr>
        <p:txBody>
          <a:bodyPr wrap="square">
            <a:spAutoFit/>
          </a:bodyPr>
          <a:lstStyle/>
          <a:p>
            <a:pPr marL="342900" indent="-342900">
              <a:lnSpc>
                <a:spcPct val="120000"/>
              </a:lnSpc>
              <a:buFont typeface="Arial" panose="020B0604020202020204" pitchFamily="34" charset="0"/>
              <a:buChar char="•"/>
            </a:pPr>
            <a:r>
              <a:rPr lang="en-US" altLang="zh-CN" sz="2000" b="1" dirty="0"/>
              <a:t>Top</a:t>
            </a:r>
            <a:r>
              <a:rPr lang="en-US" altLang="zh-CN" sz="2000" dirty="0"/>
              <a:t>: Most frequently visited locations for each user.</a:t>
            </a:r>
          </a:p>
          <a:p>
            <a:pPr marL="342900" indent="-342900">
              <a:lnSpc>
                <a:spcPct val="120000"/>
              </a:lnSpc>
              <a:buFont typeface="Arial" panose="020B0604020202020204" pitchFamily="34" charset="0"/>
              <a:buChar char="•"/>
            </a:pPr>
            <a:r>
              <a:rPr lang="en-US" altLang="zh-CN" sz="2000" b="1" dirty="0"/>
              <a:t>History</a:t>
            </a:r>
            <a:r>
              <a:rPr lang="en-US" altLang="zh-CN" sz="2000" dirty="0"/>
              <a:t>: Most frequently visited locations of the same time in histories.</a:t>
            </a:r>
          </a:p>
          <a:p>
            <a:pPr marL="342900" indent="-342900">
              <a:lnSpc>
                <a:spcPct val="120000"/>
              </a:lnSpc>
              <a:buFont typeface="Arial" panose="020B0604020202020204" pitchFamily="34" charset="0"/>
              <a:buChar char="•"/>
            </a:pPr>
            <a:r>
              <a:rPr lang="en-US" altLang="zh-CN" sz="2000" b="1" dirty="0"/>
              <a:t>Linear</a:t>
            </a:r>
            <a:r>
              <a:rPr lang="en-US" altLang="zh-CN" sz="2000" dirty="0"/>
              <a:t>: connecting each pair of consecutive records by straight interpolation. </a:t>
            </a:r>
          </a:p>
        </p:txBody>
      </p:sp>
      <p:sp>
        <p:nvSpPr>
          <p:cNvPr id="14" name="矩形 13"/>
          <p:cNvSpPr/>
          <p:nvPr/>
        </p:nvSpPr>
        <p:spPr>
          <a:xfrm>
            <a:off x="1021080" y="4364219"/>
            <a:ext cx="10668000" cy="2341410"/>
          </a:xfrm>
          <a:prstGeom prst="rect">
            <a:avLst/>
          </a:prstGeom>
        </p:spPr>
        <p:txBody>
          <a:bodyPr wrap="square">
            <a:spAutoFit/>
          </a:bodyPr>
          <a:lstStyle/>
          <a:p>
            <a:pPr marL="342900" lvl="0" indent="-342900">
              <a:lnSpc>
                <a:spcPct val="120000"/>
              </a:lnSpc>
              <a:buFont typeface="Arial" panose="020B0604020202020204" pitchFamily="34" charset="0"/>
              <a:buChar char="•"/>
            </a:pPr>
            <a:r>
              <a:rPr lang="en-US" altLang="zh-CN" sz="2000" b="1" dirty="0">
                <a:solidFill>
                  <a:prstClr val="black"/>
                </a:solidFill>
              </a:rPr>
              <a:t>LSTM</a:t>
            </a:r>
            <a:r>
              <a:rPr lang="en-US" altLang="zh-CN" sz="2000" dirty="0">
                <a:solidFill>
                  <a:prstClr val="black"/>
                </a:solidFill>
              </a:rPr>
              <a:t>: RNN for sequence modeling to capture the forward </a:t>
            </a:r>
            <a:r>
              <a:rPr lang="en-US" altLang="zh-CN" sz="2000" dirty="0" err="1">
                <a:solidFill>
                  <a:prstClr val="black"/>
                </a:solidFill>
              </a:rPr>
              <a:t>sequentiality</a:t>
            </a:r>
            <a:r>
              <a:rPr lang="en-US" altLang="zh-CN" sz="2000" dirty="0">
                <a:solidFill>
                  <a:prstClr val="black"/>
                </a:solidFill>
              </a:rPr>
              <a:t>.</a:t>
            </a:r>
          </a:p>
          <a:p>
            <a:pPr marL="342900" lvl="0" indent="-342900">
              <a:lnSpc>
                <a:spcPct val="120000"/>
              </a:lnSpc>
              <a:buFont typeface="Arial" panose="020B0604020202020204" pitchFamily="34" charset="0"/>
              <a:buChar char="•"/>
            </a:pPr>
            <a:r>
              <a:rPr lang="en-US" altLang="zh-CN" sz="2000" b="1" dirty="0" err="1">
                <a:solidFill>
                  <a:prstClr val="black"/>
                </a:solidFill>
              </a:rPr>
              <a:t>BiLSTM</a:t>
            </a:r>
            <a:r>
              <a:rPr lang="en-US" altLang="zh-CN" sz="2000" dirty="0">
                <a:solidFill>
                  <a:prstClr val="black"/>
                </a:solidFill>
              </a:rPr>
              <a:t>: Improved RNN to model the bidirectional </a:t>
            </a:r>
            <a:r>
              <a:rPr lang="en-US" altLang="zh-CN" sz="2000" dirty="0" err="1">
                <a:solidFill>
                  <a:prstClr val="black"/>
                </a:solidFill>
              </a:rPr>
              <a:t>sequentiality</a:t>
            </a:r>
            <a:r>
              <a:rPr lang="en-US" altLang="zh-CN" sz="2000" dirty="0">
                <a:solidFill>
                  <a:prstClr val="black"/>
                </a:solidFill>
              </a:rPr>
              <a:t>.</a:t>
            </a:r>
          </a:p>
          <a:p>
            <a:pPr marL="342900" lvl="0" indent="-342900">
              <a:lnSpc>
                <a:spcPct val="120000"/>
              </a:lnSpc>
              <a:buFont typeface="Arial" panose="020B0604020202020204" pitchFamily="34" charset="0"/>
              <a:buChar char="•"/>
            </a:pPr>
            <a:r>
              <a:rPr lang="en-US" altLang="zh-CN" sz="2000" b="1" dirty="0" err="1">
                <a:solidFill>
                  <a:prstClr val="black"/>
                </a:solidFill>
              </a:rPr>
              <a:t>DeepMove</a:t>
            </a:r>
            <a:r>
              <a:rPr lang="en-US" altLang="zh-CN" sz="2000" dirty="0">
                <a:solidFill>
                  <a:prstClr val="black"/>
                </a:solidFill>
              </a:rPr>
              <a:t>: Attentional LSTM for next location prediction </a:t>
            </a:r>
            <a:r>
              <a:rPr lang="en-US" altLang="zh-CN" sz="2000" dirty="0">
                <a:solidFill>
                  <a:srgbClr val="C00000"/>
                </a:solidFill>
              </a:rPr>
              <a:t>(WWW2018)</a:t>
            </a:r>
          </a:p>
          <a:p>
            <a:pPr marL="342900" indent="-342900">
              <a:lnSpc>
                <a:spcPct val="120000"/>
              </a:lnSpc>
              <a:buFont typeface="Arial" panose="020B0604020202020204" pitchFamily="34" charset="0"/>
              <a:buChar char="•"/>
            </a:pPr>
            <a:r>
              <a:rPr lang="en-US" altLang="zh-CN" sz="2000" b="1" dirty="0">
                <a:solidFill>
                  <a:prstClr val="black"/>
                </a:solidFill>
              </a:rPr>
              <a:t>Bi-STDDP</a:t>
            </a:r>
            <a:r>
              <a:rPr lang="en-US" altLang="zh-CN" sz="2000" dirty="0">
                <a:solidFill>
                  <a:prstClr val="black"/>
                </a:solidFill>
              </a:rPr>
              <a:t>: DNN to model the bi-directional dependence and user preference to identify the missing </a:t>
            </a:r>
            <a:r>
              <a:rPr lang="en-US" altLang="zh-CN" sz="2000" dirty="0" err="1">
                <a:solidFill>
                  <a:prstClr val="black"/>
                </a:solidFill>
              </a:rPr>
              <a:t>PoIs</a:t>
            </a:r>
            <a:r>
              <a:rPr lang="en-US" altLang="zh-CN" sz="2000" dirty="0">
                <a:solidFill>
                  <a:prstClr val="black"/>
                </a:solidFill>
              </a:rPr>
              <a:t> in check-in trajectories.</a:t>
            </a:r>
            <a:r>
              <a:rPr lang="en-US" altLang="zh-CN" sz="2000" dirty="0">
                <a:solidFill>
                  <a:srgbClr val="C00000"/>
                </a:solidFill>
              </a:rPr>
              <a:t> (AAAI2019)</a:t>
            </a:r>
          </a:p>
          <a:p>
            <a:pPr marL="285750" lvl="0" indent="-285750">
              <a:lnSpc>
                <a:spcPct val="120000"/>
              </a:lnSpc>
              <a:buFont typeface="Wingdings" panose="05000000000000000000" pitchFamily="2" charset="2"/>
              <a:buChar char="p"/>
            </a:pPr>
            <a:endParaRPr lang="zh-CN" altLang="en-US" sz="2400" dirty="0">
              <a:solidFill>
                <a:prstClr val="black"/>
              </a:solidFill>
            </a:endParaRPr>
          </a:p>
        </p:txBody>
      </p:sp>
      <p:sp>
        <p:nvSpPr>
          <p:cNvPr id="17" name="矩形 16"/>
          <p:cNvSpPr/>
          <p:nvPr/>
        </p:nvSpPr>
        <p:spPr>
          <a:xfrm>
            <a:off x="1021080" y="3237981"/>
            <a:ext cx="10826579" cy="797078"/>
          </a:xfrm>
          <a:prstGeom prst="rect">
            <a:avLst/>
          </a:prstGeom>
        </p:spPr>
        <p:txBody>
          <a:bodyPr wrap="square">
            <a:spAutoFit/>
          </a:bodyPr>
          <a:lstStyle/>
          <a:p>
            <a:pPr marL="342900" lvl="0" indent="-342900">
              <a:lnSpc>
                <a:spcPct val="120000"/>
              </a:lnSpc>
              <a:buFont typeface="Arial" panose="020B0604020202020204" pitchFamily="34" charset="0"/>
              <a:buChar char="•"/>
            </a:pPr>
            <a:r>
              <a:rPr lang="en-US" altLang="zh-CN" sz="2000" b="1" dirty="0">
                <a:solidFill>
                  <a:prstClr val="black"/>
                </a:solidFill>
              </a:rPr>
              <a:t>RF</a:t>
            </a:r>
            <a:r>
              <a:rPr lang="en-US" altLang="zh-CN" sz="2000" dirty="0">
                <a:solidFill>
                  <a:prstClr val="black"/>
                </a:solidFill>
              </a:rPr>
              <a:t>: Entropy, radius, the missing time, the former and the latter trajectory point are extracted as feature to train a random forest. </a:t>
            </a:r>
          </a:p>
        </p:txBody>
      </p:sp>
      <p:sp>
        <p:nvSpPr>
          <p:cNvPr id="25" name="文本框 24"/>
          <p:cNvSpPr txBox="1"/>
          <p:nvPr/>
        </p:nvSpPr>
        <p:spPr>
          <a:xfrm>
            <a:off x="767814" y="1237128"/>
            <a:ext cx="10043160" cy="461665"/>
          </a:xfrm>
          <a:prstGeom prst="rect">
            <a:avLst/>
          </a:prstGeom>
          <a:noFill/>
        </p:spPr>
        <p:txBody>
          <a:bodyPr wrap="square" rtlCol="0">
            <a:spAutoFit/>
          </a:bodyPr>
          <a:lstStyle/>
          <a:p>
            <a:r>
              <a:rPr lang="en-US" altLang="zh-CN" sz="2400" dirty="0">
                <a:solidFill>
                  <a:srgbClr val="C00000"/>
                </a:solidFill>
              </a:rPr>
              <a:t>Rule-based methods:</a:t>
            </a:r>
            <a:endParaRPr lang="zh-CN" altLang="en-US" sz="2400" dirty="0">
              <a:solidFill>
                <a:srgbClr val="C00000"/>
              </a:solidFill>
            </a:endParaRPr>
          </a:p>
        </p:txBody>
      </p:sp>
      <p:sp>
        <p:nvSpPr>
          <p:cNvPr id="28" name="文本框 27"/>
          <p:cNvSpPr txBox="1"/>
          <p:nvPr/>
        </p:nvSpPr>
        <p:spPr>
          <a:xfrm>
            <a:off x="767814" y="2773312"/>
            <a:ext cx="10043160" cy="461665"/>
          </a:xfrm>
          <a:prstGeom prst="rect">
            <a:avLst/>
          </a:prstGeom>
          <a:noFill/>
        </p:spPr>
        <p:txBody>
          <a:bodyPr wrap="square" rtlCol="0">
            <a:spAutoFit/>
          </a:bodyPr>
          <a:lstStyle/>
          <a:p>
            <a:r>
              <a:rPr lang="en-US" altLang="zh-CN" sz="2400" dirty="0">
                <a:solidFill>
                  <a:srgbClr val="C00000"/>
                </a:solidFill>
              </a:rPr>
              <a:t>Machine learning methods:</a:t>
            </a:r>
            <a:endParaRPr lang="zh-CN" altLang="en-US" sz="2400" dirty="0">
              <a:solidFill>
                <a:srgbClr val="C00000"/>
              </a:solidFill>
            </a:endParaRPr>
          </a:p>
        </p:txBody>
      </p:sp>
      <p:sp>
        <p:nvSpPr>
          <p:cNvPr id="29" name="文本框 28"/>
          <p:cNvSpPr txBox="1"/>
          <p:nvPr/>
        </p:nvSpPr>
        <p:spPr>
          <a:xfrm>
            <a:off x="767814" y="3902554"/>
            <a:ext cx="10043160" cy="461665"/>
          </a:xfrm>
          <a:prstGeom prst="rect">
            <a:avLst/>
          </a:prstGeom>
          <a:noFill/>
        </p:spPr>
        <p:txBody>
          <a:bodyPr wrap="square" rtlCol="0">
            <a:spAutoFit/>
          </a:bodyPr>
          <a:lstStyle/>
          <a:p>
            <a:r>
              <a:rPr lang="en-US" altLang="zh-CN" sz="2400" dirty="0">
                <a:solidFill>
                  <a:srgbClr val="C00000"/>
                </a:solidFill>
              </a:rPr>
              <a:t>Deep learning methods:</a:t>
            </a:r>
            <a:endParaRPr lang="zh-CN" altLang="en-US" sz="2400" dirty="0">
              <a:solidFill>
                <a:srgbClr val="C00000"/>
              </a:solidFill>
            </a:endParaRPr>
          </a:p>
        </p:txBody>
      </p:sp>
      <p:sp>
        <p:nvSpPr>
          <p:cNvPr id="13" name="文本框 12">
            <a:extLst>
              <a:ext uri="{FF2B5EF4-FFF2-40B4-BE49-F238E27FC236}">
                <a16:creationId xmlns:a16="http://schemas.microsoft.com/office/drawing/2014/main" id="{56FFDBD5-5E4E-4F71-B04E-094B23E87F90}"/>
              </a:ext>
            </a:extLst>
          </p:cNvPr>
          <p:cNvSpPr txBox="1"/>
          <p:nvPr/>
        </p:nvSpPr>
        <p:spPr>
          <a:xfrm>
            <a:off x="369040" y="918578"/>
            <a:ext cx="8253377"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dirty="0"/>
              <a:t>Baselines:</a:t>
            </a:r>
          </a:p>
        </p:txBody>
      </p:sp>
    </p:spTree>
    <p:extLst>
      <p:ext uri="{BB962C8B-B14F-4D97-AF65-F5344CB8AC3E}">
        <p14:creationId xmlns:p14="http://schemas.microsoft.com/office/powerpoint/2010/main" val="1731684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D1FDEA21-1331-4D7E-A618-6102DC395F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8115" y="1581354"/>
            <a:ext cx="7444223" cy="4780912"/>
          </a:xfrm>
          <a:prstGeom prst="rect">
            <a:avLst/>
          </a:prstGeom>
        </p:spPr>
      </p:pic>
      <p:cxnSp>
        <p:nvCxnSpPr>
          <p:cNvPr id="19" name="直接连接符 18">
            <a:extLst>
              <a:ext uri="{FF2B5EF4-FFF2-40B4-BE49-F238E27FC236}">
                <a16:creationId xmlns:a16="http://schemas.microsoft.com/office/drawing/2014/main" id="{FFFB8BC0-B83B-4E7F-8CE3-81AF6AF9E974}"/>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237C044-0447-4E3D-AB72-8C98BE5C3E07}"/>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8115" y="495734"/>
            <a:ext cx="1664238" cy="486287"/>
          </a:xfrm>
        </p:spPr>
        <p:txBody>
          <a:bodyPr/>
          <a:lstStyle/>
          <a:p>
            <a:pPr>
              <a:lnSpc>
                <a:spcPct val="80000"/>
              </a:lnSpc>
            </a:pPr>
            <a:r>
              <a:rPr lang="en-US" altLang="zh-CN" dirty="0"/>
              <a:t>Results</a:t>
            </a:r>
            <a:endParaRPr lang="zh-CN" altLang="en-US" dirty="0"/>
          </a:p>
        </p:txBody>
      </p:sp>
      <p:sp>
        <p:nvSpPr>
          <p:cNvPr id="2" name="灯片编号占位符 1"/>
          <p:cNvSpPr>
            <a:spLocks noGrp="1"/>
          </p:cNvSpPr>
          <p:nvPr>
            <p:ph type="sldNum" sz="quarter" idx="12"/>
          </p:nvPr>
        </p:nvSpPr>
        <p:spPr/>
        <p:txBody>
          <a:bodyPr/>
          <a:lstStyle/>
          <a:p>
            <a:fld id="{3A7104C2-2265-4AB9-B90C-4162FA6B94AE}" type="slidenum">
              <a:rPr lang="zh-CN" altLang="en-US" smtClean="0"/>
              <a:pPr/>
              <a:t>16</a:t>
            </a:fld>
            <a:endParaRPr lang="zh-CN" altLang="en-US" dirty="0"/>
          </a:p>
        </p:txBody>
      </p:sp>
      <p:sp>
        <p:nvSpPr>
          <p:cNvPr id="8" name="文本框 7"/>
          <p:cNvSpPr txBox="1"/>
          <p:nvPr/>
        </p:nvSpPr>
        <p:spPr>
          <a:xfrm>
            <a:off x="8032338" y="2610794"/>
            <a:ext cx="4172209" cy="830997"/>
          </a:xfrm>
          <a:prstGeom prst="rect">
            <a:avLst/>
          </a:prstGeom>
          <a:noFill/>
        </p:spPr>
        <p:txBody>
          <a:bodyPr wrap="square" rtlCol="0">
            <a:spAutoFit/>
          </a:bodyPr>
          <a:lstStyle/>
          <a:p>
            <a:pPr marL="342900" indent="-342900">
              <a:buFont typeface="Wingdings" panose="05000000000000000000" pitchFamily="2" charset="2"/>
              <a:buChar char="ü"/>
            </a:pPr>
            <a:r>
              <a:rPr lang="en-US" altLang="zh-CN" sz="2400" i="1" dirty="0">
                <a:solidFill>
                  <a:srgbClr val="C00000"/>
                </a:solidFill>
              </a:rPr>
              <a:t> 4.0%~7.6% performance gain compared to SOTA</a:t>
            </a:r>
            <a:endParaRPr lang="zh-CN" altLang="en-US" sz="2400" i="1" dirty="0">
              <a:solidFill>
                <a:srgbClr val="C00000"/>
              </a:solidFill>
            </a:endParaRPr>
          </a:p>
        </p:txBody>
      </p:sp>
      <p:sp>
        <p:nvSpPr>
          <p:cNvPr id="12" name="矩形 11">
            <a:extLst>
              <a:ext uri="{FF2B5EF4-FFF2-40B4-BE49-F238E27FC236}">
                <a16:creationId xmlns:a16="http://schemas.microsoft.com/office/drawing/2014/main" id="{4D957239-142F-4C66-AEF6-54E90668AD94}"/>
              </a:ext>
            </a:extLst>
          </p:cNvPr>
          <p:cNvSpPr/>
          <p:nvPr/>
        </p:nvSpPr>
        <p:spPr>
          <a:xfrm>
            <a:off x="968339" y="5779143"/>
            <a:ext cx="6862526" cy="379632"/>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B639339-7E35-4CF0-A249-675F184046AD}"/>
              </a:ext>
            </a:extLst>
          </p:cNvPr>
          <p:cNvSpPr/>
          <p:nvPr/>
        </p:nvSpPr>
        <p:spPr>
          <a:xfrm>
            <a:off x="968339" y="4457305"/>
            <a:ext cx="6862526" cy="754735"/>
          </a:xfrm>
          <a:prstGeom prst="rect">
            <a:avLst/>
          </a:prstGeom>
          <a:noFill/>
          <a:ln w="28575">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B0859E99-0E86-49BC-9008-CEE71672EB8E}"/>
              </a:ext>
            </a:extLst>
          </p:cNvPr>
          <p:cNvSpPr txBox="1"/>
          <p:nvPr/>
        </p:nvSpPr>
        <p:spPr>
          <a:xfrm>
            <a:off x="8032338" y="3733577"/>
            <a:ext cx="4172209" cy="830997"/>
          </a:xfrm>
          <a:prstGeom prst="rect">
            <a:avLst/>
          </a:prstGeom>
          <a:noFill/>
        </p:spPr>
        <p:txBody>
          <a:bodyPr wrap="square" rtlCol="0">
            <a:spAutoFit/>
          </a:bodyPr>
          <a:lstStyle/>
          <a:p>
            <a:pPr marL="342900" indent="-342900">
              <a:buFont typeface="Wingdings" panose="05000000000000000000" pitchFamily="2" charset="2"/>
              <a:buChar char="ü"/>
            </a:pPr>
            <a:r>
              <a:rPr lang="en-US" altLang="zh-CN" sz="2400" i="1" dirty="0">
                <a:solidFill>
                  <a:srgbClr val="C00000"/>
                </a:solidFill>
              </a:rPr>
              <a:t> Superiority of Attentional Network </a:t>
            </a:r>
            <a:endParaRPr lang="zh-CN" altLang="en-US" sz="2400" i="1" dirty="0">
              <a:solidFill>
                <a:srgbClr val="C00000"/>
              </a:solidFill>
            </a:endParaRPr>
          </a:p>
        </p:txBody>
      </p:sp>
      <p:sp>
        <p:nvSpPr>
          <p:cNvPr id="25" name="矩形 24">
            <a:extLst>
              <a:ext uri="{FF2B5EF4-FFF2-40B4-BE49-F238E27FC236}">
                <a16:creationId xmlns:a16="http://schemas.microsoft.com/office/drawing/2014/main" id="{162975F8-BEFB-4D74-B739-3F5135F51157}"/>
              </a:ext>
            </a:extLst>
          </p:cNvPr>
          <p:cNvSpPr/>
          <p:nvPr/>
        </p:nvSpPr>
        <p:spPr>
          <a:xfrm>
            <a:off x="968339" y="5540736"/>
            <a:ext cx="1272227" cy="618040"/>
          </a:xfrm>
          <a:prstGeom prst="rect">
            <a:avLst/>
          </a:prstGeom>
          <a:noFill/>
          <a:ln w="28575">
            <a:solidFill>
              <a:srgbClr val="00206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0A6C0A12-9B2F-4971-AAE0-BE0CD01F80FF}"/>
              </a:ext>
            </a:extLst>
          </p:cNvPr>
          <p:cNvSpPr txBox="1"/>
          <p:nvPr/>
        </p:nvSpPr>
        <p:spPr>
          <a:xfrm>
            <a:off x="8032338" y="4833091"/>
            <a:ext cx="4172209" cy="461665"/>
          </a:xfrm>
          <a:prstGeom prst="rect">
            <a:avLst/>
          </a:prstGeom>
          <a:noFill/>
        </p:spPr>
        <p:txBody>
          <a:bodyPr wrap="square" rtlCol="0">
            <a:spAutoFit/>
          </a:bodyPr>
          <a:lstStyle/>
          <a:p>
            <a:pPr marL="342900" indent="-342900">
              <a:buFont typeface="Wingdings" panose="05000000000000000000" pitchFamily="2" charset="2"/>
              <a:buChar char="ü"/>
            </a:pPr>
            <a:r>
              <a:rPr lang="en-US" altLang="zh-CN" sz="2400" i="1" dirty="0">
                <a:solidFill>
                  <a:srgbClr val="002060"/>
                </a:solidFill>
              </a:rPr>
              <a:t> Better utilization of history</a:t>
            </a:r>
            <a:endParaRPr lang="zh-CN" altLang="en-US" sz="2400" i="1" dirty="0">
              <a:solidFill>
                <a:srgbClr val="002060"/>
              </a:solidFill>
            </a:endParaRPr>
          </a:p>
        </p:txBody>
      </p:sp>
      <p:sp>
        <p:nvSpPr>
          <p:cNvPr id="27" name="文本框 26">
            <a:extLst>
              <a:ext uri="{FF2B5EF4-FFF2-40B4-BE49-F238E27FC236}">
                <a16:creationId xmlns:a16="http://schemas.microsoft.com/office/drawing/2014/main" id="{C364EBAD-DB52-4843-9FBF-BE45F5FA6C76}"/>
              </a:ext>
            </a:extLst>
          </p:cNvPr>
          <p:cNvSpPr txBox="1"/>
          <p:nvPr/>
        </p:nvSpPr>
        <p:spPr>
          <a:xfrm>
            <a:off x="447084" y="1009543"/>
            <a:ext cx="8253377"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dirty="0"/>
              <a:t>Performance </a:t>
            </a:r>
          </a:p>
        </p:txBody>
      </p:sp>
    </p:spTree>
    <p:extLst>
      <p:ext uri="{BB962C8B-B14F-4D97-AF65-F5344CB8AC3E}">
        <p14:creationId xmlns:p14="http://schemas.microsoft.com/office/powerpoint/2010/main" val="283788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animBg="1"/>
      <p:bldP spid="22" grpId="0" animBg="1"/>
      <p:bldP spid="23" grpId="0"/>
      <p:bldP spid="25" grpId="0" animBg="1"/>
      <p:bldP spid="2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FFFB8BC0-B83B-4E7F-8CE3-81AF6AF9E974}"/>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237C044-0447-4E3D-AB72-8C98BE5C3E07}"/>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8115" y="495734"/>
            <a:ext cx="1664238" cy="486287"/>
          </a:xfrm>
        </p:spPr>
        <p:txBody>
          <a:bodyPr/>
          <a:lstStyle/>
          <a:p>
            <a:pPr>
              <a:lnSpc>
                <a:spcPct val="80000"/>
              </a:lnSpc>
            </a:pPr>
            <a:r>
              <a:rPr lang="en-US" altLang="zh-CN" dirty="0"/>
              <a:t>Results</a:t>
            </a:r>
            <a:endParaRPr lang="zh-CN" altLang="en-US" dirty="0"/>
          </a:p>
        </p:txBody>
      </p:sp>
      <p:sp>
        <p:nvSpPr>
          <p:cNvPr id="2" name="灯片编号占位符 1"/>
          <p:cNvSpPr>
            <a:spLocks noGrp="1"/>
          </p:cNvSpPr>
          <p:nvPr>
            <p:ph type="sldNum" sz="quarter" idx="12"/>
          </p:nvPr>
        </p:nvSpPr>
        <p:spPr/>
        <p:txBody>
          <a:bodyPr/>
          <a:lstStyle/>
          <a:p>
            <a:fld id="{3A7104C2-2265-4AB9-B90C-4162FA6B94AE}" type="slidenum">
              <a:rPr lang="zh-CN" altLang="en-US" smtClean="0"/>
              <a:pPr/>
              <a:t>17</a:t>
            </a:fld>
            <a:endParaRPr lang="zh-CN" altLang="en-US" dirty="0"/>
          </a:p>
        </p:txBody>
      </p:sp>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6827" y="982021"/>
            <a:ext cx="7022067" cy="2409627"/>
          </a:xfrm>
          <a:prstGeom prst="rect">
            <a:avLst/>
          </a:prstGeom>
        </p:spPr>
      </p:pic>
      <p:grpSp>
        <p:nvGrpSpPr>
          <p:cNvPr id="6" name="组合 5">
            <a:extLst>
              <a:ext uri="{FF2B5EF4-FFF2-40B4-BE49-F238E27FC236}">
                <a16:creationId xmlns:a16="http://schemas.microsoft.com/office/drawing/2014/main" id="{DF6517A6-868F-4134-8E06-52C5EEBA56D8}"/>
              </a:ext>
            </a:extLst>
          </p:cNvPr>
          <p:cNvGrpSpPr/>
          <p:nvPr/>
        </p:nvGrpSpPr>
        <p:grpSpPr>
          <a:xfrm>
            <a:off x="1904010" y="2349270"/>
            <a:ext cx="8439780" cy="840915"/>
            <a:chOff x="1904010" y="2349270"/>
            <a:chExt cx="8439780" cy="840915"/>
          </a:xfrm>
        </p:grpSpPr>
        <p:sp>
          <p:nvSpPr>
            <p:cNvPr id="23" name="文本框 22"/>
            <p:cNvSpPr txBox="1"/>
            <p:nvPr/>
          </p:nvSpPr>
          <p:spPr>
            <a:xfrm>
              <a:off x="1904010" y="2349270"/>
              <a:ext cx="912737" cy="400110"/>
            </a:xfrm>
            <a:prstGeom prst="rect">
              <a:avLst/>
            </a:prstGeom>
            <a:noFill/>
          </p:spPr>
          <p:txBody>
            <a:bodyPr wrap="square" rtlCol="0">
              <a:spAutoFit/>
            </a:bodyPr>
            <a:lstStyle/>
            <a:p>
              <a:r>
                <a:rPr lang="en-US" altLang="zh-CN" sz="2000" i="1" dirty="0">
                  <a:solidFill>
                    <a:srgbClr val="C00000"/>
                  </a:solidFill>
                </a:rPr>
                <a:t>SOTA</a:t>
              </a:r>
              <a:endParaRPr lang="zh-CN" altLang="en-US" sz="2000" i="1" dirty="0">
                <a:solidFill>
                  <a:srgbClr val="C00000"/>
                </a:solidFill>
              </a:endParaRPr>
            </a:p>
          </p:txBody>
        </p:sp>
        <p:sp>
          <p:nvSpPr>
            <p:cNvPr id="25" name="文本框 24"/>
            <p:cNvSpPr txBox="1"/>
            <p:nvPr/>
          </p:nvSpPr>
          <p:spPr>
            <a:xfrm>
              <a:off x="2077194" y="2790075"/>
              <a:ext cx="759649" cy="400110"/>
            </a:xfrm>
            <a:prstGeom prst="rect">
              <a:avLst/>
            </a:prstGeom>
            <a:noFill/>
          </p:spPr>
          <p:txBody>
            <a:bodyPr wrap="square" rtlCol="0">
              <a:spAutoFit/>
            </a:bodyPr>
            <a:lstStyle/>
            <a:p>
              <a:r>
                <a:rPr lang="en-US" altLang="zh-CN" sz="2000" i="1" dirty="0">
                  <a:solidFill>
                    <a:srgbClr val="C00000"/>
                  </a:solidFill>
                </a:rPr>
                <a:t>Our</a:t>
              </a:r>
              <a:endParaRPr lang="zh-CN" altLang="en-US" sz="2000" i="1" dirty="0">
                <a:solidFill>
                  <a:srgbClr val="C00000"/>
                </a:solidFill>
              </a:endParaRPr>
            </a:p>
          </p:txBody>
        </p:sp>
        <p:grpSp>
          <p:nvGrpSpPr>
            <p:cNvPr id="28" name="组合 27"/>
            <p:cNvGrpSpPr/>
            <p:nvPr/>
          </p:nvGrpSpPr>
          <p:grpSpPr>
            <a:xfrm>
              <a:off x="9248906" y="2434605"/>
              <a:ext cx="189988" cy="474711"/>
              <a:chOff x="9931078" y="5567423"/>
              <a:chExt cx="189988" cy="474711"/>
            </a:xfrm>
          </p:grpSpPr>
          <p:cxnSp>
            <p:nvCxnSpPr>
              <p:cNvPr id="15" name="直接连接符 14"/>
              <p:cNvCxnSpPr/>
              <p:nvPr/>
            </p:nvCxnSpPr>
            <p:spPr>
              <a:xfrm>
                <a:off x="9931078" y="5567423"/>
                <a:ext cx="189988" cy="25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9931078" y="6041877"/>
                <a:ext cx="189988" cy="25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0026072" y="5567423"/>
                <a:ext cx="0" cy="47445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9" name="文本框 28"/>
            <p:cNvSpPr txBox="1"/>
            <p:nvPr/>
          </p:nvSpPr>
          <p:spPr>
            <a:xfrm>
              <a:off x="9438894" y="2476329"/>
              <a:ext cx="904896" cy="400110"/>
            </a:xfrm>
            <a:prstGeom prst="rect">
              <a:avLst/>
            </a:prstGeom>
            <a:noFill/>
          </p:spPr>
          <p:txBody>
            <a:bodyPr wrap="square" rtlCol="0">
              <a:spAutoFit/>
            </a:bodyPr>
            <a:lstStyle/>
            <a:p>
              <a:r>
                <a:rPr lang="en-US" altLang="zh-CN" sz="2000" b="1" dirty="0">
                  <a:solidFill>
                    <a:srgbClr val="C00000"/>
                  </a:solidFill>
                </a:rPr>
                <a:t>&gt;3%</a:t>
              </a:r>
              <a:endParaRPr lang="zh-CN" altLang="en-US" sz="2000" b="1" dirty="0">
                <a:solidFill>
                  <a:srgbClr val="C00000"/>
                </a:solidFill>
              </a:endParaRPr>
            </a:p>
          </p:txBody>
        </p:sp>
      </p:grpSp>
      <p:grpSp>
        <p:nvGrpSpPr>
          <p:cNvPr id="8" name="组合 7">
            <a:extLst>
              <a:ext uri="{FF2B5EF4-FFF2-40B4-BE49-F238E27FC236}">
                <a16:creationId xmlns:a16="http://schemas.microsoft.com/office/drawing/2014/main" id="{3B9652D9-19CF-4F15-A960-D0F21E8A62CF}"/>
              </a:ext>
            </a:extLst>
          </p:cNvPr>
          <p:cNvGrpSpPr/>
          <p:nvPr/>
        </p:nvGrpSpPr>
        <p:grpSpPr>
          <a:xfrm>
            <a:off x="2077194" y="3350636"/>
            <a:ext cx="7907685" cy="3083990"/>
            <a:chOff x="2173459" y="3664382"/>
            <a:chExt cx="7907685" cy="3083990"/>
          </a:xfrm>
        </p:grpSpPr>
        <p:pic>
          <p:nvPicPr>
            <p:cNvPr id="30" name="图片 29">
              <a:extLst>
                <a:ext uri="{FF2B5EF4-FFF2-40B4-BE49-F238E27FC236}">
                  <a16:creationId xmlns:a16="http://schemas.microsoft.com/office/drawing/2014/main" id="{7E14AE44-5B35-4506-89CE-B5CCF25CE03C}"/>
                </a:ext>
              </a:extLst>
            </p:cNvPr>
            <p:cNvPicPr>
              <a:picLocks noChangeAspect="1"/>
            </p:cNvPicPr>
            <p:nvPr/>
          </p:nvPicPr>
          <p:blipFill rotWithShape="1">
            <a:blip r:embed="rId4">
              <a:extLst>
                <a:ext uri="{28A0092B-C50C-407E-A947-70E740481C1C}">
                  <a14:useLocalDpi xmlns:a14="http://schemas.microsoft.com/office/drawing/2010/main" val="0"/>
                </a:ext>
              </a:extLst>
            </a:blip>
            <a:srcRect b="28025"/>
            <a:stretch/>
          </p:blipFill>
          <p:spPr>
            <a:xfrm>
              <a:off x="2173459" y="3664382"/>
              <a:ext cx="7845082" cy="3083990"/>
            </a:xfrm>
            <a:prstGeom prst="rect">
              <a:avLst/>
            </a:prstGeom>
          </p:spPr>
        </p:pic>
        <p:grpSp>
          <p:nvGrpSpPr>
            <p:cNvPr id="31" name="组合 30">
              <a:extLst>
                <a:ext uri="{FF2B5EF4-FFF2-40B4-BE49-F238E27FC236}">
                  <a16:creationId xmlns:a16="http://schemas.microsoft.com/office/drawing/2014/main" id="{1ADD398D-1FA6-485D-8D01-9FAF85E4B53C}"/>
                </a:ext>
              </a:extLst>
            </p:cNvPr>
            <p:cNvGrpSpPr/>
            <p:nvPr/>
          </p:nvGrpSpPr>
          <p:grpSpPr>
            <a:xfrm>
              <a:off x="4618768" y="4240649"/>
              <a:ext cx="189988" cy="551162"/>
              <a:chOff x="9931078" y="5567423"/>
              <a:chExt cx="189988" cy="474711"/>
            </a:xfrm>
          </p:grpSpPr>
          <p:cxnSp>
            <p:nvCxnSpPr>
              <p:cNvPr id="33" name="直接连接符 32">
                <a:extLst>
                  <a:ext uri="{FF2B5EF4-FFF2-40B4-BE49-F238E27FC236}">
                    <a16:creationId xmlns:a16="http://schemas.microsoft.com/office/drawing/2014/main" id="{65DFA777-7620-4304-916B-97F60AEE2EE2}"/>
                  </a:ext>
                </a:extLst>
              </p:cNvPr>
              <p:cNvCxnSpPr/>
              <p:nvPr/>
            </p:nvCxnSpPr>
            <p:spPr>
              <a:xfrm>
                <a:off x="9931078" y="5567423"/>
                <a:ext cx="189988" cy="25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791840BA-E363-422F-BD53-98D9EBCC7141}"/>
                  </a:ext>
                </a:extLst>
              </p:cNvPr>
              <p:cNvCxnSpPr/>
              <p:nvPr/>
            </p:nvCxnSpPr>
            <p:spPr>
              <a:xfrm>
                <a:off x="9931078" y="6041877"/>
                <a:ext cx="189988" cy="25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471C70C3-3FD7-49C4-8E57-BE3F40C866B9}"/>
                  </a:ext>
                </a:extLst>
              </p:cNvPr>
              <p:cNvCxnSpPr/>
              <p:nvPr/>
            </p:nvCxnSpPr>
            <p:spPr>
              <a:xfrm>
                <a:off x="10026072" y="5567423"/>
                <a:ext cx="0" cy="47445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36" name="文本框 35">
              <a:extLst>
                <a:ext uri="{FF2B5EF4-FFF2-40B4-BE49-F238E27FC236}">
                  <a16:creationId xmlns:a16="http://schemas.microsoft.com/office/drawing/2014/main" id="{09246D9A-44E3-4C1A-8EDC-64A88D123E44}"/>
                </a:ext>
              </a:extLst>
            </p:cNvPr>
            <p:cNvSpPr txBox="1"/>
            <p:nvPr/>
          </p:nvSpPr>
          <p:spPr>
            <a:xfrm>
              <a:off x="4521554" y="4791513"/>
              <a:ext cx="904896" cy="400110"/>
            </a:xfrm>
            <a:prstGeom prst="rect">
              <a:avLst/>
            </a:prstGeom>
            <a:noFill/>
          </p:spPr>
          <p:txBody>
            <a:bodyPr wrap="square" rtlCol="0">
              <a:spAutoFit/>
            </a:bodyPr>
            <a:lstStyle/>
            <a:p>
              <a:r>
                <a:rPr lang="en-US" altLang="zh-CN" sz="2000" b="1" dirty="0">
                  <a:solidFill>
                    <a:srgbClr val="C00000"/>
                  </a:solidFill>
                </a:rPr>
                <a:t>&gt;10%</a:t>
              </a:r>
              <a:endParaRPr lang="zh-CN" altLang="en-US" sz="2000" b="1" dirty="0">
                <a:solidFill>
                  <a:srgbClr val="C00000"/>
                </a:solidFill>
              </a:endParaRPr>
            </a:p>
          </p:txBody>
        </p:sp>
        <p:grpSp>
          <p:nvGrpSpPr>
            <p:cNvPr id="37" name="组合 36">
              <a:extLst>
                <a:ext uri="{FF2B5EF4-FFF2-40B4-BE49-F238E27FC236}">
                  <a16:creationId xmlns:a16="http://schemas.microsoft.com/office/drawing/2014/main" id="{057DCA1A-F303-43FB-A724-4D83896EB158}"/>
                </a:ext>
              </a:extLst>
            </p:cNvPr>
            <p:cNvGrpSpPr/>
            <p:nvPr/>
          </p:nvGrpSpPr>
          <p:grpSpPr>
            <a:xfrm>
              <a:off x="8887824" y="5148829"/>
              <a:ext cx="206793" cy="381558"/>
              <a:chOff x="9931078" y="5567423"/>
              <a:chExt cx="189988" cy="474711"/>
            </a:xfrm>
          </p:grpSpPr>
          <p:cxnSp>
            <p:nvCxnSpPr>
              <p:cNvPr id="38" name="直接连接符 37">
                <a:extLst>
                  <a:ext uri="{FF2B5EF4-FFF2-40B4-BE49-F238E27FC236}">
                    <a16:creationId xmlns:a16="http://schemas.microsoft.com/office/drawing/2014/main" id="{7F15A817-EC82-436B-B906-E96BAD32C92D}"/>
                  </a:ext>
                </a:extLst>
              </p:cNvPr>
              <p:cNvCxnSpPr/>
              <p:nvPr/>
            </p:nvCxnSpPr>
            <p:spPr>
              <a:xfrm>
                <a:off x="9931078" y="5567423"/>
                <a:ext cx="189988" cy="25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AEC34562-1280-4773-A199-EC712638937C}"/>
                  </a:ext>
                </a:extLst>
              </p:cNvPr>
              <p:cNvCxnSpPr/>
              <p:nvPr/>
            </p:nvCxnSpPr>
            <p:spPr>
              <a:xfrm>
                <a:off x="9931078" y="6041877"/>
                <a:ext cx="189988" cy="257"/>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D1A1FF7C-BD0A-4425-8988-01FDA72D9D28}"/>
                  </a:ext>
                </a:extLst>
              </p:cNvPr>
              <p:cNvCxnSpPr/>
              <p:nvPr/>
            </p:nvCxnSpPr>
            <p:spPr>
              <a:xfrm>
                <a:off x="10026072" y="5567423"/>
                <a:ext cx="0" cy="47445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1" name="文本框 40">
              <a:extLst>
                <a:ext uri="{FF2B5EF4-FFF2-40B4-BE49-F238E27FC236}">
                  <a16:creationId xmlns:a16="http://schemas.microsoft.com/office/drawing/2014/main" id="{EB1E9136-4010-4D6B-9B71-9C757D6C8177}"/>
                </a:ext>
              </a:extLst>
            </p:cNvPr>
            <p:cNvSpPr txBox="1"/>
            <p:nvPr/>
          </p:nvSpPr>
          <p:spPr>
            <a:xfrm>
              <a:off x="9096207" y="5130070"/>
              <a:ext cx="984937" cy="400110"/>
            </a:xfrm>
            <a:prstGeom prst="rect">
              <a:avLst/>
            </a:prstGeom>
            <a:noFill/>
          </p:spPr>
          <p:txBody>
            <a:bodyPr wrap="square" rtlCol="0">
              <a:spAutoFit/>
            </a:bodyPr>
            <a:lstStyle/>
            <a:p>
              <a:r>
                <a:rPr lang="en-US" altLang="zh-CN" sz="2000" b="1" dirty="0">
                  <a:solidFill>
                    <a:srgbClr val="C00000"/>
                  </a:solidFill>
                </a:rPr>
                <a:t>&gt;10%</a:t>
              </a:r>
              <a:endParaRPr lang="zh-CN" altLang="en-US" sz="2000" b="1" dirty="0">
                <a:solidFill>
                  <a:srgbClr val="C00000"/>
                </a:solidFill>
              </a:endParaRPr>
            </a:p>
          </p:txBody>
        </p:sp>
      </p:grpSp>
      <p:sp>
        <p:nvSpPr>
          <p:cNvPr id="42" name="文本框 41">
            <a:extLst>
              <a:ext uri="{FF2B5EF4-FFF2-40B4-BE49-F238E27FC236}">
                <a16:creationId xmlns:a16="http://schemas.microsoft.com/office/drawing/2014/main" id="{C810F07D-395B-4DC7-A430-8F3EEBB3D8AF}"/>
              </a:ext>
            </a:extLst>
          </p:cNvPr>
          <p:cNvSpPr txBox="1"/>
          <p:nvPr/>
        </p:nvSpPr>
        <p:spPr>
          <a:xfrm>
            <a:off x="394865" y="981723"/>
            <a:ext cx="8253377"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dirty="0"/>
              <a:t>Robustness</a:t>
            </a:r>
          </a:p>
        </p:txBody>
      </p:sp>
    </p:spTree>
    <p:extLst>
      <p:ext uri="{BB962C8B-B14F-4D97-AF65-F5344CB8AC3E}">
        <p14:creationId xmlns:p14="http://schemas.microsoft.com/office/powerpoint/2010/main" val="276553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FFFB8BC0-B83B-4E7F-8CE3-81AF6AF9E974}"/>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237C044-0447-4E3D-AB72-8C98BE5C3E07}"/>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8115" y="495734"/>
            <a:ext cx="1664238" cy="486287"/>
          </a:xfrm>
        </p:spPr>
        <p:txBody>
          <a:bodyPr/>
          <a:lstStyle/>
          <a:p>
            <a:pPr>
              <a:lnSpc>
                <a:spcPct val="80000"/>
              </a:lnSpc>
            </a:pPr>
            <a:r>
              <a:rPr lang="en-US" altLang="zh-CN" dirty="0"/>
              <a:t>Results</a:t>
            </a:r>
            <a:endParaRPr lang="zh-CN" altLang="en-US" dirty="0"/>
          </a:p>
        </p:txBody>
      </p:sp>
      <p:sp>
        <p:nvSpPr>
          <p:cNvPr id="2" name="灯片编号占位符 1"/>
          <p:cNvSpPr>
            <a:spLocks noGrp="1"/>
          </p:cNvSpPr>
          <p:nvPr>
            <p:ph type="sldNum" sz="quarter" idx="12"/>
          </p:nvPr>
        </p:nvSpPr>
        <p:spPr/>
        <p:txBody>
          <a:bodyPr/>
          <a:lstStyle/>
          <a:p>
            <a:fld id="{3A7104C2-2265-4AB9-B90C-4162FA6B94AE}" type="slidenum">
              <a:rPr lang="zh-CN" altLang="en-US" smtClean="0"/>
              <a:pPr/>
              <a:t>18</a:t>
            </a:fld>
            <a:endParaRPr lang="zh-CN" altLang="en-US" dirty="0"/>
          </a:p>
        </p:txBody>
      </p:sp>
      <p:pic>
        <p:nvPicPr>
          <p:cNvPr id="3" name="图片 2"/>
          <p:cNvPicPr>
            <a:picLocks noChangeAspect="1"/>
          </p:cNvPicPr>
          <p:nvPr/>
        </p:nvPicPr>
        <p:blipFill rotWithShape="1">
          <a:blip r:embed="rId3">
            <a:extLst>
              <a:ext uri="{28A0092B-C50C-407E-A947-70E740481C1C}">
                <a14:useLocalDpi xmlns:a14="http://schemas.microsoft.com/office/drawing/2010/main" val="0"/>
              </a:ext>
            </a:extLst>
          </a:blip>
          <a:srcRect l="717" t="2618" r="1"/>
          <a:stretch/>
        </p:blipFill>
        <p:spPr>
          <a:xfrm>
            <a:off x="588115" y="1810303"/>
            <a:ext cx="7187662" cy="3836754"/>
          </a:xfrm>
          <a:prstGeom prst="rect">
            <a:avLst/>
          </a:prstGeom>
        </p:spPr>
      </p:pic>
      <p:sp>
        <p:nvSpPr>
          <p:cNvPr id="22" name="文本框 21"/>
          <p:cNvSpPr txBox="1"/>
          <p:nvPr/>
        </p:nvSpPr>
        <p:spPr>
          <a:xfrm>
            <a:off x="866351" y="4843396"/>
            <a:ext cx="3242204" cy="400110"/>
          </a:xfrm>
          <a:prstGeom prst="rect">
            <a:avLst/>
          </a:prstGeom>
          <a:noFill/>
        </p:spPr>
        <p:txBody>
          <a:bodyPr wrap="square" rtlCol="0">
            <a:spAutoFit/>
          </a:bodyPr>
          <a:lstStyle/>
          <a:p>
            <a:r>
              <a:rPr lang="en-US" altLang="zh-CN" sz="2000" i="1" dirty="0">
                <a:solidFill>
                  <a:srgbClr val="C00000"/>
                </a:solidFill>
              </a:rPr>
              <a:t>Clustering by embedding</a:t>
            </a:r>
            <a:endParaRPr lang="zh-CN" altLang="en-US" sz="2000" i="1" dirty="0">
              <a:solidFill>
                <a:srgbClr val="C00000"/>
              </a:solidFill>
            </a:endParaRPr>
          </a:p>
        </p:txBody>
      </p:sp>
      <p:grpSp>
        <p:nvGrpSpPr>
          <p:cNvPr id="38" name="组合 37"/>
          <p:cNvGrpSpPr/>
          <p:nvPr/>
        </p:nvGrpSpPr>
        <p:grpSpPr>
          <a:xfrm>
            <a:off x="4778830" y="2968713"/>
            <a:ext cx="3200063" cy="1098524"/>
            <a:chOff x="6029132" y="3778564"/>
            <a:chExt cx="3200063" cy="1098524"/>
          </a:xfrm>
        </p:grpSpPr>
        <p:cxnSp>
          <p:nvCxnSpPr>
            <p:cNvPr id="25" name="直接连接符 24"/>
            <p:cNvCxnSpPr/>
            <p:nvPr/>
          </p:nvCxnSpPr>
          <p:spPr>
            <a:xfrm>
              <a:off x="7502332" y="3978619"/>
              <a:ext cx="0" cy="898469"/>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029132" y="3944927"/>
              <a:ext cx="1473200" cy="0"/>
            </a:xfrm>
            <a:prstGeom prst="line">
              <a:avLst/>
            </a:prstGeom>
            <a:ln w="28575">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7502332" y="3778564"/>
              <a:ext cx="1726863" cy="400110"/>
            </a:xfrm>
            <a:prstGeom prst="rect">
              <a:avLst/>
            </a:prstGeom>
            <a:noFill/>
          </p:spPr>
          <p:txBody>
            <a:bodyPr wrap="square" rtlCol="0">
              <a:spAutoFit/>
            </a:bodyPr>
            <a:lstStyle/>
            <a:p>
              <a:r>
                <a:rPr lang="en-US" altLang="zh-CN" sz="2000" b="1" dirty="0">
                  <a:solidFill>
                    <a:srgbClr val="C00000"/>
                  </a:solidFill>
                </a:rPr>
                <a:t>(&gt;0.85,60%)</a:t>
              </a:r>
              <a:endParaRPr lang="zh-CN" altLang="en-US" sz="2000" b="1" dirty="0">
                <a:solidFill>
                  <a:srgbClr val="C00000"/>
                </a:solidFill>
              </a:endParaRPr>
            </a:p>
          </p:txBody>
        </p:sp>
      </p:grpSp>
      <p:grpSp>
        <p:nvGrpSpPr>
          <p:cNvPr id="11" name="组合 10"/>
          <p:cNvGrpSpPr/>
          <p:nvPr/>
        </p:nvGrpSpPr>
        <p:grpSpPr>
          <a:xfrm>
            <a:off x="8080365" y="1810303"/>
            <a:ext cx="3507374" cy="3066785"/>
            <a:chOff x="8091612" y="1745411"/>
            <a:chExt cx="3507374" cy="3066785"/>
          </a:xfrm>
        </p:grpSpPr>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91612" y="1745411"/>
              <a:ext cx="3507374" cy="2655918"/>
            </a:xfrm>
            <a:prstGeom prst="rect">
              <a:avLst/>
            </a:prstGeom>
          </p:spPr>
        </p:pic>
        <p:pic>
          <p:nvPicPr>
            <p:cNvPr id="10" name="图片 9"/>
            <p:cNvPicPr>
              <a:picLocks noChangeAspect="1"/>
            </p:cNvPicPr>
            <p:nvPr/>
          </p:nvPicPr>
          <p:blipFill rotWithShape="1">
            <a:blip r:embed="rId5">
              <a:extLst>
                <a:ext uri="{28A0092B-C50C-407E-A947-70E740481C1C}">
                  <a14:useLocalDpi xmlns:a14="http://schemas.microsoft.com/office/drawing/2010/main" val="0"/>
                </a:ext>
              </a:extLst>
            </a:blip>
            <a:srcRect r="53177" b="61212"/>
            <a:stretch/>
          </p:blipFill>
          <p:spPr>
            <a:xfrm>
              <a:off x="8091612" y="4401329"/>
              <a:ext cx="3507374" cy="410867"/>
            </a:xfrm>
            <a:prstGeom prst="rect">
              <a:avLst/>
            </a:prstGeom>
          </p:spPr>
        </p:pic>
      </p:grpSp>
      <p:cxnSp>
        <p:nvCxnSpPr>
          <p:cNvPr id="13" name="直接连接符 12"/>
          <p:cNvCxnSpPr/>
          <p:nvPr/>
        </p:nvCxnSpPr>
        <p:spPr>
          <a:xfrm>
            <a:off x="8503920" y="1810303"/>
            <a:ext cx="2453640" cy="225693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656320" y="3906440"/>
            <a:ext cx="9144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D40850C8-13EB-417A-A0B1-A865E91FAC51}"/>
              </a:ext>
            </a:extLst>
          </p:cNvPr>
          <p:cNvSpPr txBox="1"/>
          <p:nvPr/>
        </p:nvSpPr>
        <p:spPr>
          <a:xfrm>
            <a:off x="402943" y="1021969"/>
            <a:ext cx="8253377"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dirty="0"/>
              <a:t>Visualization Analysis</a:t>
            </a:r>
          </a:p>
        </p:txBody>
      </p:sp>
    </p:spTree>
    <p:extLst>
      <p:ext uri="{BB962C8B-B14F-4D97-AF65-F5344CB8AC3E}">
        <p14:creationId xmlns:p14="http://schemas.microsoft.com/office/powerpoint/2010/main" val="231228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直接连接符 18">
            <a:extLst>
              <a:ext uri="{FF2B5EF4-FFF2-40B4-BE49-F238E27FC236}">
                <a16:creationId xmlns:a16="http://schemas.microsoft.com/office/drawing/2014/main" id="{FFFB8BC0-B83B-4E7F-8CE3-81AF6AF9E974}"/>
              </a:ext>
            </a:extLst>
          </p:cNvPr>
          <p:cNvCxnSpPr>
            <a:cxnSpLocks/>
          </p:cNvCxnSpPr>
          <p:nvPr/>
        </p:nvCxnSpPr>
        <p:spPr>
          <a:xfrm>
            <a:off x="11287125" y="552430"/>
            <a:ext cx="20955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8237C044-0447-4E3D-AB72-8C98BE5C3E07}"/>
              </a:ext>
            </a:extLst>
          </p:cNvPr>
          <p:cNvCxnSpPr>
            <a:cxnSpLocks/>
          </p:cNvCxnSpPr>
          <p:nvPr/>
        </p:nvCxnSpPr>
        <p:spPr>
          <a:xfrm>
            <a:off x="11377612" y="604817"/>
            <a:ext cx="119063"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2" name="标题 31">
            <a:extLst>
              <a:ext uri="{FF2B5EF4-FFF2-40B4-BE49-F238E27FC236}">
                <a16:creationId xmlns:a16="http://schemas.microsoft.com/office/drawing/2014/main" id="{898DB2C2-7AE1-493B-8990-34A57A0C7D5F}"/>
              </a:ext>
            </a:extLst>
          </p:cNvPr>
          <p:cNvSpPr>
            <a:spLocks noGrp="1"/>
          </p:cNvSpPr>
          <p:nvPr>
            <p:ph type="title"/>
          </p:nvPr>
        </p:nvSpPr>
        <p:spPr>
          <a:xfrm>
            <a:off x="588115" y="495734"/>
            <a:ext cx="2414444" cy="486287"/>
          </a:xfrm>
        </p:spPr>
        <p:txBody>
          <a:bodyPr/>
          <a:lstStyle/>
          <a:p>
            <a:pPr>
              <a:lnSpc>
                <a:spcPct val="80000"/>
              </a:lnSpc>
            </a:pPr>
            <a:r>
              <a:rPr lang="en-US" altLang="zh-CN" dirty="0"/>
              <a:t>Conclusion</a:t>
            </a:r>
            <a:endParaRPr lang="zh-CN" altLang="en-US" dirty="0"/>
          </a:p>
        </p:txBody>
      </p:sp>
      <p:sp>
        <p:nvSpPr>
          <p:cNvPr id="2" name="灯片编号占位符 1"/>
          <p:cNvSpPr>
            <a:spLocks noGrp="1"/>
          </p:cNvSpPr>
          <p:nvPr>
            <p:ph type="sldNum" sz="quarter" idx="12"/>
          </p:nvPr>
        </p:nvSpPr>
        <p:spPr/>
        <p:txBody>
          <a:bodyPr/>
          <a:lstStyle/>
          <a:p>
            <a:fld id="{3A7104C2-2265-4AB9-B90C-4162FA6B94AE}" type="slidenum">
              <a:rPr lang="zh-CN" altLang="en-US" smtClean="0"/>
              <a:pPr/>
              <a:t>19</a:t>
            </a:fld>
            <a:endParaRPr lang="zh-CN" altLang="en-US" dirty="0"/>
          </a:p>
        </p:txBody>
      </p:sp>
      <p:sp>
        <p:nvSpPr>
          <p:cNvPr id="5" name="矩形 4"/>
          <p:cNvSpPr/>
          <p:nvPr/>
        </p:nvSpPr>
        <p:spPr>
          <a:xfrm>
            <a:off x="6553240" y="1141885"/>
            <a:ext cx="4883903" cy="4093428"/>
          </a:xfrm>
          <a:prstGeom prst="rect">
            <a:avLst/>
          </a:prstGeom>
        </p:spPr>
        <p:txBody>
          <a:bodyPr wrap="square">
            <a:spAutoFit/>
          </a:bodyPr>
          <a:lstStyle/>
          <a:p>
            <a:pPr marL="285750" indent="-285750" algn="just">
              <a:buFont typeface="Wingdings" panose="05000000000000000000" pitchFamily="2" charset="2"/>
              <a:buChar char="p"/>
            </a:pPr>
            <a:r>
              <a:rPr lang="en-US" altLang="zh-CN" sz="2000" dirty="0"/>
              <a:t>We study the problem of personal trajectory reconstruction from </a:t>
            </a:r>
            <a:r>
              <a:rPr lang="en-US" altLang="zh-CN" sz="2000" dirty="0">
                <a:solidFill>
                  <a:srgbClr val="C00000"/>
                </a:solidFill>
              </a:rPr>
              <a:t>sparse</a:t>
            </a:r>
            <a:r>
              <a:rPr lang="en-US" altLang="zh-CN" sz="2000" dirty="0"/>
              <a:t> and </a:t>
            </a:r>
            <a:r>
              <a:rPr lang="en-US" altLang="zh-CN" sz="2000" dirty="0">
                <a:solidFill>
                  <a:srgbClr val="C00000"/>
                </a:solidFill>
              </a:rPr>
              <a:t>long-term</a:t>
            </a:r>
            <a:r>
              <a:rPr lang="en-US" altLang="zh-CN" sz="2000" dirty="0"/>
              <a:t> mobility data.</a:t>
            </a:r>
          </a:p>
          <a:p>
            <a:pPr marL="285750" indent="-285750" algn="just">
              <a:buFont typeface="Wingdings" panose="05000000000000000000" pitchFamily="2" charset="2"/>
              <a:buChar char="p"/>
            </a:pPr>
            <a:endParaRPr lang="en-US" altLang="zh-CN" sz="2000" dirty="0"/>
          </a:p>
          <a:p>
            <a:pPr marL="285750" indent="-285750" algn="just">
              <a:buFont typeface="Wingdings" panose="05000000000000000000" pitchFamily="2" charset="2"/>
              <a:buChar char="p"/>
            </a:pPr>
            <a:r>
              <a:rPr lang="en-US" altLang="zh-CN" sz="2000" dirty="0"/>
              <a:t>We propose </a:t>
            </a:r>
            <a:r>
              <a:rPr lang="en-US" altLang="zh-CN" sz="2000" dirty="0">
                <a:solidFill>
                  <a:srgbClr val="C00000"/>
                </a:solidFill>
              </a:rPr>
              <a:t>a novel attentional neural network</a:t>
            </a:r>
            <a:r>
              <a:rPr lang="en-US" altLang="zh-CN" sz="2000" dirty="0"/>
              <a:t> which can better capture spatial-temporal correlation and fully exploit history.</a:t>
            </a:r>
          </a:p>
          <a:p>
            <a:pPr marL="285750" indent="-285750" algn="just">
              <a:buFont typeface="Wingdings" panose="05000000000000000000" pitchFamily="2" charset="2"/>
              <a:buChar char="p"/>
            </a:pPr>
            <a:endParaRPr lang="en-US" altLang="zh-CN" sz="2000" dirty="0"/>
          </a:p>
          <a:p>
            <a:pPr marL="285750" indent="-285750" algn="just">
              <a:buFont typeface="Wingdings" panose="05000000000000000000" pitchFamily="2" charset="2"/>
              <a:buChar char="p"/>
            </a:pPr>
            <a:r>
              <a:rPr lang="en-US" altLang="zh-CN" sz="2000" dirty="0"/>
              <a:t>Attention/Transformer is promising in mobility modelling. Others trajectory-related problems are also worth to be explored.</a:t>
            </a:r>
            <a:endParaRPr lang="zh-CN" altLang="en-US" sz="2000" dirty="0">
              <a:solidFill>
                <a:srgbClr val="C00000"/>
              </a:solidFill>
            </a:endParaRPr>
          </a:p>
        </p:txBody>
      </p:sp>
      <p:pic>
        <p:nvPicPr>
          <p:cNvPr id="8" name="图片 7">
            <a:extLst>
              <a:ext uri="{FF2B5EF4-FFF2-40B4-BE49-F238E27FC236}">
                <a16:creationId xmlns:a16="http://schemas.microsoft.com/office/drawing/2014/main" id="{9A26460B-C30B-49BB-A9D7-42EFB68CDD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556" y="1316096"/>
            <a:ext cx="6137442" cy="4141729"/>
          </a:xfrm>
          <a:prstGeom prst="rect">
            <a:avLst/>
          </a:prstGeom>
        </p:spPr>
      </p:pic>
    </p:spTree>
    <p:extLst>
      <p:ext uri="{BB962C8B-B14F-4D97-AF65-F5344CB8AC3E}">
        <p14:creationId xmlns:p14="http://schemas.microsoft.com/office/powerpoint/2010/main" val="3618767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0094" y="1118742"/>
            <a:ext cx="12342471" cy="47181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3"/>
          <a:stretch>
            <a:fillRect/>
          </a:stretch>
        </p:blipFill>
        <p:spPr>
          <a:xfrm>
            <a:off x="2535817" y="946342"/>
            <a:ext cx="6291617" cy="2139881"/>
          </a:xfrm>
          <a:prstGeom prst="rect">
            <a:avLst/>
          </a:prstGeom>
        </p:spPr>
      </p:pic>
      <p:sp>
        <p:nvSpPr>
          <p:cNvPr id="11" name="矩形 10"/>
          <p:cNvSpPr/>
          <p:nvPr/>
        </p:nvSpPr>
        <p:spPr>
          <a:xfrm>
            <a:off x="1839680" y="2928232"/>
            <a:ext cx="7795212" cy="2811026"/>
          </a:xfrm>
          <a:prstGeom prst="rect">
            <a:avLst/>
          </a:prstGeom>
        </p:spPr>
        <p:txBody>
          <a:bodyPr wrap="square">
            <a:spAutoFit/>
          </a:bodyPr>
          <a:lstStyle/>
          <a:p>
            <a:pPr algn="ctr">
              <a:lnSpc>
                <a:spcPts val="2600"/>
              </a:lnSpc>
              <a:spcBef>
                <a:spcPts val="600"/>
              </a:spcBef>
            </a:pPr>
            <a:r>
              <a:rPr lang="en-US" altLang="zh-CN" sz="2800" dirty="0">
                <a:ea typeface="+mj-ea"/>
              </a:rPr>
              <a:t>Tong Xia</a:t>
            </a:r>
          </a:p>
          <a:p>
            <a:pPr algn="ctr">
              <a:lnSpc>
                <a:spcPts val="2600"/>
              </a:lnSpc>
              <a:spcBef>
                <a:spcPts val="600"/>
              </a:spcBef>
            </a:pPr>
            <a:r>
              <a:rPr lang="en-US" altLang="zh-CN" sz="2800" dirty="0">
                <a:ea typeface="+mj-ea"/>
                <a:hlinkClick r:id="rId4"/>
              </a:rPr>
              <a:t>https://xtxiatong.github.io/</a:t>
            </a:r>
            <a:endParaRPr lang="en-US" altLang="zh-CN" sz="2800" dirty="0">
              <a:ea typeface="+mj-ea"/>
            </a:endParaRPr>
          </a:p>
          <a:p>
            <a:pPr algn="ctr">
              <a:lnSpc>
                <a:spcPts val="2600"/>
              </a:lnSpc>
              <a:spcBef>
                <a:spcPts val="600"/>
              </a:spcBef>
            </a:pPr>
            <a:endParaRPr lang="en-US" altLang="zh-CN" sz="2800" dirty="0">
              <a:ea typeface="+mj-ea"/>
            </a:endParaRPr>
          </a:p>
          <a:p>
            <a:pPr algn="ctr">
              <a:lnSpc>
                <a:spcPts val="2600"/>
              </a:lnSpc>
              <a:spcBef>
                <a:spcPts val="600"/>
              </a:spcBef>
            </a:pPr>
            <a:endParaRPr lang="en-US" altLang="zh-CN" sz="2800" dirty="0">
              <a:ea typeface="+mj-ea"/>
            </a:endParaRPr>
          </a:p>
          <a:p>
            <a:pPr algn="ctr">
              <a:lnSpc>
                <a:spcPts val="2600"/>
              </a:lnSpc>
              <a:spcBef>
                <a:spcPts val="600"/>
              </a:spcBef>
            </a:pPr>
            <a:r>
              <a:rPr lang="en-US" altLang="zh-CN" sz="2800" dirty="0">
                <a:ea typeface="+mj-ea"/>
              </a:rPr>
              <a:t>Code</a:t>
            </a:r>
            <a:r>
              <a:rPr lang="zh-CN" altLang="en-US" sz="2800" dirty="0">
                <a:ea typeface="+mj-ea"/>
              </a:rPr>
              <a:t> </a:t>
            </a:r>
            <a:r>
              <a:rPr lang="en-US" altLang="zh-CN" sz="2800" dirty="0">
                <a:ea typeface="+mj-ea"/>
              </a:rPr>
              <a:t>and</a:t>
            </a:r>
            <a:r>
              <a:rPr lang="zh-CN" altLang="en-US" sz="2800" dirty="0">
                <a:ea typeface="+mj-ea"/>
              </a:rPr>
              <a:t> </a:t>
            </a:r>
            <a:r>
              <a:rPr lang="en-US" altLang="zh-CN" sz="2800" dirty="0">
                <a:ea typeface="+mj-ea"/>
              </a:rPr>
              <a:t>data: </a:t>
            </a:r>
            <a:r>
              <a:rPr lang="en-GB" altLang="zh-CN" sz="2800" b="0" i="0" dirty="0">
                <a:effectLst/>
                <a:latin typeface="Arial" panose="020B0604020202020204" pitchFamily="34" charset="0"/>
                <a:hlinkClick r:id="rId5"/>
              </a:rPr>
              <a:t>https://github.com/XTxiatong/AttnMove</a:t>
            </a:r>
            <a:endParaRPr lang="en-GB" altLang="zh-CN" sz="2800" b="0" i="0" dirty="0">
              <a:effectLst/>
              <a:latin typeface="Arial" panose="020B0604020202020204" pitchFamily="34" charset="0"/>
            </a:endParaRPr>
          </a:p>
          <a:p>
            <a:pPr algn="ctr">
              <a:lnSpc>
                <a:spcPts val="2600"/>
              </a:lnSpc>
              <a:spcBef>
                <a:spcPts val="600"/>
              </a:spcBef>
            </a:pPr>
            <a:endParaRPr lang="en-US" altLang="zh-CN" sz="2800" dirty="0">
              <a:ea typeface="+mj-ea"/>
            </a:endParaRPr>
          </a:p>
        </p:txBody>
      </p:sp>
      <p:sp>
        <p:nvSpPr>
          <p:cNvPr id="3" name="灯片编号占位符 2">
            <a:extLst>
              <a:ext uri="{FF2B5EF4-FFF2-40B4-BE49-F238E27FC236}">
                <a16:creationId xmlns:a16="http://schemas.microsoft.com/office/drawing/2014/main" id="{B35C2397-99CC-448E-BC2E-887FC4A5E135}"/>
              </a:ext>
            </a:extLst>
          </p:cNvPr>
          <p:cNvSpPr>
            <a:spLocks noGrp="1"/>
          </p:cNvSpPr>
          <p:nvPr>
            <p:ph type="sldNum" sz="quarter" idx="10"/>
          </p:nvPr>
        </p:nvSpPr>
        <p:spPr/>
        <p:txBody>
          <a:bodyPr/>
          <a:lstStyle/>
          <a:p>
            <a:fld id="{3A7104C2-2265-4AB9-B90C-4162FA6B94AE}" type="slidenum">
              <a:rPr lang="zh-CN" altLang="en-US" smtClean="0"/>
              <a:pPr/>
              <a:t>20</a:t>
            </a:fld>
            <a:endParaRPr lang="zh-CN" altLang="en-US" dirty="0"/>
          </a:p>
        </p:txBody>
      </p:sp>
    </p:spTree>
    <p:extLst>
      <p:ext uri="{BB962C8B-B14F-4D97-AF65-F5344CB8AC3E}">
        <p14:creationId xmlns:p14="http://schemas.microsoft.com/office/powerpoint/2010/main" val="659031312"/>
      </p:ext>
    </p:extLst>
  </p:cSld>
  <p:clrMapOvr>
    <a:masterClrMapping/>
  </p:clrMapOvr>
</p:sld>
</file>

<file path=ppt/theme/theme1.xml><?xml version="1.0" encoding="utf-8"?>
<a:theme xmlns:a="http://schemas.openxmlformats.org/drawingml/2006/main" name="Office Theme">
  <a:themeElements>
    <a:clrScheme name="自定义 7">
      <a:dk1>
        <a:sysClr val="windowText" lastClr="000000"/>
      </a:dk1>
      <a:lt1>
        <a:sysClr val="window" lastClr="FFFFFF"/>
      </a:lt1>
      <a:dk2>
        <a:srgbClr val="000000"/>
      </a:dk2>
      <a:lt2>
        <a:srgbClr val="FFFFFF"/>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1">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520B0621022B4CA37193CEB4BD4006" ma:contentTypeVersion="13" ma:contentTypeDescription="Create a new document." ma:contentTypeScope="" ma:versionID="cfe9ef737fb2ae655456fe470e3de886">
  <xsd:schema xmlns:xsd="http://www.w3.org/2001/XMLSchema" xmlns:xs="http://www.w3.org/2001/XMLSchema" xmlns:p="http://schemas.microsoft.com/office/2006/metadata/properties" xmlns:ns2="45e91f00-0250-4a60-970e-f6ee534b485a" xmlns:ns3="03902022-5f07-415b-99da-02f7a843c2d0" targetNamespace="http://schemas.microsoft.com/office/2006/metadata/properties" ma:root="true" ma:fieldsID="1f8918928c275871385115b2196c7a39" ns2:_="" ns3:_="">
    <xsd:import namespace="45e91f00-0250-4a60-970e-f6ee534b485a"/>
    <xsd:import namespace="03902022-5f07-415b-99da-02f7a843c2d0"/>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EventHashCode" minOccurs="0"/>
                <xsd:element ref="ns3:MediaServiceGenerationTim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e91f00-0250-4a60-970e-f6ee534b485a"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03902022-5f07-415b-99da-02f7a843c2d0"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description="" ma:hidden="true" ma:internalName="MediaServiceDateTaken" ma:readOnly="true">
      <xsd:simpleType>
        <xsd:restriction base="dms:Text"/>
      </xsd:simpleType>
    </xsd:element>
    <xsd:element name="MediaServiceAutoTags" ma:index="15" nillable="true" ma:displayName="MediaServiceAutoTags" ma:description="" ma:internalName="MediaServiceAutoTags" ma:readOnly="true">
      <xsd:simpleType>
        <xsd:restriction base="dms:Text"/>
      </xsd:simpleType>
    </xsd:element>
    <xsd:element name="MediaServiceOCR" ma:index="16" nillable="true" ma:displayName="MediaServiceOCR" ma:description="" ma:internalName="MediaServiceOCR" ma:readOnly="true">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3D684D-EF6F-4F7B-8211-64688BE7A1E2}">
  <ds:schemaRefs>
    <ds:schemaRef ds:uri="http://schemas.microsoft.com/sharepoint/v3/contenttype/forms"/>
  </ds:schemaRefs>
</ds:datastoreItem>
</file>

<file path=customXml/itemProps2.xml><?xml version="1.0" encoding="utf-8"?>
<ds:datastoreItem xmlns:ds="http://schemas.openxmlformats.org/officeDocument/2006/customXml" ds:itemID="{D1474A70-BFC8-4761-970B-B1199D354F6A}">
  <ds:schemaRefs>
    <ds:schemaRef ds:uri="http://schemas.microsoft.com/office/2006/metadata/properties"/>
    <ds:schemaRef ds:uri="http://schemas.microsoft.com/office/2006/documentManagement/types"/>
    <ds:schemaRef ds:uri="03902022-5f07-415b-99da-02f7a843c2d0"/>
    <ds:schemaRef ds:uri="http://purl.org/dc/dcmitype/"/>
    <ds:schemaRef ds:uri="http://purl.org/dc/terms/"/>
    <ds:schemaRef ds:uri="http://purl.org/dc/elements/1.1/"/>
    <ds:schemaRef ds:uri="http://www.w3.org/XML/1998/namespace"/>
    <ds:schemaRef ds:uri="http://schemas.microsoft.com/office/infopath/2007/PartnerControls"/>
    <ds:schemaRef ds:uri="http://schemas.openxmlformats.org/package/2006/metadata/core-properties"/>
    <ds:schemaRef ds:uri="45e91f00-0250-4a60-970e-f6ee534b485a"/>
  </ds:schemaRefs>
</ds:datastoreItem>
</file>

<file path=customXml/itemProps3.xml><?xml version="1.0" encoding="utf-8"?>
<ds:datastoreItem xmlns:ds="http://schemas.openxmlformats.org/officeDocument/2006/customXml" ds:itemID="{F34233DA-3D9D-4C0F-A740-A2F2EA5D50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e91f00-0250-4a60-970e-f6ee534b485a"/>
    <ds:schemaRef ds:uri="03902022-5f07-415b-99da-02f7a843c2d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8298</TotalTime>
  <Words>2090</Words>
  <Application>Microsoft Office PowerPoint</Application>
  <PresentationFormat>宽屏</PresentationFormat>
  <Paragraphs>264</Paragraphs>
  <Slides>20</Slides>
  <Notes>20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20</vt:i4>
      </vt:variant>
    </vt:vector>
  </HeadingPairs>
  <TitlesOfParts>
    <vt:vector size="26" baseType="lpstr">
      <vt:lpstr>等线</vt:lpstr>
      <vt:lpstr>Arial</vt:lpstr>
      <vt:lpstr>Calibri</vt:lpstr>
      <vt:lpstr>Cambria Math</vt:lpstr>
      <vt:lpstr>Wingdings</vt:lpstr>
      <vt:lpstr>Office Theme</vt:lpstr>
      <vt:lpstr>PowerPoint 演示文稿</vt:lpstr>
      <vt:lpstr>PowerPoint 演示文稿</vt:lpstr>
      <vt:lpstr>Background</vt:lpstr>
      <vt:lpstr>Background</vt:lpstr>
      <vt:lpstr>Background</vt:lpstr>
      <vt:lpstr>Challenges</vt:lpstr>
      <vt:lpstr>Background</vt:lpstr>
      <vt:lpstr>Solution</vt:lpstr>
      <vt:lpstr>Solution</vt:lpstr>
      <vt:lpstr>Solution</vt:lpstr>
      <vt:lpstr>Solution</vt:lpstr>
      <vt:lpstr>Solution</vt:lpstr>
      <vt:lpstr>Solution</vt:lpstr>
      <vt:lpstr>Experiments</vt:lpstr>
      <vt:lpstr>Results</vt:lpstr>
      <vt:lpstr>Results</vt:lpstr>
      <vt:lpstr>Results</vt:lpstr>
      <vt:lpstr>Results</vt:lpstr>
      <vt:lpstr>Conclusion</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Weisheng Zhu</dc:creator>
  <cp:lastModifiedBy>Tong Xia</cp:lastModifiedBy>
  <cp:revision>197</cp:revision>
  <dcterms:created xsi:type="dcterms:W3CDTF">2019-07-25T02:40:13Z</dcterms:created>
  <dcterms:modified xsi:type="dcterms:W3CDTF">2021-01-23T19:49:30Z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t-weiszh@microsoft.com</vt:lpwstr>
  </property>
  <property fmtid="{D5CDD505-2E9C-101B-9397-08002B2CF9AE}" pid="5" name="MSIP_Label_f42aa342-8706-4288-bd11-ebb85995028c_SetDate">
    <vt:lpwstr>2019-07-25T06:33:15.4457998Z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89c5bf5f-33b9-4fc1-bd99-04ee503b4f85</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ContentTypeId">
    <vt:lpwstr>0x0101004D520B0621022B4CA37193CEB4BD4006</vt:lpwstr>
  </property>
</Properties>
</file>